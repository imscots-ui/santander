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0" y="-457200"/>
            <a:ext cx="5029200" cy="5029200"/>
          </a:xfrm>
          <a:prstGeom prst="rect">
            <a:avLst/>
          </a:prstGeom>
          <a:solidFill>
            <a:srgbClr val="A00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0" y="457200"/>
            <a:ext cx="3657600" cy="3657600"/>
          </a:xfrm>
          <a:prstGeom prst="rect">
            <a:avLst/>
          </a:prstGeom>
          <a:solidFill>
            <a:srgbClr val="292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554480"/>
            <a:ext cx="164592" cy="3474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91440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SANTANDER BUSINESS BANKING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057400"/>
            <a:ext cx="8686800" cy="23774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  <a:latin typeface="Calibri"/>
              </a:rPr>
              <a:t>Digital.
Personal.
Built from within.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617720"/>
            <a:ext cx="914400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0" i="0">
                <a:solidFill>
                  <a:srgbClr val="C0BBB5"/>
                </a:solidFill>
                <a:latin typeface="Calibri"/>
              </a:rPr>
              <a:t>An executive briefing on the prototype — and what comes next.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263640"/>
            <a:ext cx="10058400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78716C"/>
                </a:solidFill>
                <a:latin typeface="Calibri"/>
              </a:rPr>
              <a:t>Alan Davidson  ·  Alan.Davidson@santander.co.uk  ·  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09728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THE OPPORTUNITY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02920"/>
            <a:ext cx="10972800" cy="21945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800" b="1" i="0">
                <a:solidFill>
                  <a:srgbClr val="FFFFFF"/>
                </a:solidFill>
                <a:latin typeface="Calibri"/>
              </a:rPr>
              <a:t>£137M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834640"/>
            <a:ext cx="1005840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800" b="0" i="0">
                <a:solidFill>
                  <a:srgbClr val="C0BBB5"/>
                </a:solidFill>
                <a:latin typeface="Calibri"/>
              </a:rPr>
              <a:t>Annualised revenue opportunity from digitising business banking admin
for Santander's 280,000 UK SMB customers.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749039"/>
            <a:ext cx="11183112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3886200"/>
            <a:ext cx="3749039" cy="2423160"/>
          </a:xfrm>
          <a:prstGeom prst="rect">
            <a:avLst/>
          </a:prstGeom>
          <a:solidFill>
            <a:srgbClr val="292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3886200"/>
            <a:ext cx="82296" cy="24231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023360"/>
            <a:ext cx="3383280" cy="914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280,000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074920"/>
            <a:ext cx="3383280" cy="822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0" i="0">
                <a:solidFill>
                  <a:srgbClr val="908A84"/>
                </a:solidFill>
                <a:latin typeface="Calibri"/>
              </a:rPr>
              <a:t>UK SMB customers currently held at Santander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43983" y="3886200"/>
            <a:ext cx="3749039" cy="2423160"/>
          </a:xfrm>
          <a:prstGeom prst="rect">
            <a:avLst/>
          </a:prstGeom>
          <a:solidFill>
            <a:srgbClr val="292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43983" y="3886200"/>
            <a:ext cx="82296" cy="24231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72583" y="4023360"/>
            <a:ext cx="3383280" cy="914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£490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72583" y="5074920"/>
            <a:ext cx="3383280" cy="822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0" i="0">
                <a:solidFill>
                  <a:srgbClr val="908A84"/>
                </a:solidFill>
                <a:latin typeface="Calibri"/>
              </a:rPr>
              <a:t>average annual revenue per business customer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339328" y="3886200"/>
            <a:ext cx="3749039" cy="2423160"/>
          </a:xfrm>
          <a:prstGeom prst="rect">
            <a:avLst/>
          </a:prstGeom>
          <a:solidFill>
            <a:srgbClr val="292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339328" y="3886200"/>
            <a:ext cx="82296" cy="24231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67928" y="4023360"/>
            <a:ext cx="3383280" cy="914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5–7×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67928" y="5074920"/>
            <a:ext cx="3383280" cy="822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0" i="0">
                <a:solidFill>
                  <a:srgbClr val="908A84"/>
                </a:solidFill>
                <a:latin typeface="Calibri"/>
              </a:rPr>
              <a:t>expected uplift per customer from self-service digitisation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09728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8686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Four things a director needs to do every quarter.
Four things that still require a letter to Sunderland.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987552"/>
            <a:ext cx="11183112" cy="3200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57784" y="1143000"/>
            <a:ext cx="2686050" cy="512064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57784" y="1143000"/>
            <a:ext cx="2686050" cy="8229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" y="1325880"/>
            <a:ext cx="2521458" cy="548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200" b="1" i="0">
                <a:solidFill>
                  <a:srgbClr val="D97706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1920240"/>
            <a:ext cx="2521458" cy="594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1" i="0">
                <a:solidFill>
                  <a:srgbClr val="1C1917"/>
                </a:solidFill>
                <a:latin typeface="Calibri"/>
              </a:rPr>
              <a:t>Change a mandate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2578608"/>
            <a:ext cx="2521458" cy="34747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Add or remove a signatory. Form goes to Sunderland by post.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Average: 5 working days. No app. No visibility.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53562" y="1143000"/>
            <a:ext cx="2686050" cy="512064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53562" y="1143000"/>
            <a:ext cx="2686050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63290" y="1325880"/>
            <a:ext cx="2521458" cy="548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200" b="1" i="0">
                <a:solidFill>
                  <a:srgbClr val="C8102E"/>
                </a:solidFill>
                <a:latin typeface="Calibri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63290" y="1920240"/>
            <a:ext cx="2521458" cy="594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1" i="0">
                <a:solidFill>
                  <a:srgbClr val="1C1917"/>
                </a:solidFill>
                <a:latin typeface="Calibri"/>
              </a:rPr>
              <a:t>File a VAT return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63290" y="2578608"/>
            <a:ext cx="2521458" cy="34747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Making Tax Digital requires bridging software.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The bank holds the transaction data — but is not connected to HMRC.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49340" y="1143000"/>
            <a:ext cx="2686050" cy="512064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49340" y="1143000"/>
            <a:ext cx="2686050" cy="8229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59068" y="1325880"/>
            <a:ext cx="2521458" cy="548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200" b="1" i="0">
                <a:solidFill>
                  <a:srgbClr val="2563EB"/>
                </a:solidFill>
                <a:latin typeface="Calibri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59068" y="1920240"/>
            <a:ext cx="2521458" cy="594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1" i="0">
                <a:solidFill>
                  <a:srgbClr val="1C1917"/>
                </a:solidFill>
                <a:latin typeface="Calibri"/>
              </a:rPr>
              <a:t>Pay the team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59068" y="2578608"/>
            <a:ext cx="2521458" cy="34747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Bulk BACS payments need a separate system or a phone call.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The bank has the payees — but doesn't offer the workflow.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945118" y="1143000"/>
            <a:ext cx="2686050" cy="512064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45118" y="1143000"/>
            <a:ext cx="2686050" cy="8229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54846" y="1325880"/>
            <a:ext cx="2521458" cy="548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200" b="1" i="0">
                <a:solidFill>
                  <a:srgbClr val="059669"/>
                </a:solidFill>
                <a:latin typeface="Calibri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54846" y="1920240"/>
            <a:ext cx="2521458" cy="594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1" i="0">
                <a:solidFill>
                  <a:srgbClr val="1C1917"/>
                </a:solidFill>
                <a:latin typeface="Calibri"/>
              </a:rPr>
              <a:t>Renew KYC / KYB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54846" y="2578608"/>
            <a:ext cx="2521458" cy="34747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Annual identity checks and Companies House confirmations.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Another form. Another envelope. Another wait.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09728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THE INSIGHT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02920"/>
            <a:ext cx="10972800" cy="1920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We already own the relationship.
We just need to digitise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560320"/>
            <a:ext cx="11183112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743200"/>
            <a:ext cx="3749039" cy="3566160"/>
          </a:xfrm>
          <a:prstGeom prst="rect">
            <a:avLst/>
          </a:prstGeom>
          <a:solidFill>
            <a:srgbClr val="292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2880360"/>
            <a:ext cx="342900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00" b="1" i="0">
                <a:solidFill>
                  <a:srgbClr val="C8102E"/>
                </a:solidFill>
                <a:latin typeface="Calibri"/>
              </a:rPr>
              <a:t>The data is already there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3438144"/>
            <a:ext cx="3429000" cy="2743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Santander holds every transaction, every payee, every mandate.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The prototype uses that data — showing what's possible when the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bank becomes the interface, not just the ledger.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43983" y="2743200"/>
            <a:ext cx="3749039" cy="3566160"/>
          </a:xfrm>
          <a:prstGeom prst="rect">
            <a:avLst/>
          </a:prstGeom>
          <a:solidFill>
            <a:srgbClr val="292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9431" y="2880360"/>
            <a:ext cx="342900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00" b="1" i="0">
                <a:solidFill>
                  <a:srgbClr val="C8102E"/>
                </a:solidFill>
                <a:latin typeface="Calibri"/>
              </a:rPr>
              <a:t>The regulation is already met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9431" y="3438144"/>
            <a:ext cx="3429000" cy="2743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FCA BCOBS 4A cooling-off is built in.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HMRC MTD API integration is modelled.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Companies House verification is in the workflow.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Compliance is not an afterthought — it's the product.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39328" y="2743200"/>
            <a:ext cx="3749039" cy="3566160"/>
          </a:xfrm>
          <a:prstGeom prst="rect">
            <a:avLst/>
          </a:prstGeom>
          <a:solidFill>
            <a:srgbClr val="292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94776" y="2880360"/>
            <a:ext cx="342900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00" b="1" i="0">
                <a:solidFill>
                  <a:srgbClr val="C8102E"/>
                </a:solidFill>
                <a:latin typeface="Calibri"/>
              </a:rPr>
              <a:t>The technology is already proven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94776" y="3438144"/>
            <a:ext cx="3429000" cy="2743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React. Vite. Tailwind. GitHub Pages.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The prototype runs on any mobile browser — right now.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No new infrastructure. No new vendor relationships.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One self-contained HTML file.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09728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THE PROTOTYPE  ·  LIVE TODAY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8686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Phase 1 is done. The prototype is live.
Open it on your phone right now.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987552"/>
            <a:ext cx="11183112" cy="3200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15568"/>
            <a:ext cx="11183112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000" b="1" i="0">
                <a:solidFill>
                  <a:srgbClr val="C8102E"/>
                </a:solidFill>
                <a:latin typeface="Calibri"/>
              </a:rPr>
              <a:t>imscots-ui.github.io/santander</a:t>
            </a:r>
          </a:p>
        </p:txBody>
      </p:sp>
      <p:sp>
        <p:nvSpPr>
          <p:cNvPr id="9" name="Rectangle 8"/>
          <p:cNvSpPr/>
          <p:nvPr/>
        </p:nvSpPr>
        <p:spPr>
          <a:xfrm>
            <a:off x="539496" y="1874519"/>
            <a:ext cx="2163470" cy="246888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9496" y="1874519"/>
            <a:ext cx="2163470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029968"/>
            <a:ext cx="2008022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4400" b="1" i="0">
                <a:solidFill>
                  <a:srgbClr val="1C1917"/>
                </a:solidFill>
                <a:latin typeface="Calibri"/>
              </a:rPr>
              <a:t>5,700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90672"/>
            <a:ext cx="2008022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</a:pPr>
            <a:r>
              <a:rPr sz="1000">
                <a:solidFill>
                  <a:srgbClr val="78716C"/>
                </a:solidFill>
                <a:latin typeface="Calibri"/>
              </a:rPr>
              <a:t>lines of production-quality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78716C"/>
                </a:solidFill>
                <a:latin typeface="Calibri"/>
              </a:rPr>
              <a:t>React code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76118" y="1874519"/>
            <a:ext cx="2163470" cy="246888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776118" y="1874519"/>
            <a:ext cx="216347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76702" y="2029968"/>
            <a:ext cx="2008022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4400" b="1" i="0">
                <a:solidFill>
                  <a:srgbClr val="1C1917"/>
                </a:solidFill>
                <a:latin typeface="Calibri"/>
              </a:rPr>
              <a:t>11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76702" y="3090672"/>
            <a:ext cx="2008022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</a:pPr>
            <a:r>
              <a:rPr sz="1000">
                <a:solidFill>
                  <a:srgbClr val="78716C"/>
                </a:solidFill>
                <a:latin typeface="Calibri"/>
              </a:rPr>
              <a:t>complete paperless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78716C"/>
                </a:solidFill>
                <a:latin typeface="Calibri"/>
              </a:rPr>
              <a:t>workflows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12740" y="1874519"/>
            <a:ext cx="2163470" cy="246888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12740" y="1874519"/>
            <a:ext cx="216347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13324" y="2029968"/>
            <a:ext cx="2008022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4400" b="1" i="0">
                <a:solidFill>
                  <a:srgbClr val="1C1917"/>
                </a:solidFill>
                <a:latin typeface="Calibri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13324" y="3090672"/>
            <a:ext cx="2008022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</a:pPr>
            <a:r>
              <a:rPr sz="1000">
                <a:solidFill>
                  <a:srgbClr val="78716C"/>
                </a:solidFill>
                <a:latin typeface="Calibri"/>
              </a:rPr>
              <a:t>business entity types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78716C"/>
                </a:solidFill>
                <a:latin typeface="Calibri"/>
              </a:rPr>
              <a:t>supported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49363" y="1874519"/>
            <a:ext cx="2163470" cy="246888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49363" y="1874519"/>
            <a:ext cx="2163470" cy="7315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49947" y="2029968"/>
            <a:ext cx="2008022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4400" b="1" i="0">
                <a:solidFill>
                  <a:srgbClr val="1C1917"/>
                </a:solidFill>
                <a:latin typeface="Calibri"/>
              </a:rP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49947" y="3090672"/>
            <a:ext cx="2008022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</a:pPr>
            <a:r>
              <a:rPr sz="1000">
                <a:solidFill>
                  <a:srgbClr val="78716C"/>
                </a:solidFill>
                <a:latin typeface="Calibri"/>
              </a:rPr>
              <a:t>paper forms needed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78716C"/>
                </a:solidFill>
                <a:latin typeface="Calibri"/>
              </a:rPr>
              <a:t>for any covered task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485985" y="1874519"/>
            <a:ext cx="2163470" cy="246888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485985" y="1874519"/>
            <a:ext cx="2163470" cy="73152"/>
          </a:xfrm>
          <a:prstGeom prst="rect">
            <a:avLst/>
          </a:prstGeom>
          <a:solidFill>
            <a:srgbClr val="787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86569" y="2029968"/>
            <a:ext cx="2008022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4400" b="1" i="0">
                <a:solidFill>
                  <a:srgbClr val="1C1917"/>
                </a:solidFill>
                <a:latin typeface="Calibri"/>
              </a:rP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86569" y="3090672"/>
            <a:ext cx="2008022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</a:pPr>
            <a:r>
              <a:rPr sz="1000">
                <a:solidFill>
                  <a:srgbClr val="78716C"/>
                </a:solidFill>
                <a:latin typeface="Calibri"/>
              </a:rPr>
              <a:t>engineer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78716C"/>
                </a:solidFill>
                <a:latin typeface="Calibri"/>
              </a:rPr>
              <a:t>self-initiated, spare time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4572000"/>
            <a:ext cx="11183112" cy="19202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4681728"/>
            <a:ext cx="109728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WHAT'S IN THE PROTOTYPE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5029200"/>
            <a:ext cx="1097280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Home Command Centre  ·  15 proactive signals  ·  personalized greeting  ·  total balance hero  ·  13-week forecast chart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Account Closure  ·  Mandate Change  ·  Bulk Payments  ·  FX International  ·  MTD VAT Submission  ·  KYC/KYB ID Check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Cooling-off (FCA BCOBS 4A)  ·  Stalled request / RM escalation  ·  OTP confirmation  ·  Biometric authentication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Voice memo expense tagging  ·  Receipt scanning  ·  Payment sequencer optimiser  ·  Accessibility settings (A11y)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09728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THE COMMAND CENTRE  ·  THE FLAGSHIP FEATURE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94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The Home screen that tells you what to do — before you think to ask.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51560"/>
            <a:ext cx="11183112" cy="3200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170432"/>
            <a:ext cx="5120640" cy="53492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325880"/>
            <a:ext cx="4754880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C8102E"/>
                </a:solidFill>
                <a:latin typeface="Calibri"/>
              </a:rPr>
              <a:t>PREDICT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719072"/>
            <a:ext cx="4754880" cy="182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Payroll run · in 3 days · £42,180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VAT return due · in 22 days · £4,118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Companies House confirmation · 14 days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Colour-coded by urgency.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Amber · Red · Blue.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Each is a live nudge card.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657600"/>
            <a:ext cx="4754880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D97706"/>
                </a:solidFill>
                <a:latin typeface="Calibri"/>
              </a:rPr>
              <a:t>EXPLAIN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050791"/>
            <a:ext cx="4754880" cy="914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'Balance covers it — review if payees changed'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'Q3 Making Tax Digital · HMRC submission'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'Companies House · Northgate Systems Ltd'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074920"/>
            <a:ext cx="4754880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059669"/>
                </a:solidFill>
                <a:latin typeface="Calibri"/>
              </a:rPr>
              <a:t>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468112"/>
            <a:ext cx="475488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One tap → opens the relevant workflow directly.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No navigation. No menu. No searching.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1261872"/>
            <a:ext cx="603504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1" i="0">
                <a:solidFill>
                  <a:srgbClr val="1C1917"/>
                </a:solidFill>
                <a:latin typeface="Calibri"/>
              </a:rPr>
              <a:t>Why this is different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1783080"/>
            <a:ext cx="5943600" cy="4754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050">
                <a:solidFill>
                  <a:srgbClr val="44403C"/>
                </a:solidFill>
                <a:latin typeface="Calibri"/>
              </a:rPr>
              <a:t>Conventional banking apps show you data.</a:t>
            </a:r>
          </a:p>
          <a:p>
            <a:pPr>
              <a:spcAft>
                <a:spcPts val="400"/>
              </a:spcAft>
            </a:pPr>
            <a:r>
              <a:rPr sz="1050">
                <a:solidFill>
                  <a:srgbClr val="44403C"/>
                </a:solidFill>
                <a:latin typeface="Calibri"/>
              </a:rPr>
              <a:t>This one tells you what to do with it.</a:t>
            </a:r>
          </a:p>
          <a:p>
            <a:pPr>
              <a:spcAft>
                <a:spcPts val="400"/>
              </a:spcAft>
            </a:pPr>
            <a:r>
              <a:rPr sz="105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50">
                <a:solidFill>
                  <a:srgbClr val="44403C"/>
                </a:solidFill>
                <a:latin typeface="Calibri"/>
              </a:rPr>
              <a:t>The three forecast cards replace:</a:t>
            </a:r>
          </a:p>
          <a:p>
            <a:pPr>
              <a:spcAft>
                <a:spcPts val="400"/>
              </a:spcAft>
            </a:pPr>
            <a:r>
              <a:rPr sz="1050">
                <a:solidFill>
                  <a:srgbClr val="44403C"/>
                </a:solidFill>
                <a:latin typeface="Calibri"/>
              </a:rPr>
              <a:t>  •  The payroll reminder email from the accountant</a:t>
            </a:r>
          </a:p>
          <a:p>
            <a:pPr>
              <a:spcAft>
                <a:spcPts val="400"/>
              </a:spcAft>
            </a:pPr>
            <a:r>
              <a:rPr sz="1050">
                <a:solidFill>
                  <a:srgbClr val="44403C"/>
                </a:solidFill>
                <a:latin typeface="Calibri"/>
              </a:rPr>
              <a:t>  •  The tax calendar the director keeps in their head</a:t>
            </a:r>
          </a:p>
          <a:p>
            <a:pPr>
              <a:spcAft>
                <a:spcPts val="400"/>
              </a:spcAft>
            </a:pPr>
            <a:r>
              <a:rPr sz="1050">
                <a:solidFill>
                  <a:srgbClr val="44403C"/>
                </a:solidFill>
                <a:latin typeface="Calibri"/>
              </a:rPr>
              <a:t>  •  The Companies House letter that gets filed and forgotten</a:t>
            </a:r>
          </a:p>
          <a:p>
            <a:pPr>
              <a:spcAft>
                <a:spcPts val="400"/>
              </a:spcAft>
            </a:pPr>
            <a:r>
              <a:rPr sz="105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50">
                <a:solidFill>
                  <a:srgbClr val="44403C"/>
                </a:solidFill>
                <a:latin typeface="Calibri"/>
              </a:rPr>
              <a:t>Each card surfaces a specific, time-bounded, actionable signal.</a:t>
            </a:r>
          </a:p>
          <a:p>
            <a:pPr>
              <a:spcAft>
                <a:spcPts val="400"/>
              </a:spcAft>
            </a:pPr>
            <a:r>
              <a:rPr sz="1050">
                <a:solidFill>
                  <a:srgbClr val="44403C"/>
                </a:solidFill>
                <a:latin typeface="Calibri"/>
              </a:rPr>
              <a:t>Each taps directly into the resolution — no navigation required.</a:t>
            </a:r>
          </a:p>
          <a:p>
            <a:pPr>
              <a:spcAft>
                <a:spcPts val="400"/>
              </a:spcAft>
            </a:pPr>
            <a:r>
              <a:rPr sz="105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50">
                <a:solidFill>
                  <a:srgbClr val="44403C"/>
                </a:solidFill>
                <a:latin typeface="Calibri"/>
              </a:rPr>
              <a:t>'Predict → Explain → Act' — applied to banking.</a:t>
            </a:r>
          </a:p>
          <a:p>
            <a:pPr>
              <a:spcAft>
                <a:spcPts val="400"/>
              </a:spcAft>
            </a:pPr>
            <a:r>
              <a:rPr sz="1050">
                <a:solidFill>
                  <a:srgbClr val="44403C"/>
                </a:solidFill>
                <a:latin typeface="Calibri"/>
              </a:rPr>
              <a:t>It's not a feature. It's a design principle.</a:t>
            </a:r>
          </a:p>
          <a:p>
            <a:pPr>
              <a:spcAft>
                <a:spcPts val="400"/>
              </a:spcAft>
            </a:pPr>
            <a:r>
              <a:rPr sz="105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50">
                <a:solidFill>
                  <a:srgbClr val="44403C"/>
                </a:solidFill>
                <a:latin typeface="Calibri"/>
              </a:rPr>
              <a:t>The Home screen knows:</a:t>
            </a:r>
          </a:p>
          <a:p>
            <a:pPr>
              <a:spcAft>
                <a:spcPts val="400"/>
              </a:spcAft>
            </a:pPr>
            <a:r>
              <a:rPr sz="1050">
                <a:solidFill>
                  <a:srgbClr val="44403C"/>
                </a:solidFill>
                <a:latin typeface="Calibri"/>
              </a:rPr>
              <a:t>  •  When payroll is due (wages workflow history)</a:t>
            </a:r>
          </a:p>
          <a:p>
            <a:pPr>
              <a:spcAft>
                <a:spcPts val="400"/>
              </a:spcAft>
            </a:pPr>
            <a:r>
              <a:rPr sz="1050">
                <a:solidFill>
                  <a:srgbClr val="44403C"/>
                </a:solidFill>
                <a:latin typeface="Calibri"/>
              </a:rPr>
              <a:t>  •  How much VAT is owed (transaction categorisation)</a:t>
            </a:r>
          </a:p>
          <a:p>
            <a:pPr>
              <a:spcAft>
                <a:spcPts val="400"/>
              </a:spcAft>
            </a:pPr>
            <a:r>
              <a:rPr sz="1050">
                <a:solidFill>
                  <a:srgbClr val="44403C"/>
                </a:solidFill>
                <a:latin typeface="Calibri"/>
              </a:rPr>
              <a:t>  •  When Companies House confirmation is due (entity setup)</a:t>
            </a:r>
          </a:p>
          <a:p>
            <a:pPr>
              <a:spcAft>
                <a:spcPts val="400"/>
              </a:spcAft>
            </a:pPr>
            <a:r>
              <a:rPr sz="105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50">
                <a:solidFill>
                  <a:srgbClr val="44403C"/>
                </a:solidFill>
                <a:latin typeface="Calibri"/>
              </a:rPr>
              <a:t>This information already exists in the bank.</a:t>
            </a:r>
          </a:p>
          <a:p>
            <a:pPr>
              <a:spcAft>
                <a:spcPts val="400"/>
              </a:spcAft>
            </a:pPr>
            <a:r>
              <a:rPr sz="1050">
                <a:solidFill>
                  <a:srgbClr val="44403C"/>
                </a:solidFill>
                <a:latin typeface="Calibri"/>
              </a:rPr>
              <a:t>The question is whether the bank surfaces 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09728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MAKING TAX DIGITAL  ·  THE BANK AS TAX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1097280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From receipt scan to HMRC submission — without leaving the bank app.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34440"/>
            <a:ext cx="11183112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39496" y="1389888"/>
            <a:ext cx="2163470" cy="4892040"/>
          </a:xfrm>
          <a:prstGeom prst="rect">
            <a:avLst/>
          </a:prstGeom>
          <a:solidFill>
            <a:srgbClr val="292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02966" y="2651760"/>
            <a:ext cx="109728" cy="4572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02966" y="2606040"/>
            <a:ext cx="27432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1" i="0">
                <a:solidFill>
                  <a:srgbClr val="C8102E"/>
                </a:solidFill>
                <a:latin typeface="Calibri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1536192"/>
            <a:ext cx="1980590" cy="822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01
CAPTURE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2423160"/>
            <a:ext cx="1980590" cy="3657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Transactions auto-categorised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from bank feed.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Voice memo records expenses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by speaking.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Receipt scan via camera.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76118" y="1389888"/>
            <a:ext cx="2163470" cy="4892040"/>
          </a:xfrm>
          <a:prstGeom prst="rect">
            <a:avLst/>
          </a:prstGeom>
          <a:solidFill>
            <a:srgbClr val="292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39588" y="2651760"/>
            <a:ext cx="109728" cy="4572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39588" y="2606040"/>
            <a:ext cx="27432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1" i="0">
                <a:solidFill>
                  <a:srgbClr val="C8102E"/>
                </a:solidFill>
                <a:latin typeface="Calibri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4134" y="1536192"/>
            <a:ext cx="1980590" cy="822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02
REVIEW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04134" y="2423160"/>
            <a:ext cx="1980590" cy="3657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Director reviews each transaction.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Categories pre-filled.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Manual override available.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47 transactions · Q3 2026.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12740" y="1389888"/>
            <a:ext cx="2163470" cy="4892040"/>
          </a:xfrm>
          <a:prstGeom prst="rect">
            <a:avLst/>
          </a:prstGeom>
          <a:solidFill>
            <a:srgbClr val="292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176211" y="2651760"/>
            <a:ext cx="109728" cy="4572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76211" y="2606040"/>
            <a:ext cx="27432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1" i="0">
                <a:solidFill>
                  <a:srgbClr val="C8102E"/>
                </a:solidFill>
                <a:latin typeface="Calibri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40756" y="1536192"/>
            <a:ext cx="1980590" cy="822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03
CALCULATE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756" y="2423160"/>
            <a:ext cx="1980590" cy="3657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Output tax: £18,472.40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Input tax: £14,354.40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VAT due: £4,118.00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Period: Q3 Jul–Sep 2026.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49363" y="1389888"/>
            <a:ext cx="2163470" cy="4892040"/>
          </a:xfrm>
          <a:prstGeom prst="rect">
            <a:avLst/>
          </a:prstGeom>
          <a:solidFill>
            <a:srgbClr val="292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412833" y="2651760"/>
            <a:ext cx="109728" cy="4572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2833" y="2606040"/>
            <a:ext cx="27432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1" i="0">
                <a:solidFill>
                  <a:srgbClr val="C8102E"/>
                </a:solidFill>
                <a:latin typeface="Calibri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77379" y="1536192"/>
            <a:ext cx="1980590" cy="822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04
DECLARE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77379" y="2423160"/>
            <a:ext cx="1980590" cy="3657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Statutory HMRC declaration.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Checkbox. Timestamp.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Full audit trail entry.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Director's name recorded.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485985" y="1389888"/>
            <a:ext cx="2163470" cy="4892040"/>
          </a:xfrm>
          <a:prstGeom prst="rect">
            <a:avLst/>
          </a:prstGeom>
          <a:solidFill>
            <a:srgbClr val="292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14001" y="1536192"/>
            <a:ext cx="1980590" cy="822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05
SUBMIT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14001" y="2423160"/>
            <a:ext cx="1980590" cy="3657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5-second countdown overlay.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Calm grey Cancel button.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At zero: files to HMRC.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Receipt # in audit log.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73952"/>
            <a:ext cx="11183112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1">
                <a:solidFill>
                  <a:srgbClr val="78716C"/>
                </a:solidFill>
                <a:latin typeface="Calibri"/>
              </a:rPr>
              <a:t>No spreadsheet. No bridging software. No separate app. The bank files the VAT return.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09728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REGULATORY COMPLIANCE  ·  BUILT IN, NOT BOLTED 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94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Every feature is tied to a specific regulation. No vague compliance.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51560"/>
            <a:ext cx="11183112" cy="3200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39496" y="1170432"/>
            <a:ext cx="2722626" cy="534924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39496" y="1170432"/>
            <a:ext cx="2722626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" y="1325880"/>
            <a:ext cx="2567178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C8102E"/>
                </a:solidFill>
                <a:latin typeface="Calibri"/>
              </a:rPr>
              <a:t>FCA BCOBS 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" y="1719072"/>
            <a:ext cx="2567178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1" i="0">
                <a:solidFill>
                  <a:srgbClr val="1C1917"/>
                </a:solidFill>
                <a:latin typeface="Calibri"/>
              </a:rPr>
              <a:t>Cooling-Off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" y="2240280"/>
            <a:ext cx="2567178" cy="4160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High-risk requests — account closures, certain mandate changes —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carry a mandatory 24-hour execution delay.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The Home screen shows a live progress bar.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The customer can cancel at any point.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35274" y="1170432"/>
            <a:ext cx="2722626" cy="534924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35274" y="1170432"/>
            <a:ext cx="2722626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45002" y="1325880"/>
            <a:ext cx="2567178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D97706"/>
                </a:solidFill>
                <a:latin typeface="Calibri"/>
              </a:rPr>
              <a:t>HMRC MTD API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45002" y="1719072"/>
            <a:ext cx="2567178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1" i="0">
                <a:solidFill>
                  <a:srgbClr val="1C1917"/>
                </a:solidFill>
                <a:latin typeface="Calibri"/>
              </a:rPr>
              <a:t>VAT submission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45002" y="2240280"/>
            <a:ext cx="2567178" cy="4160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Making Tax Digital — mandatory for VAT-registered businesses.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The prototype models the API contract: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transaction categorisation → calculation → declaration → submission.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Receipt #VAT2026Q3-9482 in audit log.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31052" y="1170432"/>
            <a:ext cx="2722626" cy="534924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31052" y="1170432"/>
            <a:ext cx="2722626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0780" y="1325880"/>
            <a:ext cx="2567178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2563EB"/>
                </a:solidFill>
                <a:latin typeface="Calibri"/>
              </a:rPr>
              <a:t>Companies House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0780" y="1719072"/>
            <a:ext cx="2567178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1" i="0">
                <a:solidFill>
                  <a:srgbClr val="1C1917"/>
                </a:solidFill>
                <a:latin typeface="Calibri"/>
              </a:rPr>
              <a:t>KYC / KYB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40780" y="2240280"/>
            <a:ext cx="2567178" cy="4160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Annual confirmation statement.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Director identity verification.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Charity Commission integration for charity entity type.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ID register: Lists 1, 2 &amp; 3 (JMLSG guidance).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926830" y="1170432"/>
            <a:ext cx="2722626" cy="534924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26830" y="1170432"/>
            <a:ext cx="2722626" cy="7315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36558" y="1325880"/>
            <a:ext cx="2567178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059669"/>
                </a:solidFill>
                <a:latin typeface="Calibri"/>
              </a:rPr>
              <a:t>PSD2 / Open Banking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6558" y="1719072"/>
            <a:ext cx="2567178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1" i="0">
                <a:solidFill>
                  <a:srgbClr val="1C1917"/>
                </a:solidFill>
                <a:latin typeface="Calibri"/>
              </a:rPr>
              <a:t>Account unlinking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36558" y="2240280"/>
            <a:ext cx="2567178" cy="4160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Personal/business account separation.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Full FCA BCOBS disclosure before unlinking.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Ring-fencing opt-in with regulatory declaration.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All separation actions require OTP.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09728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FINANCIAL INTELLIGENCE  ·  BEYOND BALANCES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10972800" cy="594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The prototype surfaces insights that existing banking apps cannot.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170432"/>
            <a:ext cx="11183112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39496" y="1298448"/>
            <a:ext cx="2722626" cy="5120640"/>
          </a:xfrm>
          <a:prstGeom prst="rect">
            <a:avLst/>
          </a:prstGeom>
          <a:solidFill>
            <a:srgbClr val="292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444752"/>
            <a:ext cx="2567178" cy="594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1" i="0">
                <a:solidFill>
                  <a:srgbClr val="C8102E"/>
                </a:solidFill>
                <a:latin typeface="Calibri"/>
              </a:rPr>
              <a:t>13-Week Cash Flow Forecast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2103120"/>
            <a:ext cx="2567178" cy="4251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Smooth gradient area chart — Catmull-Rom curve.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Zoomed to actual min–max band so movement is legible.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Event markers: outflows, receipts, lowest week.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'Largest outflow: Payroll £42,180 in week 3 (15 Jul).'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'Balance dips below £80k floor — consider Reserve transfer.'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35274" y="1298448"/>
            <a:ext cx="2722626" cy="5120640"/>
          </a:xfrm>
          <a:prstGeom prst="rect">
            <a:avLst/>
          </a:prstGeom>
          <a:solidFill>
            <a:srgbClr val="292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45002" y="1444752"/>
            <a:ext cx="2567178" cy="594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1" i="0">
                <a:solidFill>
                  <a:srgbClr val="D97706"/>
                </a:solidFill>
                <a:latin typeface="Calibri"/>
              </a:rPr>
              <a:t>Business Health Score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45002" y="2103120"/>
            <a:ext cx="2567178" cy="4251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Live 0–100 score computed from 5 weighted factors: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  · Liquidity ratio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  · Tax compliance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  · Cash flow volatility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  · Payment timeliness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  · Mandate completeness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Shown as a circular SVG gauge on the Home screen.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31052" y="1298448"/>
            <a:ext cx="2722626" cy="5120640"/>
          </a:xfrm>
          <a:prstGeom prst="rect">
            <a:avLst/>
          </a:prstGeom>
          <a:solidFill>
            <a:srgbClr val="292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0780" y="1444752"/>
            <a:ext cx="2567178" cy="594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1" i="0">
                <a:solidFill>
                  <a:srgbClr val="2563EB"/>
                </a:solidFill>
                <a:latin typeface="Calibri"/>
              </a:rPr>
              <a:t>Supplier Radar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40780" y="2103120"/>
            <a:ext cx="2567178" cy="4251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Counterparty intelligence based on payment history.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Shows top payees, payment reliability, and flags.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Identifies new counterparties for KYC review.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Surfaces supplier payment terms vs actual payment dates.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26830" y="1298448"/>
            <a:ext cx="2722626" cy="5120640"/>
          </a:xfrm>
          <a:prstGeom prst="rect">
            <a:avLst/>
          </a:prstGeom>
          <a:solidFill>
            <a:srgbClr val="292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36558" y="1444752"/>
            <a:ext cx="2567178" cy="594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1" i="0">
                <a:solidFill>
                  <a:srgbClr val="059669"/>
                </a:solidFill>
                <a:latin typeface="Calibri"/>
              </a:rPr>
              <a:t>Pre-Approved Lending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36558" y="2103120"/>
            <a:ext cx="2567178" cy="4251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Based on 6-month transaction analysis, not a credit application.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£45,000 from 6.9% APR shown on the Home screen.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Draw-down in 4 steps — no call, no branch visit.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Replaces 'arrange an appointment' with 'tap to accept'.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09728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THE BUSINESS 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94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Phase 1 is live. Phase 2 is a product decision.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51560"/>
            <a:ext cx="11183112" cy="3200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170432"/>
            <a:ext cx="5394960" cy="53492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298448"/>
            <a:ext cx="50292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THE NUMBERS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719072"/>
            <a:ext cx="1645920" cy="713232"/>
          </a:xfrm>
          <a:prstGeom prst="rect">
            <a:avLst/>
          </a:prstGeom>
          <a:solidFill>
            <a:srgbClr val="292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2376" y="1755648"/>
            <a:ext cx="155448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£137M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23160" y="1883664"/>
            <a:ext cx="320040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0" i="0">
                <a:solidFill>
                  <a:srgbClr val="B0AAA4"/>
                </a:solidFill>
                <a:latin typeface="Calibri"/>
              </a:rPr>
              <a:t>annualised opportunity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2587752"/>
            <a:ext cx="1645920" cy="713232"/>
          </a:xfrm>
          <a:prstGeom prst="rect">
            <a:avLst/>
          </a:prstGeom>
          <a:solidFill>
            <a:srgbClr val="292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2376" y="2624328"/>
            <a:ext cx="155448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280,000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23160" y="2752344"/>
            <a:ext cx="320040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0" i="0">
                <a:solidFill>
                  <a:srgbClr val="B0AAA4"/>
                </a:solidFill>
                <a:latin typeface="Calibri"/>
              </a:rPr>
              <a:t>UK SMB customers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3456432"/>
            <a:ext cx="1645920" cy="713232"/>
          </a:xfrm>
          <a:prstGeom prst="rect">
            <a:avLst/>
          </a:prstGeom>
          <a:solidFill>
            <a:srgbClr val="292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" y="3493008"/>
            <a:ext cx="155448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£490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23160" y="3621024"/>
            <a:ext cx="320040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0" i="0">
                <a:solidFill>
                  <a:srgbClr val="B0AAA4"/>
                </a:solidFill>
                <a:latin typeface="Calibri"/>
              </a:rPr>
              <a:t>avg revenue per customer today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4325112"/>
            <a:ext cx="1645920" cy="713232"/>
          </a:xfrm>
          <a:prstGeom prst="rect">
            <a:avLst/>
          </a:prstGeom>
          <a:solidFill>
            <a:srgbClr val="292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4361688"/>
            <a:ext cx="155448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5–7×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3160" y="4489703"/>
            <a:ext cx="320040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0" i="0">
                <a:solidFill>
                  <a:srgbClr val="B0AAA4"/>
                </a:solidFill>
                <a:latin typeface="Calibri"/>
              </a:rPr>
              <a:t>expected uplift from self-service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5193792"/>
            <a:ext cx="1645920" cy="713232"/>
          </a:xfrm>
          <a:prstGeom prst="rect">
            <a:avLst/>
          </a:prstGeom>
          <a:solidFill>
            <a:srgbClr val="292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2376" y="5230368"/>
            <a:ext cx="155448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0 days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23160" y="5358383"/>
            <a:ext cx="320040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0" i="0">
                <a:solidFill>
                  <a:srgbClr val="B0AAA4"/>
                </a:solidFill>
                <a:latin typeface="Calibri"/>
              </a:rPr>
              <a:t>to readiness — prototype is live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26480" y="1170432"/>
            <a:ext cx="5715000" cy="534924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0" y="1298448"/>
            <a:ext cx="534924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WHAT COMES NEXT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91072" y="1719072"/>
            <a:ext cx="5376672" cy="146304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91072" y="1719072"/>
            <a:ext cx="73152" cy="14630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0" y="1810512"/>
            <a:ext cx="5029200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059669"/>
                </a:solidFill>
                <a:latin typeface="Calibri"/>
              </a:rPr>
              <a:t>PHASE 1  ·  COMPLETE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2194560"/>
            <a:ext cx="5029200" cy="914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Prototype built and live.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All 11 workflows functional.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7 entity types supported.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Design system documented.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91072" y="3291839"/>
            <a:ext cx="5376672" cy="146304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91072" y="3291839"/>
            <a:ext cx="73152" cy="14630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92240" y="3383279"/>
            <a:ext cx="5029200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D97706"/>
                </a:solidFill>
                <a:latin typeface="Calibri"/>
              </a:rPr>
              <a:t>PHASE 2  ·  PILOT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92240" y="3767327"/>
            <a:ext cx="5029200" cy="914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Select 500 business customers.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Connect to real Santander accounts.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Run for 90 days.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Measure: task completion, NPS, cost-to-serve.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91072" y="4864607"/>
            <a:ext cx="5376672" cy="146304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91072" y="4864607"/>
            <a:ext cx="73152" cy="14630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92240" y="4956047"/>
            <a:ext cx="5029200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C8102E"/>
                </a:solidFill>
                <a:latin typeface="Calibri"/>
              </a:rPr>
              <a:t>PHASE 3  ·  SCALE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92240" y="5340096"/>
            <a:ext cx="5029200" cy="914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Roll out to all 280,000 SMB customers.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Integrate HMRC MTD API (production).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Enable real-time mandate changes.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Target: £137M annual uplift.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09728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ROADMAP  ·  TWELVE MONTHS TO PRODUCTION AT SCALE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10972800" cy="594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Four phases. Three decisions.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170432"/>
            <a:ext cx="11183112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39496" y="1298448"/>
            <a:ext cx="2722626" cy="5120640"/>
          </a:xfrm>
          <a:prstGeom prst="rect">
            <a:avLst/>
          </a:prstGeom>
          <a:solidFill>
            <a:srgbClr val="073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39496" y="1298448"/>
            <a:ext cx="2722626" cy="8229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" y="1426464"/>
            <a:ext cx="2567178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059669"/>
                </a:solidFill>
                <a:latin typeface="Calibri"/>
              </a:rPr>
              <a:t>Q3 2026
JUL–SEP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" y="2121408"/>
            <a:ext cx="2567178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PHASE 1
COMPLETE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" y="2834640"/>
            <a:ext cx="2567178" cy="34747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✓  Prototype live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✓  11 workflows built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✓  7 entity types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✓  Design system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✓  Architecture documented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" y="6035040"/>
            <a:ext cx="2567178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1" i="0">
                <a:solidFill>
                  <a:srgbClr val="059669"/>
                </a:solidFill>
                <a:latin typeface="Calibri"/>
              </a:rPr>
              <a:t>LIVE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35274" y="1298448"/>
            <a:ext cx="2722626" cy="5120640"/>
          </a:xfrm>
          <a:prstGeom prst="rect">
            <a:avLst/>
          </a:prstGeom>
          <a:solidFill>
            <a:srgbClr val="292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35274" y="1298448"/>
            <a:ext cx="2722626" cy="8229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45002" y="1426464"/>
            <a:ext cx="2567178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D97706"/>
                </a:solidFill>
                <a:latin typeface="Calibri"/>
              </a:rPr>
              <a:t>Q3–Q4 2026
SEP–DEC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45002" y="2121408"/>
            <a:ext cx="2567178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PHASE 2
PILOT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45002" y="2834640"/>
            <a:ext cx="2567178" cy="34747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500 business customers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Real account integration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90-day pilot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NPS baseline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Cost-to-serve measurement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31052" y="1298448"/>
            <a:ext cx="2722626" cy="5120640"/>
          </a:xfrm>
          <a:prstGeom prst="rect">
            <a:avLst/>
          </a:prstGeom>
          <a:solidFill>
            <a:srgbClr val="292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31052" y="1298448"/>
            <a:ext cx="2722626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40780" y="1426464"/>
            <a:ext cx="2567178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C8102E"/>
                </a:solidFill>
                <a:latin typeface="Calibri"/>
              </a:rPr>
              <a:t>Q1 2027
JAN–MAR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40780" y="2121408"/>
            <a:ext cx="2567178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PHASE 3
PRODUCTION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0780" y="2834640"/>
            <a:ext cx="2567178" cy="34747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Full Santander integration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HMRC MTD live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Mandate API live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Comm strategy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Training rollout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26830" y="1298448"/>
            <a:ext cx="2722626" cy="5120640"/>
          </a:xfrm>
          <a:prstGeom prst="rect">
            <a:avLst/>
          </a:prstGeom>
          <a:solidFill>
            <a:srgbClr val="292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26830" y="1298448"/>
            <a:ext cx="2722626" cy="8229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36558" y="1426464"/>
            <a:ext cx="2567178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2563EB"/>
                </a:solidFill>
                <a:latin typeface="Calibri"/>
              </a:rPr>
              <a:t>Q2 2027
APR–JUN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36558" y="2121408"/>
            <a:ext cx="2567178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PHASE 4
SCALE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6558" y="2834640"/>
            <a:ext cx="2567178" cy="34747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All 280,000 SMB customers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Full feature parity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International expansion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Target: £137M uplift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Phase 1 cost: recovered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09728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DESIGN SYSTEM  ·  BUILT FOR EVERY CUSTOMER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94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Production-grade design tokens — consistent across all 11 workflows.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51560"/>
            <a:ext cx="11183112" cy="3200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39496" y="1170432"/>
            <a:ext cx="1790700" cy="14630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724912"/>
            <a:ext cx="1754124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#C8102E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063240"/>
            <a:ext cx="1754124" cy="10972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Brand Red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CTAs · Active states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Top bar · Alerts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03348" y="1170432"/>
            <a:ext cx="1790700" cy="14630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58212" y="2724912"/>
            <a:ext cx="1754124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#1C1917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58212" y="3063240"/>
            <a:ext cx="1754124" cy="10972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Stone-900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Primary text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Dark cards · Filled buttons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67200" y="1170432"/>
            <a:ext cx="1790700" cy="1463040"/>
          </a:xfrm>
          <a:prstGeom prst="rect">
            <a:avLst/>
          </a:prstGeom>
          <a:solidFill>
            <a:srgbClr val="787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22064" y="2724912"/>
            <a:ext cx="1754124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#FAF6EF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2064" y="3063240"/>
            <a:ext cx="1754124" cy="10972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Warm Off-White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Page background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Card backgrounds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31052" y="1170432"/>
            <a:ext cx="1790700" cy="14630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85916" y="2724912"/>
            <a:ext cx="1754124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#D97706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85916" y="3063240"/>
            <a:ext cx="1754124" cy="10972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Amber-600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Cooling-off · Warnings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Payroll nudge cards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94904" y="1170432"/>
            <a:ext cx="1790700" cy="14630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49768" y="2724912"/>
            <a:ext cx="1754124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#2563EB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9768" y="3063240"/>
            <a:ext cx="1754124" cy="10972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Blue-600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Companies House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Unfreeze button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858756" y="1170432"/>
            <a:ext cx="1790700" cy="14630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913620" y="2724912"/>
            <a:ext cx="1754124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#059669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13620" y="3063240"/>
            <a:ext cx="1754124" cy="10972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Emerald-600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Success states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Loan confirmed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Health score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4297680"/>
            <a:ext cx="5394960" cy="222199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434840"/>
            <a:ext cx="50292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TYPOGRAPHY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4773168"/>
            <a:ext cx="5029200" cy="1554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Fraunces  — editorial headings (display)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Geist Sans  — body text, UI copy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Geist Mono  — account numbers, financial figures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num-tab class  — tabular figures on all monetary values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26480" y="4297680"/>
            <a:ext cx="5532120" cy="222199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09360" y="4434840"/>
            <a:ext cx="516636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ACCESSIBILITY  ·  WCAG 2.1 AA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4773168"/>
            <a:ext cx="5166360" cy="1554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focus-visible ring on every interactive element (keyboard nav)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Dyslexia-friendly font  ·  Reduce motion  ·  High contrast  ·  Large text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SVG charts: role='img' + aria-label on every chart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Colour contrast checked against warm-white (#FAF6EF) background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645920"/>
            <a:ext cx="164592" cy="36576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10789920" cy="20116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£137M. Live today. Zero days to readiness.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840480"/>
            <a:ext cx="10515600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023360"/>
            <a:ext cx="1051560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600" b="0" i="0">
                <a:solidFill>
                  <a:srgbClr val="C0BBB5"/>
                </a:solidFill>
                <a:latin typeface="Calibri"/>
              </a:rPr>
              <a:t>Three decisions for senior management: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4553712"/>
            <a:ext cx="3520440" cy="1828800"/>
          </a:xfrm>
          <a:prstGeom prst="rect">
            <a:avLst/>
          </a:prstGeom>
          <a:solidFill>
            <a:srgbClr val="292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663440"/>
            <a:ext cx="54864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400" b="1" i="0">
                <a:solidFill>
                  <a:srgbClr val="C8102E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5212080"/>
            <a:ext cx="324612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Approve Phase 2 pilot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5669280"/>
            <a:ext cx="3246120" cy="6217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A8A29A"/>
                </a:solidFill>
                <a:latin typeface="Calibri"/>
              </a:rPr>
              <a:t>500 customers · 90 days · real accounts · measure NPS and cost-to-serve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90288" y="4553712"/>
            <a:ext cx="3520440" cy="1828800"/>
          </a:xfrm>
          <a:prstGeom prst="rect">
            <a:avLst/>
          </a:prstGeom>
          <a:solidFill>
            <a:srgbClr val="292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27448" y="4663440"/>
            <a:ext cx="54864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400" b="1" i="0">
                <a:solidFill>
                  <a:srgbClr val="C8102E"/>
                </a:solidFill>
                <a:latin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27448" y="5212080"/>
            <a:ext cx="324612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Assign a product team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27448" y="5669280"/>
            <a:ext cx="3246120" cy="6217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A8A29A"/>
                </a:solidFill>
                <a:latin typeface="Calibri"/>
              </a:rPr>
              <a:t>The prototype needs an engineer, a PM, and a designer to move to production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357616" y="4553712"/>
            <a:ext cx="3520440" cy="1828800"/>
          </a:xfrm>
          <a:prstGeom prst="rect">
            <a:avLst/>
          </a:prstGeom>
          <a:solidFill>
            <a:srgbClr val="292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94776" y="4663440"/>
            <a:ext cx="54864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400" b="1" i="0">
                <a:solidFill>
                  <a:srgbClr val="C8102E"/>
                </a:solidFill>
                <a:latin typeface="Calibr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94776" y="5212080"/>
            <a:ext cx="324612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Name a sponsor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94776" y="5669280"/>
            <a:ext cx="3246120" cy="6217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A8A29A"/>
                </a:solidFill>
                <a:latin typeface="Calibri"/>
              </a:rPr>
              <a:t>A senior stakeholder to own the business case through to Phase 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560320"/>
            <a:ext cx="164592" cy="18288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651760"/>
            <a:ext cx="1005840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  <a:latin typeface="Calibri"/>
              </a:rPr>
              <a:t>See it. Try it. Build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794760"/>
            <a:ext cx="10058400" cy="4754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000" b="1" i="0">
                <a:solidFill>
                  <a:srgbClr val="C8102E"/>
                </a:solidFill>
                <a:latin typeface="Calibri"/>
              </a:rPr>
              <a:t>imscots-ui.github.io/santander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407408"/>
            <a:ext cx="1005840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C0BBB5"/>
                </a:solidFill>
                <a:latin typeface="Calibri"/>
              </a:rPr>
              <a:t>Alan Davidson  ·  Alan.Davidson@santander.co.uk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172200"/>
            <a:ext cx="1051560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1">
                <a:solidFill>
                  <a:srgbClr val="78716C"/>
                </a:solidFill>
                <a:latin typeface="Calibri"/>
              </a:rPr>
              <a:t>Self-initiated concept piece. Prototype only — no backend, no real data. Built to demonstrate what's possible.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