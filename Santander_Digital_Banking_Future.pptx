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012680" y="292608"/>
            <a:ext cx="1783080" cy="310896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12680" y="329184"/>
            <a:ext cx="1783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 i="0">
                <a:solidFill>
                  <a:srgbClr val="FFFFFF"/>
                </a:solidFill>
                <a:latin typeface="Calibri"/>
              </a:rPr>
              <a:t>INTERNAL · CONFIDENTIAL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355080"/>
            <a:ext cx="12188952" cy="502920"/>
          </a:xfrm>
          <a:prstGeom prst="rect">
            <a:avLst/>
          </a:prstGeom>
          <a:solidFill>
            <a:srgbClr val="A00D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783080"/>
            <a:ext cx="8686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Calibri"/>
              </a:rPr>
              <a:t>Santander Business Banking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487168"/>
            <a:ext cx="82296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FECACA"/>
                </a:solidFill>
                <a:latin typeface="Calibri"/>
              </a:rPr>
              <a:t>Digital. Personal. Built from within.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3090672"/>
            <a:ext cx="7772400" cy="36576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3273552"/>
            <a:ext cx="2450592" cy="749808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2648" y="3310128"/>
            <a:ext cx="822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21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90472" y="3429000"/>
            <a:ext cx="135331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D6D3D1"/>
                </a:solidFill>
                <a:latin typeface="Calibri"/>
              </a:rPr>
              <a:t>features built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136391" y="3273552"/>
            <a:ext cx="2450592" cy="749808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246120" y="3310128"/>
            <a:ext cx="822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11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23944" y="3429000"/>
            <a:ext cx="135331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D6D3D1"/>
                </a:solidFill>
                <a:latin typeface="Calibri"/>
              </a:rPr>
              <a:t>paperless workflows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769864" y="3273552"/>
            <a:ext cx="2450592" cy="749808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879592" y="3310128"/>
            <a:ext cx="822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57416" y="3429000"/>
            <a:ext cx="135331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D6D3D1"/>
                </a:solidFill>
                <a:latin typeface="Calibri"/>
              </a:rPr>
              <a:t>entity types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4251960"/>
            <a:ext cx="4754880" cy="384048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4360" y="4288536"/>
            <a:ext cx="45720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LIVE DEMO  →  imscots-ui.github.io/santander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446520"/>
            <a:ext cx="91440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ECACA"/>
                </a:solidFill>
                <a:latin typeface="Calibri"/>
              </a:rPr>
              <a:t>Alan Davidson  ·  Business Banking Advisor  ·  Self-initiated  ·  June 2026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722608" y="6565392"/>
            <a:ext cx="34747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D6D3D1"/>
                </a:solidFill>
                <a:latin typeface="Calibri"/>
              </a:rPr>
              <a:t>1</a:t>
            </a:r>
          </a:p>
        </p:txBody>
      </p:sp>
      <p:pic>
        <p:nvPicPr>
          <p:cNvPr id="24" name="Santander logo" descr="santander-logo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457200"/>
            <a:ext cx="2377440" cy="41129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912" y="137160"/>
            <a:ext cx="109728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C1917"/>
                </a:solidFill>
                <a:latin typeface="Calibri"/>
              </a:rPr>
              <a:t>The opportunity is £137M. The prototype is live.</a:t>
            </a:r>
          </a:p>
        </p:txBody>
      </p:sp>
      <p:sp>
        <p:nvSpPr>
          <p:cNvPr id="5" name="Rectangle 4"/>
          <p:cNvSpPr/>
          <p:nvPr/>
        </p:nvSpPr>
        <p:spPr>
          <a:xfrm>
            <a:off x="438912" y="877824"/>
            <a:ext cx="11311128" cy="14630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38912" y="1078992"/>
            <a:ext cx="3703320" cy="192024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1170432"/>
            <a:ext cx="3520439" cy="11137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200" b="1" i="0">
                <a:solidFill>
                  <a:srgbClr val="FFFFFF"/>
                </a:solidFill>
                <a:latin typeface="Calibri"/>
              </a:rPr>
              <a:t>£137M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2238451"/>
            <a:ext cx="3520439" cy="6912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D6D3D1"/>
                </a:solidFill>
                <a:latin typeface="Calibri"/>
              </a:rPr>
              <a:t>Annualised opportunity
280,000 SMB customers</a:t>
            </a:r>
          </a:p>
        </p:txBody>
      </p:sp>
      <p:sp>
        <p:nvSpPr>
          <p:cNvPr id="9" name="Rectangle 8"/>
          <p:cNvSpPr/>
          <p:nvPr/>
        </p:nvSpPr>
        <p:spPr>
          <a:xfrm>
            <a:off x="4352544" y="1078992"/>
            <a:ext cx="3703320" cy="192024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43983" y="1170432"/>
            <a:ext cx="3520439" cy="11137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200" b="1" i="0">
                <a:solidFill>
                  <a:srgbClr val="FFFFFF"/>
                </a:solidFill>
                <a:latin typeface="Calibri"/>
              </a:rPr>
              <a:t>£4.9M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983" y="2238451"/>
            <a:ext cx="3520439" cy="6912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D6D3D1"/>
                </a:solidFill>
                <a:latin typeface="Calibri"/>
              </a:rPr>
              <a:t>Cost saving per 10k
customers in year 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66176" y="1078992"/>
            <a:ext cx="3703320" cy="192024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57616" y="1170432"/>
            <a:ext cx="3520439" cy="11137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200" b="1" i="0">
                <a:solidFill>
                  <a:srgbClr val="FFFFFF"/>
                </a:solidFill>
                <a:latin typeface="Calibri"/>
              </a:rPr>
              <a:t>£0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57616" y="2238451"/>
            <a:ext cx="3520439" cy="6912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D6D3D1"/>
                </a:solidFill>
                <a:latin typeface="Calibri"/>
              </a:rPr>
              <a:t>Investment required
to see it working today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8912" y="3200400"/>
            <a:ext cx="11311128" cy="82296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1792" y="32918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C1917"/>
                </a:solidFill>
                <a:latin typeface="Calibri"/>
              </a:rPr>
              <a:t>Open it now on any device — no install, no login: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303520" y="3273552"/>
            <a:ext cx="6263640" cy="676656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49824" y="3346704"/>
            <a:ext cx="5989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imscots-ui.github.io/santander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38912" y="4206240"/>
            <a:ext cx="54864" cy="34747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03504" y="4233672"/>
            <a:ext cx="11064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C1917"/>
                </a:solidFill>
                <a:latin typeface="Calibri"/>
              </a:rPr>
              <a:t>Only UK business bank with Voice ID across app, phone, and video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12" y="4645152"/>
            <a:ext cx="54864" cy="34747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03504" y="4672583"/>
            <a:ext cx="11064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C1917"/>
                </a:solidFill>
                <a:latin typeface="Calibri"/>
              </a:rPr>
              <a:t>Only prototype with live Companies House supplier risk on the dashboard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8912" y="5084064"/>
            <a:ext cx="54864" cy="34747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03504" y="5111496"/>
            <a:ext cx="11064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C1917"/>
                </a:solidFill>
                <a:latin typeface="Calibri"/>
              </a:rPr>
              <a:t>Full personal/business data separation at app, call centre, and credit simultaneously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38912" y="5522975"/>
            <a:ext cx="54864" cy="34747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03504" y="5550408"/>
            <a:ext cx="11064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C1917"/>
                </a:solidFill>
                <a:latin typeface="Calibri"/>
              </a:rPr>
              <a:t>MTD submission from receipt scan to HMRC in under 60 seconds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38912" y="5961888"/>
            <a:ext cx="54864" cy="34747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03504" y="5989320"/>
            <a:ext cx="11064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C1917"/>
                </a:solidFill>
                <a:latin typeface="Calibri"/>
              </a:rPr>
              <a:t>Business health score — 5-factor live gauge no UK business bank currently offers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11480" y="6620256"/>
            <a:ext cx="3657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DA291C"/>
                </a:solidFill>
                <a:latin typeface="Calibri"/>
              </a:rPr>
              <a:t>INTERNAL · CONFIDENTIAL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657600" y="6620256"/>
            <a:ext cx="811987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 i="1">
                <a:solidFill>
                  <a:srgbClr val="78716C"/>
                </a:solidFill>
                <a:latin typeface="Calibri"/>
              </a:rPr>
              <a:t>Alan Davidson  ·  Business Banking Advisor  ·  Self-initiated  ·  Own time  ·  June 2026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722608" y="6565392"/>
            <a:ext cx="34747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78716C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912" y="137160"/>
            <a:ext cx="109728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The problem is still paper.</a:t>
            </a:r>
          </a:p>
        </p:txBody>
      </p:sp>
      <p:sp>
        <p:nvSpPr>
          <p:cNvPr id="5" name="Rectangle 4"/>
          <p:cNvSpPr/>
          <p:nvPr/>
        </p:nvSpPr>
        <p:spPr>
          <a:xfrm>
            <a:off x="438912" y="877824"/>
            <a:ext cx="11311128" cy="14630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12" y="841248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1">
                <a:solidFill>
                  <a:srgbClr val="D6D3D1"/>
                </a:solidFill>
                <a:latin typeface="Calibri"/>
              </a:rPr>
              <a:t>Four pain points every Business Banking Advisor processes every day:</a:t>
            </a:r>
          </a:p>
        </p:txBody>
      </p:sp>
      <p:sp>
        <p:nvSpPr>
          <p:cNvPr id="7" name="Rectangle 6"/>
          <p:cNvSpPr/>
          <p:nvPr/>
        </p:nvSpPr>
        <p:spPr>
          <a:xfrm>
            <a:off x="438912" y="1207008"/>
            <a:ext cx="5650992" cy="2395728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1792" y="1344168"/>
            <a:ext cx="731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DA291C"/>
                </a:solidFill>
                <a:latin typeface="Calibr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44752" y="1371600"/>
            <a:ext cx="4434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Paper forms for every change</a:t>
            </a:r>
          </a:p>
        </p:txBody>
      </p:sp>
      <p:sp>
        <p:nvSpPr>
          <p:cNvPr id="10" name="Rectangle 9"/>
          <p:cNvSpPr/>
          <p:nvPr/>
        </p:nvSpPr>
        <p:spPr>
          <a:xfrm>
            <a:off x="1444752" y="1737360"/>
            <a:ext cx="4434840" cy="25603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65376"/>
            <a:ext cx="5266944" cy="1572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D6D3D1"/>
                </a:solidFill>
                <a:latin typeface="Calibri"/>
              </a:rPr>
              <a:t>Mandate updates, new signatories, account closures — all paper. Each form takes 3–7 days and can be lost, mis-signed, or returned.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18504" y="1207008"/>
            <a:ext cx="5650992" cy="2395728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01384" y="1344168"/>
            <a:ext cx="731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DA291C"/>
                </a:solidFill>
                <a:latin typeface="Calibri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24344" y="1371600"/>
            <a:ext cx="4434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Customers call instead of self-serve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24344" y="1737360"/>
            <a:ext cx="4434840" cy="25603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01384" y="1865376"/>
            <a:ext cx="5266944" cy="1572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D6D3D1"/>
                </a:solidFill>
                <a:latin typeface="Calibri"/>
              </a:rPr>
              <a:t>Phone queues for tasks that could be completed in 3 taps. Each call costs ~£8 and erodes the relationship.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8912" y="3785615"/>
            <a:ext cx="5650992" cy="2395728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1792" y="3922776"/>
            <a:ext cx="731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DA291C"/>
                </a:solidFill>
                <a:latin typeface="Calibri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44752" y="3950207"/>
            <a:ext cx="4434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Competitors are already digital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444752" y="4315968"/>
            <a:ext cx="4434840" cy="25603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1792" y="4443983"/>
            <a:ext cx="5266944" cy="1572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D6D3D1"/>
                </a:solidFill>
                <a:latin typeface="Calibri"/>
              </a:rPr>
              <a:t>Tide, Starling, and Monzo Business offer instant digital mandates. Santander's SMB customers notice the gap every week.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18504" y="3785615"/>
            <a:ext cx="5650992" cy="2395728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01384" y="3922776"/>
            <a:ext cx="731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DA291C"/>
                </a:solidFill>
                <a:latin typeface="Calibri"/>
              </a:rPr>
              <a:t>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24344" y="3950207"/>
            <a:ext cx="4434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Compliance is manual and invisible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24344" y="4315968"/>
            <a:ext cx="4434840" cy="25603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01384" y="4443983"/>
            <a:ext cx="5266944" cy="1572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D6D3D1"/>
                </a:solidFill>
                <a:latin typeface="Calibri"/>
              </a:rPr>
              <a:t>KYC, audit trails, and cooling-off periods are tracked on spreadsheets and memory. SYSC 9 audit readiness is a quarterly scramble.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1480" y="6620256"/>
            <a:ext cx="3657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FECACA"/>
                </a:solidFill>
                <a:latin typeface="Calibri"/>
              </a:rPr>
              <a:t>INTERNAL · CONFIDENTIAL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0" y="6620256"/>
            <a:ext cx="811987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 i="1">
                <a:solidFill>
                  <a:srgbClr val="D6D3D1"/>
                </a:solidFill>
                <a:latin typeface="Calibri"/>
              </a:rPr>
              <a:t>Alan Davidson  ·  Business Banking Advisor  ·  Self-initiated  ·  Own time  ·  June 2026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722608" y="6565392"/>
            <a:ext cx="34747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D6D3D1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1280160"/>
            <a:ext cx="9994392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Calibri"/>
              </a:rPr>
              <a:t>We already own the relationship.</a:t>
            </a:r>
          </a:p>
        </p:txBody>
      </p:sp>
      <p:sp>
        <p:nvSpPr>
          <p:cNvPr id="4" name="Rectangle 3"/>
          <p:cNvSpPr/>
          <p:nvPr/>
        </p:nvSpPr>
        <p:spPr>
          <a:xfrm>
            <a:off x="3200400" y="2377440"/>
            <a:ext cx="5788152" cy="548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514600"/>
            <a:ext cx="999439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0" i="0">
                <a:solidFill>
                  <a:srgbClr val="FECACA"/>
                </a:solidFill>
                <a:latin typeface="Calibri"/>
              </a:rPr>
              <a:t>We just need to digitise it.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3337560"/>
            <a:ext cx="999439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FFFFFF"/>
                </a:solidFill>
                <a:latin typeface="Calibri"/>
              </a:rPr>
              <a:t>Every paper form, replaced.  ·  Every phone call, self-served.  ·  Every signature, digital.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760720"/>
            <a:ext cx="12188952" cy="1097280"/>
          </a:xfrm>
          <a:prstGeom prst="rect">
            <a:avLst/>
          </a:prstGeom>
          <a:solidFill>
            <a:srgbClr val="A00D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5989320"/>
            <a:ext cx="110916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Built in React. 5,300 lines. 21 features. Live at imscots-ui.github.io/santander — open it now.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382512"/>
            <a:ext cx="11091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1">
                <a:solidFill>
                  <a:srgbClr val="FECACA"/>
                </a:solidFill>
                <a:latin typeface="Calibri"/>
              </a:rPr>
              <a:t>Alan Davidson  ·  Business Banking Advisor  ·  Self-initiated  ·  Own time  ·  June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722608" y="6565392"/>
            <a:ext cx="34747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D6D3D1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912" y="137160"/>
            <a:ext cx="109728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C1917"/>
                </a:solidFill>
                <a:latin typeface="Calibri"/>
              </a:rPr>
              <a:t>21 features. Four categories. One app.</a:t>
            </a:r>
          </a:p>
        </p:txBody>
      </p:sp>
      <p:sp>
        <p:nvSpPr>
          <p:cNvPr id="5" name="Rectangle 4"/>
          <p:cNvSpPr/>
          <p:nvPr/>
        </p:nvSpPr>
        <p:spPr>
          <a:xfrm>
            <a:off x="438912" y="877824"/>
            <a:ext cx="11311128" cy="14630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38912" y="1024128"/>
            <a:ext cx="2788920" cy="310896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042415"/>
            <a:ext cx="257860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CORE BANKING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335024"/>
            <a:ext cx="278892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8912" y="1335024"/>
            <a:ext cx="45720" cy="658368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3503" y="1389888"/>
            <a:ext cx="2505456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Account management + mandate badges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12" y="2011680"/>
            <a:ext cx="2788920" cy="658368"/>
          </a:xfrm>
          <a:prstGeom prst="rect">
            <a:avLst/>
          </a:prstGeom>
          <a:solidFill>
            <a:srgbClr val="F5F5F4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8912" y="2011680"/>
            <a:ext cx="45720" cy="658368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03503" y="2066543"/>
            <a:ext cx="2505456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Dual-authorisation (Face ID / reject)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8912" y="2688336"/>
            <a:ext cx="278892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8912" y="2688336"/>
            <a:ext cx="45720" cy="658368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03503" y="2743200"/>
            <a:ext cx="2505456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Per-account signing rules (Any-1 / 2 / All)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8912" y="3364991"/>
            <a:ext cx="2788920" cy="658368"/>
          </a:xfrm>
          <a:prstGeom prst="rect">
            <a:avLst/>
          </a:prstGeom>
          <a:solidFill>
            <a:srgbClr val="F5F5F4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8912" y="3364991"/>
            <a:ext cx="45720" cy="658368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03503" y="3419856"/>
            <a:ext cx="2505456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7 entity types — full compliance paths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8912" y="4041648"/>
            <a:ext cx="278892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38912" y="4041648"/>
            <a:ext cx="45720" cy="658368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03503" y="4096512"/>
            <a:ext cx="2505456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Cooling-off with working-day countdown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8912" y="4718304"/>
            <a:ext cx="2788920" cy="658368"/>
          </a:xfrm>
          <a:prstGeom prst="rect">
            <a:avLst/>
          </a:prstGeom>
          <a:solidFill>
            <a:srgbClr val="F5F5F4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38912" y="4718304"/>
            <a:ext cx="45720" cy="658368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03503" y="4773168"/>
            <a:ext cx="2505456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Stalled request RM escalation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38912" y="5394959"/>
            <a:ext cx="278892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38912" y="5394959"/>
            <a:ext cx="45720" cy="658368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03503" y="5449823"/>
            <a:ext cx="2505456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7-year immutable audit trail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383280" y="1024128"/>
            <a:ext cx="2788920" cy="310896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493008" y="1042415"/>
            <a:ext cx="257860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PAPERLESS WORKFLOWS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383280" y="1335024"/>
            <a:ext cx="278892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383280" y="1335024"/>
            <a:ext cx="45720" cy="658368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547872" y="1389888"/>
            <a:ext cx="2505456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Account closure + Confirmation of Payee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383280" y="2011680"/>
            <a:ext cx="2788920" cy="658368"/>
          </a:xfrm>
          <a:prstGeom prst="rect">
            <a:avLst/>
          </a:prstGeom>
          <a:solidFill>
            <a:srgbClr val="F5F5F4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3383280" y="2011680"/>
            <a:ext cx="45720" cy="658368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547872" y="2066543"/>
            <a:ext cx="2505456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Partner unreachable (4 regulatory paths)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383280" y="2688336"/>
            <a:ext cx="278892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3383280" y="2688336"/>
            <a:ext cx="45720" cy="658368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547872" y="2743200"/>
            <a:ext cx="2505456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Mandate changes + KYC / KYB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383280" y="3364991"/>
            <a:ext cx="2788920" cy="658368"/>
          </a:xfrm>
          <a:prstGeom prst="rect">
            <a:avLst/>
          </a:prstGeom>
          <a:solidFill>
            <a:srgbClr val="F5F5F4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3383280" y="3364991"/>
            <a:ext cx="45720" cy="658368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547872" y="3419856"/>
            <a:ext cx="2505456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Bulk payments / wages + payee book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383280" y="4041648"/>
            <a:ext cx="278892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3383280" y="4041648"/>
            <a:ext cx="45720" cy="658368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547872" y="4096512"/>
            <a:ext cx="2505456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Business details update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383280" y="4718304"/>
            <a:ext cx="2788920" cy="658368"/>
          </a:xfrm>
          <a:prstGeom prst="rect">
            <a:avLst/>
          </a:prstGeom>
          <a:solidFill>
            <a:srgbClr val="F5F5F4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3383280" y="4718304"/>
            <a:ext cx="45720" cy="658368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547872" y="4773168"/>
            <a:ext cx="2505456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Dormant account reactivation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383280" y="5394959"/>
            <a:ext cx="278892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3383280" y="5394959"/>
            <a:ext cx="45720" cy="658368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547872" y="5449823"/>
            <a:ext cx="2505456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MTD VAT quarterly submission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327648" y="1024128"/>
            <a:ext cx="2788920" cy="310896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437376" y="1042415"/>
            <a:ext cx="257860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INTELLIGENCE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327648" y="1335024"/>
            <a:ext cx="278892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6327648" y="1335024"/>
            <a:ext cx="45720" cy="658368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492240" y="1389888"/>
            <a:ext cx="2505456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Business health score (5-factor gauge)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327648" y="2011680"/>
            <a:ext cx="2788920" cy="658368"/>
          </a:xfrm>
          <a:prstGeom prst="rect">
            <a:avLst/>
          </a:prstGeom>
          <a:solidFill>
            <a:srgbClr val="F5F5F4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6327648" y="2011680"/>
            <a:ext cx="45720" cy="658368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492240" y="2066543"/>
            <a:ext cx="2505456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13-week cash flow forecast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327648" y="2688336"/>
            <a:ext cx="278892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6327648" y="2688336"/>
            <a:ext cx="45720" cy="658368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492240" y="2743200"/>
            <a:ext cx="2505456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Supplier risk radar (Companies House)</a:t>
            </a:r>
          </a:p>
        </p:txBody>
      </p:sp>
      <p:sp>
        <p:nvSpPr>
          <p:cNvPr id="63" name="Rectangle 62"/>
          <p:cNvSpPr/>
          <p:nvPr/>
        </p:nvSpPr>
        <p:spPr>
          <a:xfrm>
            <a:off x="6327648" y="3364991"/>
            <a:ext cx="2788920" cy="658368"/>
          </a:xfrm>
          <a:prstGeom prst="rect">
            <a:avLst/>
          </a:prstGeom>
          <a:solidFill>
            <a:srgbClr val="F5F5F4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6327648" y="3364991"/>
            <a:ext cx="45720" cy="658368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492240" y="3419856"/>
            <a:ext cx="2505456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Director command centre</a:t>
            </a:r>
          </a:p>
        </p:txBody>
      </p:sp>
      <p:sp>
        <p:nvSpPr>
          <p:cNvPr id="66" name="Rectangle 65"/>
          <p:cNvSpPr/>
          <p:nvPr/>
        </p:nvSpPr>
        <p:spPr>
          <a:xfrm>
            <a:off x="6327648" y="4041648"/>
            <a:ext cx="278892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6327648" y="4041648"/>
            <a:ext cx="45720" cy="658368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492240" y="4096512"/>
            <a:ext cx="2505456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Smart payment sequencer</a:t>
            </a:r>
          </a:p>
        </p:txBody>
      </p:sp>
      <p:sp>
        <p:nvSpPr>
          <p:cNvPr id="69" name="Rectangle 68"/>
          <p:cNvSpPr/>
          <p:nvPr/>
        </p:nvSpPr>
        <p:spPr>
          <a:xfrm>
            <a:off x="6327648" y="4718304"/>
            <a:ext cx="2788920" cy="658368"/>
          </a:xfrm>
          <a:prstGeom prst="rect">
            <a:avLst/>
          </a:prstGeom>
          <a:solidFill>
            <a:srgbClr val="F5F5F4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6327648" y="4718304"/>
            <a:ext cx="45720" cy="658368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6492240" y="4773168"/>
            <a:ext cx="2505456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Pre-approved lending offer</a:t>
            </a:r>
          </a:p>
        </p:txBody>
      </p:sp>
      <p:sp>
        <p:nvSpPr>
          <p:cNvPr id="72" name="Rectangle 71"/>
          <p:cNvSpPr/>
          <p:nvPr/>
        </p:nvSpPr>
        <p:spPr>
          <a:xfrm>
            <a:off x="6327648" y="5394959"/>
            <a:ext cx="278892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6327648" y="5394959"/>
            <a:ext cx="45720" cy="658368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6492240" y="5449823"/>
            <a:ext cx="2505456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Financial statements + counterparty search</a:t>
            </a:r>
          </a:p>
        </p:txBody>
      </p:sp>
      <p:sp>
        <p:nvSpPr>
          <p:cNvPr id="75" name="Rectangle 74"/>
          <p:cNvSpPr/>
          <p:nvPr/>
        </p:nvSpPr>
        <p:spPr>
          <a:xfrm>
            <a:off x="9272016" y="1024128"/>
            <a:ext cx="2788920" cy="31089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9381744" y="1042415"/>
            <a:ext cx="257860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PRIVACY &amp; SECURITY</a:t>
            </a:r>
          </a:p>
        </p:txBody>
      </p:sp>
      <p:sp>
        <p:nvSpPr>
          <p:cNvPr id="77" name="Rectangle 76"/>
          <p:cNvSpPr/>
          <p:nvPr/>
        </p:nvSpPr>
        <p:spPr>
          <a:xfrm>
            <a:off x="9272016" y="1335024"/>
            <a:ext cx="278892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9272016" y="1335024"/>
            <a:ext cx="45720" cy="658368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9436608" y="1389888"/>
            <a:ext cx="2505456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Personal / business account unlink</a:t>
            </a:r>
          </a:p>
        </p:txBody>
      </p:sp>
      <p:sp>
        <p:nvSpPr>
          <p:cNvPr id="80" name="Rectangle 79"/>
          <p:cNvSpPr/>
          <p:nvPr/>
        </p:nvSpPr>
        <p:spPr>
          <a:xfrm>
            <a:off x="9272016" y="2011680"/>
            <a:ext cx="2788920" cy="658368"/>
          </a:xfrm>
          <a:prstGeom prst="rect">
            <a:avLst/>
          </a:prstGeom>
          <a:solidFill>
            <a:srgbClr val="F5F5F4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9272016" y="2011680"/>
            <a:ext cx="45720" cy="658368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9436608" y="2066543"/>
            <a:ext cx="2505456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Call centre channel separation</a:t>
            </a:r>
          </a:p>
        </p:txBody>
      </p:sp>
      <p:sp>
        <p:nvSpPr>
          <p:cNvPr id="83" name="Rectangle 82"/>
          <p:cNvSpPr/>
          <p:nvPr/>
        </p:nvSpPr>
        <p:spPr>
          <a:xfrm>
            <a:off x="9272016" y="2688336"/>
            <a:ext cx="278892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9272016" y="2688336"/>
            <a:ext cx="45720" cy="658368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9436608" y="2743200"/>
            <a:ext cx="2505456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Credit ring-fence (GDPR Art.5(1)(c))</a:t>
            </a:r>
          </a:p>
        </p:txBody>
      </p:sp>
      <p:sp>
        <p:nvSpPr>
          <p:cNvPr id="86" name="Rectangle 85"/>
          <p:cNvSpPr/>
          <p:nvPr/>
        </p:nvSpPr>
        <p:spPr>
          <a:xfrm>
            <a:off x="9272016" y="3364991"/>
            <a:ext cx="2788920" cy="658368"/>
          </a:xfrm>
          <a:prstGeom prst="rect">
            <a:avLst/>
          </a:prstGeom>
          <a:solidFill>
            <a:srgbClr val="F5F5F4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9272016" y="3364991"/>
            <a:ext cx="45720" cy="658368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9436608" y="3419856"/>
            <a:ext cx="2505456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PSD2 consent audit + one-tap revoke</a:t>
            </a:r>
          </a:p>
        </p:txBody>
      </p:sp>
      <p:sp>
        <p:nvSpPr>
          <p:cNvPr id="89" name="Rectangle 88"/>
          <p:cNvSpPr/>
          <p:nvPr/>
        </p:nvSpPr>
        <p:spPr>
          <a:xfrm>
            <a:off x="9272016" y="4041648"/>
            <a:ext cx="278892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9272016" y="4041648"/>
            <a:ext cx="45720" cy="658368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9436608" y="4096512"/>
            <a:ext cx="2505456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Voice ID biometric (3-phrase enrolment)</a:t>
            </a:r>
          </a:p>
        </p:txBody>
      </p:sp>
      <p:sp>
        <p:nvSpPr>
          <p:cNvPr id="92" name="Rectangle 91"/>
          <p:cNvSpPr/>
          <p:nvPr/>
        </p:nvSpPr>
        <p:spPr>
          <a:xfrm>
            <a:off x="9272016" y="4718304"/>
            <a:ext cx="2788920" cy="658368"/>
          </a:xfrm>
          <a:prstGeom prst="rect">
            <a:avLst/>
          </a:prstGeom>
          <a:solidFill>
            <a:srgbClr val="F5F5F4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9272016" y="4718304"/>
            <a:ext cx="45720" cy="658368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9436608" y="4773168"/>
            <a:ext cx="2505456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Session anomaly detection</a:t>
            </a:r>
          </a:p>
        </p:txBody>
      </p:sp>
      <p:sp>
        <p:nvSpPr>
          <p:cNvPr id="95" name="Rectangle 94"/>
          <p:cNvSpPr/>
          <p:nvPr/>
        </p:nvSpPr>
        <p:spPr>
          <a:xfrm>
            <a:off x="9272016" y="5394959"/>
            <a:ext cx="278892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9272016" y="5394959"/>
            <a:ext cx="45720" cy="658368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9436608" y="5449823"/>
            <a:ext cx="2505456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Live notification bell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411480" y="6620256"/>
            <a:ext cx="3657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DA291C"/>
                </a:solidFill>
                <a:latin typeface="Calibri"/>
              </a:rPr>
              <a:t>INTERNAL · CONFIDENTIAL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657600" y="6620256"/>
            <a:ext cx="811987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 i="1">
                <a:solidFill>
                  <a:srgbClr val="78716C"/>
                </a:solidFill>
                <a:latin typeface="Calibri"/>
              </a:rPr>
              <a:t>Alan Davidson  ·  Business Banking Advisor  ·  Self-initiated  ·  Own time  ·  June 2026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11722608" y="6565392"/>
            <a:ext cx="34747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78716C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912" y="137160"/>
            <a:ext cx="109728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C1917"/>
                </a:solidFill>
                <a:latin typeface="Calibri"/>
              </a:rPr>
              <a:t>Full personal/business separation — across every channel.</a:t>
            </a:r>
          </a:p>
        </p:txBody>
      </p:sp>
      <p:sp>
        <p:nvSpPr>
          <p:cNvPr id="5" name="Rectangle 4"/>
          <p:cNvSpPr/>
          <p:nvPr/>
        </p:nvSpPr>
        <p:spPr>
          <a:xfrm>
            <a:off x="438912" y="877824"/>
            <a:ext cx="11311128" cy="14630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38912" y="1024128"/>
            <a:ext cx="2788920" cy="448056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38912" y="1024128"/>
            <a:ext cx="2788920" cy="54864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85216" y="1115568"/>
            <a:ext cx="250545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App Layer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" y="1417320"/>
            <a:ext cx="2505456" cy="274320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1426464"/>
            <a:ext cx="235915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personalLinked = false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" y="1755648"/>
            <a:ext cx="2505456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44403C"/>
                </a:solidFill>
                <a:latin typeface="Calibri"/>
              </a:rPr>
              <a:t>Personal accounts removed from the React render tree — not CSS hide, not display:none. JSX conditional. The data is never sent to the browser.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85216" y="4297680"/>
            <a:ext cx="2505456" cy="731520"/>
          </a:xfrm>
          <a:prstGeom prst="rect">
            <a:avLst/>
          </a:prstGeom>
          <a:solidFill>
            <a:srgbClr val="F5F5F4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4370832"/>
            <a:ext cx="2359152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DA291C"/>
                </a:solidFill>
                <a:latin typeface="Calibri"/>
              </a:rPr>
              <a:t>GDPR Art.5(1)(c)
Data minimisation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383280" y="1024128"/>
            <a:ext cx="2788920" cy="448056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383280" y="1024128"/>
            <a:ext cx="2788920" cy="54864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29584" y="1115568"/>
            <a:ext cx="250545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Call Centre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529584" y="1417320"/>
            <a:ext cx="2505456" cy="27432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02736" y="1426464"/>
            <a:ext cx="235915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unlinkAllChannels trigger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29584" y="1755648"/>
            <a:ext cx="2505456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44403C"/>
                </a:solidFill>
                <a:latin typeface="Calibri"/>
              </a:rPr>
              <a:t>Toggling unlinkAllChannels fires a CRM back-office update (ref REL-2026-0291). Within 2 working days, CLI inbound lookup excludes personal accounts. The agent cannot see what they are not authorised to see.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529584" y="4297680"/>
            <a:ext cx="2505456" cy="731520"/>
          </a:xfrm>
          <a:prstGeom prst="rect">
            <a:avLst/>
          </a:prstGeom>
          <a:solidFill>
            <a:srgbClr val="F5F5F4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02736" y="4370832"/>
            <a:ext cx="2359152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D97706"/>
                </a:solidFill>
                <a:latin typeface="Calibri"/>
              </a:rPr>
              <a:t>CRM back-office
SLA: 2 working days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27648" y="1024128"/>
            <a:ext cx="2788920" cy="448056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327648" y="1024128"/>
            <a:ext cx="2788920" cy="54864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73952" y="1115568"/>
            <a:ext cx="250545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Credit Decisioning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73952" y="1417320"/>
            <a:ext cx="2505456" cy="27432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47104" y="1426464"/>
            <a:ext cx="235915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creditRingfenced = true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73952" y="1755648"/>
            <a:ext cx="2505456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44403C"/>
                </a:solidFill>
                <a:latin typeface="Calibri"/>
              </a:rPr>
              <a:t>Formal written instruction persisted in state. Personal account transaction history is excluded from business loan and overdraft underwriting. Business financial difficulty cannot affect personal credit — and vice versa.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73952" y="4297680"/>
            <a:ext cx="2505456" cy="731520"/>
          </a:xfrm>
          <a:prstGeom prst="rect">
            <a:avLst/>
          </a:prstGeom>
          <a:solidFill>
            <a:srgbClr val="F5F5F4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47104" y="4370832"/>
            <a:ext cx="2359152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059669"/>
                </a:solidFill>
                <a:latin typeface="Calibri"/>
              </a:rPr>
              <a:t>ICO Legitimate
Interests Assessment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272016" y="1024128"/>
            <a:ext cx="2788920" cy="448056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9272016" y="1024128"/>
            <a:ext cx="2788920" cy="54864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418320" y="1115568"/>
            <a:ext cx="250545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Open Banking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418320" y="1417320"/>
            <a:ext cx="2505456" cy="27432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491472" y="1426464"/>
            <a:ext cx="235915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PSD2 consent audit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418320" y="1755648"/>
            <a:ext cx="2505456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44403C"/>
                </a:solidFill>
                <a:latin typeface="Calibri"/>
              </a:rPr>
              <a:t>OBSheet shows every active third-party consent scope with expiry date. Flags where a consent (e.g. Funding Circle) includes personal account data. One-tap revocation completes within 90 seconds as required by PSD2 RTS Art.29.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418320" y="4297680"/>
            <a:ext cx="2505456" cy="731520"/>
          </a:xfrm>
          <a:prstGeom prst="rect">
            <a:avLst/>
          </a:prstGeom>
          <a:solidFill>
            <a:srgbClr val="F5F5F4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491472" y="4370832"/>
            <a:ext cx="2359152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D4ED8"/>
                </a:solidFill>
                <a:latin typeface="Calibri"/>
              </a:rPr>
              <a:t>PSD2 RTS Art.29
90s revocation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11480" y="6620256"/>
            <a:ext cx="3657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DA291C"/>
                </a:solidFill>
                <a:latin typeface="Calibri"/>
              </a:rPr>
              <a:t>INTERNAL · CONFIDENTIAL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657600" y="6620256"/>
            <a:ext cx="811987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 i="1">
                <a:solidFill>
                  <a:srgbClr val="78716C"/>
                </a:solidFill>
                <a:latin typeface="Calibri"/>
              </a:rPr>
              <a:t>Alan Davidson  ·  Business Banking Advisor  ·  Self-initiated  ·  Own time  ·  June 2026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722608" y="6565392"/>
            <a:ext cx="34747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78716C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912" y="137160"/>
            <a:ext cx="109728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Intelligence the dashboard shows before you ask.</a:t>
            </a:r>
          </a:p>
        </p:txBody>
      </p:sp>
      <p:sp>
        <p:nvSpPr>
          <p:cNvPr id="5" name="Rectangle 4"/>
          <p:cNvSpPr/>
          <p:nvPr/>
        </p:nvSpPr>
        <p:spPr>
          <a:xfrm>
            <a:off x="438912" y="877824"/>
            <a:ext cx="11311128" cy="14630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38912" y="1024128"/>
            <a:ext cx="2788920" cy="2423160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38912" y="1024128"/>
            <a:ext cx="2788920" cy="502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85216" y="1097280"/>
            <a:ext cx="250545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Business Health Score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5216" y="1389888"/>
            <a:ext cx="2505456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D6D3D1"/>
                </a:solidFill>
                <a:latin typeface="Calibri"/>
              </a:rPr>
              <a:t>Live 0–100 circular SVG gauge computed from 5 weighted factors: liquidity, tax compliance, cash flow headroom, payroll ratio, mandate health. Each factor is a colour-coded progress bar. Grade A–D. No UK business bank currently offers this.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85216" y="3163824"/>
            <a:ext cx="2505456" cy="219456"/>
          </a:xfrm>
          <a:prstGeom prst="rect">
            <a:avLst/>
          </a:prstGeom>
          <a:solidFill>
            <a:srgbClr val="A00D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3182112"/>
            <a:ext cx="235915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FFFFFF"/>
                </a:solidFill>
                <a:latin typeface="Calibri"/>
              </a:rPr>
              <a:t>5-factor
live gauge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383280" y="1024128"/>
            <a:ext cx="2788920" cy="2423160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383280" y="1024128"/>
            <a:ext cx="2788920" cy="502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29584" y="1097280"/>
            <a:ext cx="250545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13-Week Cash Flow Forecast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29584" y="1389888"/>
            <a:ext cx="2505456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D6D3D1"/>
                </a:solidFill>
                <a:latin typeface="Calibri"/>
              </a:rPr>
              <a:t>SVG bar chart projecting 13 weekly balances from known direct debits, payroll cycles, VAT commitments, and income patterns. Amber warning line at £80k. Actionable nudge when headroom tightens — not a report, a prompt.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529584" y="3163824"/>
            <a:ext cx="2505456" cy="219456"/>
          </a:xfrm>
          <a:prstGeom prst="rect">
            <a:avLst/>
          </a:prstGeom>
          <a:solidFill>
            <a:srgbClr val="A00D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02736" y="3182112"/>
            <a:ext cx="235915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FFFFFF"/>
                </a:solidFill>
                <a:latin typeface="Calibri"/>
              </a:rPr>
              <a:t>forecastWeeks
useMemo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27648" y="1024128"/>
            <a:ext cx="2788920" cy="2423160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327648" y="1024128"/>
            <a:ext cx="2788920" cy="502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73952" y="1097280"/>
            <a:ext cx="250545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Supplier Risk Radar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73952" y="1389888"/>
            <a:ext cx="2505456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D6D3D1"/>
                </a:solidFill>
                <a:latin typeface="Calibri"/>
              </a:rPr>
              <a:t>5 key counterparties shown with Companies House filing status, days overdue, annual spend, and a RAG risk badge. Red = &gt;180 days overdue. You see supply chain risk on the home screen — before the supplier fails.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73952" y="3163824"/>
            <a:ext cx="2505456" cy="219456"/>
          </a:xfrm>
          <a:prstGeom prst="rect">
            <a:avLst/>
          </a:prstGeom>
          <a:solidFill>
            <a:srgbClr val="A00D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47104" y="3182112"/>
            <a:ext cx="235915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FFFFFF"/>
                </a:solidFill>
                <a:latin typeface="Calibri"/>
              </a:rPr>
              <a:t>Companies House
API linked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272016" y="1024128"/>
            <a:ext cx="2788920" cy="2423160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272016" y="1024128"/>
            <a:ext cx="2788920" cy="502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418320" y="1097280"/>
            <a:ext cx="250545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Director Command Centre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418320" y="1389888"/>
            <a:ext cx="2505456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D6D3D1"/>
                </a:solidFill>
                <a:latin typeface="Calibri"/>
              </a:rPr>
              <a:t>Governance grid showing all 4 signatories with KYC status, last-active timestamp, and pending action count. One tap to the approval queue per director. Mandate health is live — you know who is blocking what.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418320" y="3163824"/>
            <a:ext cx="2505456" cy="219456"/>
          </a:xfrm>
          <a:prstGeom prst="rect">
            <a:avLst/>
          </a:prstGeom>
          <a:solidFill>
            <a:srgbClr val="A00D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491472" y="3182112"/>
            <a:ext cx="235915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FFFFFF"/>
                </a:solidFill>
                <a:latin typeface="Calibri"/>
              </a:rPr>
              <a:t>KYC + approval
status per director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755648" y="3547872"/>
            <a:ext cx="2788920" cy="2395728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1755648" y="3547872"/>
            <a:ext cx="2788920" cy="502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901952" y="3621024"/>
            <a:ext cx="250545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Smart Payment Sequencer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901952" y="3913632"/>
            <a:ext cx="2505456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D6D3D1"/>
                </a:solidFill>
                <a:latin typeface="Calibri"/>
              </a:rPr>
              <a:t>30-day balance outlook with all scheduled payments. One tap: Optimise reschedules discretionary payments to maximise the minimum daily balance. Tax and rent are locked and never moved.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901952" y="5650992"/>
            <a:ext cx="2505456" cy="219456"/>
          </a:xfrm>
          <a:prstGeom prst="rect">
            <a:avLst/>
          </a:prstGeom>
          <a:solidFill>
            <a:srgbClr val="A00D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975104" y="5669280"/>
            <a:ext cx="235915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FFFFFF"/>
                </a:solidFill>
                <a:latin typeface="Calibri"/>
              </a:rPr>
              <a:t>Optimise button
reschedules safely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700016" y="3547872"/>
            <a:ext cx="2788920" cy="2395728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700016" y="3547872"/>
            <a:ext cx="2788920" cy="502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846320" y="3621024"/>
            <a:ext cx="250545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Voice Memo → MTD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846320" y="3913632"/>
            <a:ext cx="2505456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D6D3D1"/>
                </a:solidFill>
                <a:latin typeface="Calibri"/>
              </a:rPr>
              <a:t>Tap to record an expense — no typing. 1.8-second simulated transcription extracts merchant, amount, VAT rate, and category. One-tap confirm posts to the MTD ledger. Digital link from voice to HMRC.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846320" y="5650992"/>
            <a:ext cx="2505456" cy="219456"/>
          </a:xfrm>
          <a:prstGeom prst="rect">
            <a:avLst/>
          </a:prstGeom>
          <a:solidFill>
            <a:srgbClr val="A00D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919472" y="5669280"/>
            <a:ext cx="235915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FFFFFF"/>
                </a:solidFill>
                <a:latin typeface="Calibri"/>
              </a:rPr>
              <a:t>Voice → MTD
digital link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644384" y="3547872"/>
            <a:ext cx="2788920" cy="2395728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7644384" y="3547872"/>
            <a:ext cx="2788920" cy="502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790688" y="3621024"/>
            <a:ext cx="250545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Voice ID Biometric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790688" y="3913632"/>
            <a:ext cx="2505456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D6D3D1"/>
                </a:solidFill>
                <a:latin typeface="Calibri"/>
              </a:rPr>
              <a:t>3-phrase enrolment with GDPR Art.9 consent gate. Active across app, phone banking, and video call. Anti-spoofing liveness detection. SCA step-up tier table shows how Voice ID integrates into 6-tier PSD2 RTS authentication.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790688" y="5650992"/>
            <a:ext cx="2505456" cy="219456"/>
          </a:xfrm>
          <a:prstGeom prst="rect">
            <a:avLst/>
          </a:prstGeom>
          <a:solidFill>
            <a:srgbClr val="A00D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863840" y="5669280"/>
            <a:ext cx="235915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FFFFFF"/>
                </a:solidFill>
                <a:latin typeface="Calibri"/>
              </a:rPr>
              <a:t>PSD2 RTS
Art.4(30) · Art.97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11480" y="6620256"/>
            <a:ext cx="3657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FECACA"/>
                </a:solidFill>
                <a:latin typeface="Calibri"/>
              </a:rPr>
              <a:t>INTERNAL · CONFIDENTIAL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657600" y="6620256"/>
            <a:ext cx="811987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 i="1">
                <a:solidFill>
                  <a:srgbClr val="D6D3D1"/>
                </a:solidFill>
                <a:latin typeface="Calibri"/>
              </a:rPr>
              <a:t>Alan Davidson  ·  Business Banking Advisor  ·  Self-initiated  ·  Own time  ·  June 2026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722608" y="6565392"/>
            <a:ext cx="34747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D6D3D1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912" y="137160"/>
            <a:ext cx="109728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C1917"/>
                </a:solidFill>
                <a:latin typeface="Calibri"/>
              </a:rPr>
              <a:t>11 workflows. Every paper form, retired.</a:t>
            </a:r>
          </a:p>
        </p:txBody>
      </p:sp>
      <p:sp>
        <p:nvSpPr>
          <p:cNvPr id="5" name="Rectangle 4"/>
          <p:cNvSpPr/>
          <p:nvPr/>
        </p:nvSpPr>
        <p:spPr>
          <a:xfrm>
            <a:off x="438912" y="877824"/>
            <a:ext cx="11311128" cy="14630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38912" y="1060704"/>
            <a:ext cx="3712463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38912" y="1060704"/>
            <a:ext cx="3712463" cy="502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3503" y="1152144"/>
            <a:ext cx="343814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C1917"/>
                </a:solidFill>
                <a:latin typeface="Calibri"/>
              </a:rPr>
              <a:t>Account Closure</a:t>
            </a:r>
          </a:p>
        </p:txBody>
      </p:sp>
      <p:sp>
        <p:nvSpPr>
          <p:cNvPr id="9" name="Rectangle 8"/>
          <p:cNvSpPr/>
          <p:nvPr/>
        </p:nvSpPr>
        <p:spPr>
          <a:xfrm>
            <a:off x="603503" y="1463039"/>
            <a:ext cx="621792" cy="237744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76656" y="1481328"/>
            <a:ext cx="53035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4 steps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16736" y="1481328"/>
            <a:ext cx="2706623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78716C"/>
                </a:solidFill>
                <a:latin typeface="Calibri"/>
              </a:rPr>
              <a:t>FCA BCOBS 4A cooling-off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03503" y="1755648"/>
            <a:ext cx="3383279" cy="365760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4944" y="1810512"/>
            <a:ext cx="320039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1">
                <a:solidFill>
                  <a:srgbClr val="78716C"/>
                </a:solidFill>
                <a:latin typeface="Calibri"/>
              </a:rPr>
              <a:t>Self-serve · No branch · No call · No paper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15967" y="1060704"/>
            <a:ext cx="3712463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15967" y="1060704"/>
            <a:ext cx="3712463" cy="502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80559" y="1152144"/>
            <a:ext cx="343814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C1917"/>
                </a:solidFill>
                <a:latin typeface="Calibri"/>
              </a:rPr>
              <a:t>Partner Unreachable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480559" y="1463039"/>
            <a:ext cx="621792" cy="237744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53711" y="1481328"/>
            <a:ext cx="53035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4 steps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93791" y="1481328"/>
            <a:ext cx="2706623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78716C"/>
                </a:solidFill>
                <a:latin typeface="Calibri"/>
              </a:rPr>
              <a:t>FCA PS22/9 · 4 regulatory branches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480559" y="1755648"/>
            <a:ext cx="3383279" cy="365760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1999" y="1810512"/>
            <a:ext cx="320039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1">
                <a:solidFill>
                  <a:srgbClr val="78716C"/>
                </a:solidFill>
                <a:latin typeface="Calibri"/>
              </a:rPr>
              <a:t>Self-serve · No branch · No call · No paper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193023" y="1060704"/>
            <a:ext cx="3712463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193023" y="1060704"/>
            <a:ext cx="3712463" cy="502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357615" y="1152144"/>
            <a:ext cx="343814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C1917"/>
                </a:solidFill>
                <a:latin typeface="Calibri"/>
              </a:rPr>
              <a:t>Mandate Changes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357615" y="1463039"/>
            <a:ext cx="621792" cy="237744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430767" y="1481328"/>
            <a:ext cx="53035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6 steps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070847" y="1481328"/>
            <a:ext cx="2706623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78716C"/>
                </a:solidFill>
                <a:latin typeface="Calibri"/>
              </a:rPr>
              <a:t>MLR 2017 / GOV.UK One Login KYC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357615" y="1755648"/>
            <a:ext cx="3383279" cy="365760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449055" y="1810512"/>
            <a:ext cx="320039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1">
                <a:solidFill>
                  <a:srgbClr val="78716C"/>
                </a:solidFill>
                <a:latin typeface="Calibri"/>
              </a:rPr>
              <a:t>Self-serve · No branch · No call · No paper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38912" y="2450591"/>
            <a:ext cx="3712463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38912" y="2450591"/>
            <a:ext cx="3712463" cy="502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03503" y="2542032"/>
            <a:ext cx="343814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C1917"/>
                </a:solidFill>
                <a:latin typeface="Calibri"/>
              </a:rPr>
              <a:t>Bulk Payments / Wages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03503" y="2852927"/>
            <a:ext cx="621792" cy="237744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76656" y="2871215"/>
            <a:ext cx="53035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4 steps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16736" y="2871215"/>
            <a:ext cx="2706623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78716C"/>
                </a:solidFill>
                <a:latin typeface="Calibri"/>
              </a:rPr>
              <a:t>PSR PS20/1 Confirmation of Payee (CoP)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03503" y="3145535"/>
            <a:ext cx="3383279" cy="365760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94944" y="3200399"/>
            <a:ext cx="320039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1">
                <a:solidFill>
                  <a:srgbClr val="78716C"/>
                </a:solidFill>
                <a:latin typeface="Calibri"/>
              </a:rPr>
              <a:t>Self-serve · No branch · No call · No paper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315967" y="2450591"/>
            <a:ext cx="3712463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4315967" y="2450591"/>
            <a:ext cx="3712463" cy="502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480559" y="2542032"/>
            <a:ext cx="343814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C1917"/>
                </a:solidFill>
                <a:latin typeface="Calibri"/>
              </a:rPr>
              <a:t>Business Details Update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480559" y="2852927"/>
            <a:ext cx="621792" cy="237744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553711" y="2871215"/>
            <a:ext cx="53035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3 steps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193791" y="2871215"/>
            <a:ext cx="2706623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78716C"/>
                </a:solidFill>
                <a:latin typeface="Calibri"/>
              </a:rPr>
              <a:t>Companies House sync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480559" y="3145535"/>
            <a:ext cx="3383279" cy="365760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571999" y="3200399"/>
            <a:ext cx="320039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1">
                <a:solidFill>
                  <a:srgbClr val="78716C"/>
                </a:solidFill>
                <a:latin typeface="Calibri"/>
              </a:rPr>
              <a:t>Self-serve · No branch · No call · No paper</a:t>
            </a:r>
          </a:p>
        </p:txBody>
      </p:sp>
      <p:sp>
        <p:nvSpPr>
          <p:cNvPr id="46" name="Rectangle 45"/>
          <p:cNvSpPr/>
          <p:nvPr/>
        </p:nvSpPr>
        <p:spPr>
          <a:xfrm>
            <a:off x="8193023" y="2450591"/>
            <a:ext cx="3712463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8193023" y="2450591"/>
            <a:ext cx="3712463" cy="502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357615" y="2542032"/>
            <a:ext cx="343814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C1917"/>
                </a:solidFill>
                <a:latin typeface="Calibri"/>
              </a:rPr>
              <a:t>Dormant Reactivation</a:t>
            </a:r>
          </a:p>
        </p:txBody>
      </p:sp>
      <p:sp>
        <p:nvSpPr>
          <p:cNvPr id="49" name="Rectangle 48"/>
          <p:cNvSpPr/>
          <p:nvPr/>
        </p:nvSpPr>
        <p:spPr>
          <a:xfrm>
            <a:off x="8357615" y="2852927"/>
            <a:ext cx="621792" cy="237744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430767" y="2871215"/>
            <a:ext cx="53035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1 step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070847" y="2871215"/>
            <a:ext cx="2706623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78716C"/>
                </a:solidFill>
                <a:latin typeface="Calibri"/>
              </a:rPr>
              <a:t>FSCS notice · 12-month threshold</a:t>
            </a:r>
          </a:p>
        </p:txBody>
      </p:sp>
      <p:sp>
        <p:nvSpPr>
          <p:cNvPr id="52" name="Rectangle 51"/>
          <p:cNvSpPr/>
          <p:nvPr/>
        </p:nvSpPr>
        <p:spPr>
          <a:xfrm>
            <a:off x="8357615" y="3145535"/>
            <a:ext cx="3383279" cy="365760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449055" y="3200399"/>
            <a:ext cx="320039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1">
                <a:solidFill>
                  <a:srgbClr val="78716C"/>
                </a:solidFill>
                <a:latin typeface="Calibri"/>
              </a:rPr>
              <a:t>Self-serve · No branch · No call · No paper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38912" y="3840480"/>
            <a:ext cx="3712463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38912" y="3840480"/>
            <a:ext cx="3712463" cy="502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03503" y="3931920"/>
            <a:ext cx="343814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C1917"/>
                </a:solidFill>
                <a:latin typeface="Calibri"/>
              </a:rPr>
              <a:t>MTD VAT Submission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03503" y="4242816"/>
            <a:ext cx="621792" cy="237744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76656" y="4261104"/>
            <a:ext cx="53035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4 steps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316736" y="4261104"/>
            <a:ext cx="2706623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78716C"/>
                </a:solidFill>
                <a:latin typeface="Calibri"/>
              </a:rPr>
              <a:t>HMRC MTD API v1.0 direct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03503" y="4535424"/>
            <a:ext cx="3383279" cy="365760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94944" y="4590288"/>
            <a:ext cx="320039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1">
                <a:solidFill>
                  <a:srgbClr val="78716C"/>
                </a:solidFill>
                <a:latin typeface="Calibri"/>
              </a:rPr>
              <a:t>Self-serve · No branch · No call · No paper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315967" y="3840480"/>
            <a:ext cx="3712463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4315967" y="3840480"/>
            <a:ext cx="3712463" cy="502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480559" y="3931920"/>
            <a:ext cx="343814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C1917"/>
                </a:solidFill>
                <a:latin typeface="Calibri"/>
              </a:rPr>
              <a:t>Personal / Business Unlink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480559" y="4242816"/>
            <a:ext cx="621792" cy="237744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53711" y="4261104"/>
            <a:ext cx="53035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4 steps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193791" y="4261104"/>
            <a:ext cx="2706623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78716C"/>
                </a:solidFill>
                <a:latin typeface="Calibri"/>
              </a:rPr>
              <a:t>GDPR Art.5(1)(c) · CRM update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80559" y="4535424"/>
            <a:ext cx="3383279" cy="365760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71999" y="4590288"/>
            <a:ext cx="320039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1">
                <a:solidFill>
                  <a:srgbClr val="78716C"/>
                </a:solidFill>
                <a:latin typeface="Calibri"/>
              </a:rPr>
              <a:t>Self-serve · No branch · No call · No paper</a:t>
            </a:r>
          </a:p>
        </p:txBody>
      </p:sp>
      <p:sp>
        <p:nvSpPr>
          <p:cNvPr id="70" name="Rectangle 69"/>
          <p:cNvSpPr/>
          <p:nvPr/>
        </p:nvSpPr>
        <p:spPr>
          <a:xfrm>
            <a:off x="8193023" y="3840480"/>
            <a:ext cx="3712463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8193023" y="3840480"/>
            <a:ext cx="3712463" cy="502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8357615" y="3931920"/>
            <a:ext cx="343814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C1917"/>
                </a:solidFill>
                <a:latin typeface="Calibri"/>
              </a:rPr>
              <a:t>Credit Ring-Fence</a:t>
            </a:r>
          </a:p>
        </p:txBody>
      </p:sp>
      <p:sp>
        <p:nvSpPr>
          <p:cNvPr id="73" name="Rectangle 72"/>
          <p:cNvSpPr/>
          <p:nvPr/>
        </p:nvSpPr>
        <p:spPr>
          <a:xfrm>
            <a:off x="8357615" y="4242816"/>
            <a:ext cx="621792" cy="237744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8430767" y="4261104"/>
            <a:ext cx="53035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2 steps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070847" y="4261104"/>
            <a:ext cx="2706623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78716C"/>
                </a:solidFill>
                <a:latin typeface="Calibri"/>
              </a:rPr>
              <a:t>ICO LIA · purpose limitation</a:t>
            </a:r>
          </a:p>
        </p:txBody>
      </p:sp>
      <p:sp>
        <p:nvSpPr>
          <p:cNvPr id="76" name="Rectangle 75"/>
          <p:cNvSpPr/>
          <p:nvPr/>
        </p:nvSpPr>
        <p:spPr>
          <a:xfrm>
            <a:off x="8357615" y="4535424"/>
            <a:ext cx="3383279" cy="365760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8449055" y="4590288"/>
            <a:ext cx="320039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1">
                <a:solidFill>
                  <a:srgbClr val="78716C"/>
                </a:solidFill>
                <a:latin typeface="Calibri"/>
              </a:rPr>
              <a:t>Self-serve · No branch · No call · No paper</a:t>
            </a:r>
          </a:p>
        </p:txBody>
      </p:sp>
      <p:sp>
        <p:nvSpPr>
          <p:cNvPr id="78" name="Rectangle 77"/>
          <p:cNvSpPr/>
          <p:nvPr/>
        </p:nvSpPr>
        <p:spPr>
          <a:xfrm>
            <a:off x="438912" y="5230368"/>
            <a:ext cx="3712463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438912" y="5230368"/>
            <a:ext cx="3712463" cy="502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603503" y="5321808"/>
            <a:ext cx="343814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C1917"/>
                </a:solidFill>
                <a:latin typeface="Calibri"/>
              </a:rPr>
              <a:t>Pre-Approved Lending</a:t>
            </a:r>
          </a:p>
        </p:txBody>
      </p:sp>
      <p:sp>
        <p:nvSpPr>
          <p:cNvPr id="81" name="Rectangle 80"/>
          <p:cNvSpPr/>
          <p:nvPr/>
        </p:nvSpPr>
        <p:spPr>
          <a:xfrm>
            <a:off x="603503" y="5632704"/>
            <a:ext cx="621792" cy="237744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676656" y="5650992"/>
            <a:ext cx="53035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3 steps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316736" y="5650992"/>
            <a:ext cx="2706623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78716C"/>
                </a:solidFill>
                <a:latin typeface="Calibri"/>
              </a:rPr>
              <a:t>CCA 1974 regulated · cooling-off</a:t>
            </a:r>
          </a:p>
        </p:txBody>
      </p:sp>
      <p:sp>
        <p:nvSpPr>
          <p:cNvPr id="84" name="Rectangle 83"/>
          <p:cNvSpPr/>
          <p:nvPr/>
        </p:nvSpPr>
        <p:spPr>
          <a:xfrm>
            <a:off x="603503" y="5925312"/>
            <a:ext cx="3383279" cy="365760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694944" y="5980176"/>
            <a:ext cx="320039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1">
                <a:solidFill>
                  <a:srgbClr val="78716C"/>
                </a:solidFill>
                <a:latin typeface="Calibri"/>
              </a:rPr>
              <a:t>Self-serve · No branch · No call · No paper</a:t>
            </a:r>
          </a:p>
        </p:txBody>
      </p:sp>
      <p:sp>
        <p:nvSpPr>
          <p:cNvPr id="86" name="Rectangle 85"/>
          <p:cNvSpPr/>
          <p:nvPr/>
        </p:nvSpPr>
        <p:spPr>
          <a:xfrm>
            <a:off x="4315967" y="5230368"/>
            <a:ext cx="3712463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4315967" y="5230368"/>
            <a:ext cx="3712463" cy="502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4480559" y="5321808"/>
            <a:ext cx="343814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C1917"/>
                </a:solidFill>
                <a:latin typeface="Calibri"/>
              </a:rPr>
              <a:t>International FX Payment</a:t>
            </a:r>
          </a:p>
        </p:txBody>
      </p:sp>
      <p:sp>
        <p:nvSpPr>
          <p:cNvPr id="89" name="Rectangle 88"/>
          <p:cNvSpPr/>
          <p:nvPr/>
        </p:nvSpPr>
        <p:spPr>
          <a:xfrm>
            <a:off x="4480559" y="5632704"/>
            <a:ext cx="621792" cy="237744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4553711" y="5650992"/>
            <a:ext cx="53035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3 steps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5193791" y="5650992"/>
            <a:ext cx="2706623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78716C"/>
                </a:solidFill>
                <a:latin typeface="Calibri"/>
              </a:rPr>
              <a:t>MLR 2017 screening · SWIFT ref</a:t>
            </a:r>
          </a:p>
        </p:txBody>
      </p:sp>
      <p:sp>
        <p:nvSpPr>
          <p:cNvPr id="92" name="Rectangle 91"/>
          <p:cNvSpPr/>
          <p:nvPr/>
        </p:nvSpPr>
        <p:spPr>
          <a:xfrm>
            <a:off x="4480559" y="5925312"/>
            <a:ext cx="3383279" cy="365760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4571999" y="5980176"/>
            <a:ext cx="320039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1">
                <a:solidFill>
                  <a:srgbClr val="78716C"/>
                </a:solidFill>
                <a:latin typeface="Calibri"/>
              </a:rPr>
              <a:t>Self-serve · No branch · No call · No paper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411480" y="6620256"/>
            <a:ext cx="3657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DA291C"/>
                </a:solidFill>
                <a:latin typeface="Calibri"/>
              </a:rPr>
              <a:t>INTERNAL · CONFIDENTIAL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3657600" y="6620256"/>
            <a:ext cx="811987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 i="1">
                <a:solidFill>
                  <a:srgbClr val="78716C"/>
                </a:solidFill>
                <a:latin typeface="Calibri"/>
              </a:rPr>
              <a:t>Alan Davidson  ·  Business Banking Advisor  ·  Self-initiated  ·  Own time  ·  June 2026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1722608" y="6565392"/>
            <a:ext cx="34747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78716C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912" y="137160"/>
            <a:ext cx="109728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C1917"/>
                </a:solidFill>
                <a:latin typeface="Calibri"/>
              </a:rPr>
              <a:t>Making Tax Digital — from receipt scan to HMRC in 60 seconds.</a:t>
            </a:r>
          </a:p>
        </p:txBody>
      </p:sp>
      <p:sp>
        <p:nvSpPr>
          <p:cNvPr id="5" name="Rectangle 4"/>
          <p:cNvSpPr/>
          <p:nvPr/>
        </p:nvSpPr>
        <p:spPr>
          <a:xfrm>
            <a:off x="438912" y="877824"/>
            <a:ext cx="11311128" cy="14630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227832" y="2084831"/>
            <a:ext cx="155448" cy="7315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38912" y="1024128"/>
            <a:ext cx="2788920" cy="329184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38912" y="1024128"/>
            <a:ext cx="2788920" cy="54864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3" y="1097280"/>
            <a:ext cx="2468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DA291C"/>
                </a:solidFill>
                <a:latin typeface="Calibri"/>
              </a:rPr>
              <a:t>01  CAPTURE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3503" y="1408176"/>
            <a:ext cx="2468880" cy="2697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44403C"/>
                </a:solidFill>
                <a:latin typeface="Calibri"/>
              </a:rPr>
              <a:t>Transactions auto-categorised from bank feed. Voice memo records expenses by speaking. Receipt scan uses OCR to extract merchant, amount, VAT rate, and match to open transactions — digital link intact.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72200" y="2084831"/>
            <a:ext cx="155448" cy="7315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383280" y="1024128"/>
            <a:ext cx="2788920" cy="329184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383280" y="1024128"/>
            <a:ext cx="2788920" cy="54864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47872" y="1097280"/>
            <a:ext cx="2468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DA291C"/>
                </a:solidFill>
                <a:latin typeface="Calibri"/>
              </a:rPr>
              <a:t>02  CATEGORISE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47872" y="1408176"/>
            <a:ext cx="2468880" cy="2697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44403C"/>
                </a:solidFill>
                <a:latin typeface="Calibri"/>
              </a:rPr>
              <a:t>Every transaction reviewed against HMRC categories: Standard-rated, Zero-rated, Exempt, Outside scope. Confidence score shown per item. Low-confidence items flagged for manual review. VAT100 boxes auto-calculated.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116567" y="2084831"/>
            <a:ext cx="155448" cy="7315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327648" y="1024128"/>
            <a:ext cx="2788920" cy="329184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327648" y="1024128"/>
            <a:ext cx="2788920" cy="54864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92240" y="1097280"/>
            <a:ext cx="2468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DA291C"/>
                </a:solidFill>
                <a:latin typeface="Calibri"/>
              </a:rPr>
              <a:t>03  DECLARE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1408176"/>
            <a:ext cx="2468880" cy="2697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44403C"/>
                </a:solidFill>
                <a:latin typeface="Calibri"/>
              </a:rPr>
              <a:t>Four-step quarterly submission wizard. VAT100 form view shows all 9 boxes with running totals. One-tap declaration with legal acknowledgement. ITSA readiness indicator shows quarters ahead of schedule.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272016" y="1024128"/>
            <a:ext cx="2788920" cy="329184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72016" y="1024128"/>
            <a:ext cx="2788920" cy="54864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436608" y="1097280"/>
            <a:ext cx="2468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DA291C"/>
                </a:solidFill>
                <a:latin typeface="Calibri"/>
              </a:rPr>
              <a:t>04  SUBMIT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436608" y="1408176"/>
            <a:ext cx="2468880" cy="2697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44403C"/>
                </a:solidFill>
                <a:latin typeface="Calibri"/>
              </a:rPr>
              <a:t>Authenticated HMRC MTD API v1.0 call with fraud header compliance (Gov-Client-Device-ID). Receipt: formBundleNumber logged to 7-year immutable audit trail. No manual data re-entry — digital links throughout.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38912" y="4480560"/>
            <a:ext cx="2788920" cy="91440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85216" y="4535424"/>
            <a:ext cx="2505456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6 years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85216" y="4956048"/>
            <a:ext cx="2505456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D6D3D1"/>
                </a:solidFill>
                <a:latin typeface="Calibri"/>
              </a:rPr>
              <a:t>Digital record retention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383280" y="4480560"/>
            <a:ext cx="2788920" cy="91440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529584" y="4535424"/>
            <a:ext cx="2505456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9 boxes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529584" y="4956048"/>
            <a:ext cx="2505456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D6D3D1"/>
                </a:solidFill>
                <a:latin typeface="Calibri"/>
              </a:rPr>
              <a:t>VAT100 auto-calculated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327648" y="4480560"/>
            <a:ext cx="2788920" cy="91440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73952" y="4535424"/>
            <a:ext cx="2505456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&lt; 60s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73952" y="4956048"/>
            <a:ext cx="2505456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D6D3D1"/>
                </a:solidFill>
                <a:latin typeface="Calibri"/>
              </a:rPr>
              <a:t>Receipt to HMRC submission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272016" y="4480560"/>
            <a:ext cx="2788920" cy="91440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418320" y="4535424"/>
            <a:ext cx="2505456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Apr 2026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418320" y="4956048"/>
            <a:ext cx="2505456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D6D3D1"/>
                </a:solidFill>
                <a:latin typeface="Calibri"/>
              </a:rPr>
              <a:t>ITSA mandatory threshold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11480" y="6620256"/>
            <a:ext cx="3657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DA291C"/>
                </a:solidFill>
                <a:latin typeface="Calibri"/>
              </a:rPr>
              <a:t>INTERNAL · CONFIDENTIAL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657600" y="6620256"/>
            <a:ext cx="811987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 i="1">
                <a:solidFill>
                  <a:srgbClr val="78716C"/>
                </a:solidFill>
                <a:latin typeface="Calibri"/>
              </a:rPr>
              <a:t>Alan Davidson  ·  Business Banking Advisor  ·  Self-initiated  ·  Own time  ·  June 2026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722608" y="6565392"/>
            <a:ext cx="34747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78716C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912" y="137160"/>
            <a:ext cx="109728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Built to the regulation — not around it.</a:t>
            </a:r>
          </a:p>
        </p:txBody>
      </p:sp>
      <p:sp>
        <p:nvSpPr>
          <p:cNvPr id="5" name="Rectangle 4"/>
          <p:cNvSpPr/>
          <p:nvPr/>
        </p:nvSpPr>
        <p:spPr>
          <a:xfrm>
            <a:off x="438912" y="877824"/>
            <a:ext cx="11311128" cy="14630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38912" y="1024128"/>
            <a:ext cx="2788920" cy="2395728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38912" y="1024128"/>
            <a:ext cx="2788920" cy="502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38912" y="1115568"/>
            <a:ext cx="731520" cy="310896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30352" y="1115568"/>
            <a:ext cx="65836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FFFFFF"/>
                </a:solidFill>
                <a:latin typeface="Calibri"/>
              </a:rPr>
              <a:t>FCA BCOBS 4A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1152144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COOLING-OFF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" y="1481328"/>
            <a:ext cx="2505456" cy="18470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D6D3D1"/>
                </a:solidFill>
                <a:latin typeface="Calibri"/>
              </a:rPr>
              <a:t>24 working-hour hold on all Any-1 account actions. Bank-holiday and weekend aware. Customer can cancel at zero cost at any time. Live progress bar refreshes every 30 seconds. Execution blocked server-side until hold expires.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383280" y="1024128"/>
            <a:ext cx="2788920" cy="2395728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383280" y="1024128"/>
            <a:ext cx="2788920" cy="5029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383280" y="1115568"/>
            <a:ext cx="731520" cy="31089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74720" y="1115568"/>
            <a:ext cx="65836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FFFFFF"/>
                </a:solidFill>
                <a:latin typeface="Calibri"/>
              </a:rPr>
              <a:t>MLR 2017 / JMLSG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24528" y="1152144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KYC / KYB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29584" y="1481328"/>
            <a:ext cx="2505456" cy="18470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D6D3D1"/>
                </a:solidFill>
                <a:latin typeface="Calibri"/>
              </a:rPr>
              <a:t>GOV.UK One Login: List 1 biometric photo ID. Address proof &lt; 3 months: List 2. Trading address: List 3. Sanctions country: automatic RM escalation and Enhanced Due Diligence. PEP: MLR s.35 enhanced path. Visitor visa rejected.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27648" y="1024128"/>
            <a:ext cx="2788920" cy="2395728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327648" y="1024128"/>
            <a:ext cx="2788920" cy="50292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327648" y="1115568"/>
            <a:ext cx="731520" cy="310896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19088" y="1115568"/>
            <a:ext cx="65836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FFFFFF"/>
                </a:solidFill>
                <a:latin typeface="Calibri"/>
              </a:rPr>
              <a:t>FCA SYSC 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68896" y="1152144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AUDIT TRAIL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73952" y="1481328"/>
            <a:ext cx="2505456" cy="18470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D6D3D1"/>
                </a:solidFill>
                <a:latin typeface="Calibri"/>
              </a:rPr>
              <a:t>7-year immutable event log. Every action: actor, timestamp, action type, account reference. Append-only — no mutation post-commit. Exportable PDF/CSV per period. FCA on-demand production capability built in.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272016" y="1024128"/>
            <a:ext cx="2788920" cy="2395728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272016" y="1024128"/>
            <a:ext cx="2788920" cy="50292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272016" y="1115568"/>
            <a:ext cx="731520" cy="31089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363456" y="1115568"/>
            <a:ext cx="65836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FFFFFF"/>
                </a:solidFill>
                <a:latin typeface="Calibri"/>
              </a:rPr>
              <a:t>HMRC MTD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113264" y="1152144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MAKING TAX DIGITAL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18320" y="1481328"/>
            <a:ext cx="2505456" cy="18470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D6D3D1"/>
                </a:solidFill>
                <a:latin typeface="Calibri"/>
              </a:rPr>
              <a:t>VAT mandatory for all VAT-registered businesses. ITSA mandatory April 2026 for SMEs &gt;£50k. Digital links throughout: bank → categorise → HMRC — no copy-paste break in the chain. 6-year digital retention minimum.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38912" y="3602736"/>
            <a:ext cx="2788920" cy="2395728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38912" y="3602736"/>
            <a:ext cx="2788920" cy="5029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38912" y="3694176"/>
            <a:ext cx="731520" cy="310896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30352" y="3694176"/>
            <a:ext cx="65836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FFFFFF"/>
                </a:solidFill>
                <a:latin typeface="Calibri"/>
              </a:rPr>
              <a:t>PSD2 RTS Art.97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280160" y="3730752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STRONG AUTH (SCA)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85216" y="4059935"/>
            <a:ext cx="2505456" cy="18470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D6D3D1"/>
                </a:solidFill>
                <a:latin typeface="Calibri"/>
              </a:rPr>
              <a:t>6-tier dynamic authentication matrix: device passkey → fingerprint biometric → Voice ID → Voice ID + co-signature → Voice ID + cooling-off → all three combined. Contextual step-up based on transaction risk.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383280" y="3602736"/>
            <a:ext cx="2788920" cy="2395728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383280" y="3602736"/>
            <a:ext cx="2788920" cy="50292"/>
          </a:xfrm>
          <a:prstGeom prst="rect">
            <a:avLst/>
          </a:prstGeom>
          <a:solidFill>
            <a:srgbClr val="DB27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3383280" y="3694176"/>
            <a:ext cx="731520" cy="310896"/>
          </a:xfrm>
          <a:prstGeom prst="rect">
            <a:avLst/>
          </a:prstGeom>
          <a:solidFill>
            <a:srgbClr val="DB27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474720" y="3694176"/>
            <a:ext cx="65836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FFFFFF"/>
                </a:solidFill>
                <a:latin typeface="Calibri"/>
              </a:rPr>
              <a:t>GDPR Art.5(1)(c)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224528" y="3730752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DATA MINIMISATION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29584" y="4059935"/>
            <a:ext cx="2505456" cy="18470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D6D3D1"/>
                </a:solidFill>
                <a:latin typeface="Calibri"/>
              </a:rPr>
              <a:t>Personal account data excluded from business decisioning at three independent layers: app render tree, call-centre CLI lookup, and credit underwriting engine. Each layer independently enforceable and auditable.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327648" y="3602736"/>
            <a:ext cx="2788920" cy="2395728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327648" y="3602736"/>
            <a:ext cx="2788920" cy="50292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327648" y="3694176"/>
            <a:ext cx="731520" cy="310896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419088" y="3694176"/>
            <a:ext cx="65836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FFFFFF"/>
                </a:solidFill>
                <a:latin typeface="Calibri"/>
              </a:rPr>
              <a:t>FCA PS22/9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168896" y="3730752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CONSUMER DUTY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73952" y="4059935"/>
            <a:ext cx="2505456" cy="18470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D6D3D1"/>
                </a:solidFill>
                <a:latin typeface="Calibri"/>
              </a:rPr>
              <a:t>Partner unreachable: 4-branch documented escalation. Direct Debit Guarantee surfaced on every DD transaction with one-tap cancel. Cooling-off rights in plain English on every signing screen. No dark patterns.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272016" y="3602736"/>
            <a:ext cx="2788920" cy="2395728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9272016" y="3602736"/>
            <a:ext cx="2788920" cy="50292"/>
          </a:xfrm>
          <a:prstGeom prst="rect">
            <a:avLst/>
          </a:prstGeom>
          <a:solidFill>
            <a:srgbClr val="FECA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9272016" y="3694176"/>
            <a:ext cx="731520" cy="310896"/>
          </a:xfrm>
          <a:prstGeom prst="rect">
            <a:avLst/>
          </a:prstGeom>
          <a:solidFill>
            <a:srgbClr val="FECA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9363456" y="3694176"/>
            <a:ext cx="65836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FFFFFF"/>
                </a:solidFill>
                <a:latin typeface="Calibri"/>
              </a:rPr>
              <a:t>FCA SYSC 10A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113264" y="3730752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SESSION SECURITY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418320" y="4059935"/>
            <a:ext cx="2505456" cy="18470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D6D3D1"/>
                </a:solidFill>
                <a:latin typeface="Calibri"/>
              </a:rPr>
              <a:t>New device/location login triggers amber session anomaly banner. Two resolution paths: 'That was me' or 'Review sessions'. All anomalies logged to audit trail with device and location metadata.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11480" y="6620256"/>
            <a:ext cx="3657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FECACA"/>
                </a:solidFill>
                <a:latin typeface="Calibri"/>
              </a:rPr>
              <a:t>INTERNAL · CONFIDENTIAL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657600" y="6620256"/>
            <a:ext cx="811987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 i="1">
                <a:solidFill>
                  <a:srgbClr val="D6D3D1"/>
                </a:solidFill>
                <a:latin typeface="Calibri"/>
              </a:rPr>
              <a:t>Alan Davidson  ·  Business Banking Advisor  ·  Self-initiated  ·  Own time  ·  June 2026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722608" y="6565392"/>
            <a:ext cx="34747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D6D3D1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912" y="137160"/>
            <a:ext cx="109728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C1917"/>
                </a:solidFill>
                <a:latin typeface="Calibri"/>
              </a:rPr>
              <a:t>Financial intelligence — not just account balances.</a:t>
            </a:r>
          </a:p>
        </p:txBody>
      </p:sp>
      <p:sp>
        <p:nvSpPr>
          <p:cNvPr id="5" name="Rectangle 4"/>
          <p:cNvSpPr/>
          <p:nvPr/>
        </p:nvSpPr>
        <p:spPr>
          <a:xfrm>
            <a:off x="438912" y="877824"/>
            <a:ext cx="11311128" cy="14630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38912" y="1024128"/>
            <a:ext cx="3730752" cy="539496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38912" y="1024128"/>
            <a:ext cx="3730752" cy="54864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1792" y="1115568"/>
            <a:ext cx="336499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C1917"/>
                </a:solidFill>
                <a:latin typeface="Calibri"/>
              </a:rPr>
              <a:t>Pre-Approved Lending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" y="1481328"/>
            <a:ext cx="3364992" cy="64008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13232" y="1517904"/>
            <a:ext cx="3182112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  <a:latin typeface="Calibri"/>
              </a:rPr>
              <a:t>£45,000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" y="2176272"/>
            <a:ext cx="3364992" cy="14630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1792" y="2286000"/>
            <a:ext cx="3364992" cy="3950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4403C"/>
                </a:solidFill>
                <a:latin typeface="Calibri"/>
              </a:rPr>
              <a:t>Hero card on the home screen — proactive, not application-led. Based on 6-month transaction history, reserve balance, and payment record. 12 / 24 / 36-month terms with live monthly repayment calculator. CCA 1974 regulated. Cooling-off rights displayed. lendingCompleted persists after draw-down.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52544" y="1024128"/>
            <a:ext cx="3730752" cy="539496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52544" y="1024128"/>
            <a:ext cx="3730752" cy="54864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35424" y="1115568"/>
            <a:ext cx="336499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C1917"/>
                </a:solidFill>
                <a:latin typeface="Calibri"/>
              </a:rPr>
              <a:t>Financial Statements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35424" y="1481328"/>
            <a:ext cx="3364992" cy="64008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26864" y="1517904"/>
            <a:ext cx="3182112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  <a:latin typeface="Calibri"/>
              </a:rPr>
              <a:t>6 months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35424" y="2176272"/>
            <a:ext cx="3364992" cy="14630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35424" y="2286000"/>
            <a:ext cx="3364992" cy="3950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4403C"/>
                </a:solidFill>
                <a:latin typeface="Calibri"/>
              </a:rPr>
              <a:t>Chronological and category views of every transaction. Full-text counterparty search with instant results. Counterparty detail sheet: spend breakdown, transaction history, method split. PDF / CSV / Excel export. Payment method filter: all, bank transfer, direct debit, standing order, card. Outgoing / incoming colour-coded with tabular-num amounts.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66176" y="1024128"/>
            <a:ext cx="3730752" cy="539496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266176" y="1024128"/>
            <a:ext cx="3730752" cy="54864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49056" y="1115568"/>
            <a:ext cx="336499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C1917"/>
                </a:solidFill>
                <a:latin typeface="Calibri"/>
              </a:rPr>
              <a:t>International FX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449056" y="1481328"/>
            <a:ext cx="3364992" cy="64008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540496" y="1517904"/>
            <a:ext cx="3182112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  <a:latin typeface="Calibri"/>
              </a:rPr>
              <a:t>5 currencies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449056" y="2176272"/>
            <a:ext cx="3364992" cy="14630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449056" y="2286000"/>
            <a:ext cx="3364992" cy="3950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4403C"/>
                </a:solidFill>
                <a:latin typeface="Calibri"/>
              </a:rPr>
              <a:t>EUR, USD, CHF, AUD, CAD. Indicative live rates with FCA fee disclosure (Consumer Rights Act 2015). MLR 2017 screening triggered automatically on amounts ≥ £50k. SWIFT reference generated and logged to audit trail. 3-step flow: amount + currency + IBAN → rate + disclosure → biometric confirm.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1480" y="6620256"/>
            <a:ext cx="3657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DA291C"/>
                </a:solidFill>
                <a:latin typeface="Calibri"/>
              </a:rPr>
              <a:t>INTERNAL · CONFIDENTIAL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0" y="6620256"/>
            <a:ext cx="811987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 i="1">
                <a:solidFill>
                  <a:srgbClr val="78716C"/>
                </a:solidFill>
                <a:latin typeface="Calibri"/>
              </a:rPr>
              <a:t>Alan Davidson  ·  Business Banking Advisor  ·  Self-initiated  ·  Own time  ·  June 2026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722608" y="6565392"/>
            <a:ext cx="34747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78716C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912" y="137160"/>
            <a:ext cx="109728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C1917"/>
                </a:solidFill>
                <a:latin typeface="Calibri"/>
              </a:rPr>
              <a:t>Today: a live prototype. Next: a production system.</a:t>
            </a:r>
          </a:p>
        </p:txBody>
      </p:sp>
      <p:sp>
        <p:nvSpPr>
          <p:cNvPr id="5" name="Rectangle 4"/>
          <p:cNvSpPr/>
          <p:nvPr/>
        </p:nvSpPr>
        <p:spPr>
          <a:xfrm>
            <a:off x="438912" y="877824"/>
            <a:ext cx="11311128" cy="14630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38912" y="1024128"/>
            <a:ext cx="5394960" cy="539496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38912" y="1024128"/>
            <a:ext cx="5394960" cy="54864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3504" y="1115568"/>
            <a:ext cx="5029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78716C"/>
                </a:solidFill>
                <a:latin typeface="Calibri"/>
              </a:rPr>
              <a:t>TODAY — PROTOTYPE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371600"/>
            <a:ext cx="50292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DA291C"/>
                </a:solidFill>
                <a:latin typeface="Calibri"/>
              </a:rPr>
              <a:t>Live at github.io/santander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3504" y="1682496"/>
            <a:ext cx="5047488" cy="566928"/>
          </a:xfrm>
          <a:prstGeom prst="rect">
            <a:avLst/>
          </a:prstGeom>
          <a:solidFill>
            <a:srgbClr val="F5F5F4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9808" y="1737360"/>
            <a:ext cx="2011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C1917"/>
                </a:solidFill>
                <a:latin typeface="Calibri"/>
              </a:rPr>
              <a:t>React 18 + App.jsx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98064" y="1737360"/>
            <a:ext cx="27432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78716C"/>
                </a:solidFill>
                <a:latin typeface="Calibri"/>
              </a:rPr>
              <a:t>5,300 lines · single component · all state at top level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3504" y="2276856"/>
            <a:ext cx="5047488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49808" y="2331720"/>
            <a:ext cx="2011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C1917"/>
                </a:solidFill>
                <a:latin typeface="Calibri"/>
              </a:rPr>
              <a:t>Tailwind CSS + inline CSS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98064" y="2331720"/>
            <a:ext cx="27432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78716C"/>
                </a:solidFill>
                <a:latin typeface="Calibri"/>
              </a:rPr>
              <a:t>Brand tokens · glass effects · responsive mobile/desktop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03504" y="2871216"/>
            <a:ext cx="5047488" cy="566928"/>
          </a:xfrm>
          <a:prstGeom prst="rect">
            <a:avLst/>
          </a:prstGeom>
          <a:solidFill>
            <a:srgbClr val="F5F5F4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9808" y="2926080"/>
            <a:ext cx="2011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C1917"/>
                </a:solidFill>
                <a:latin typeface="Calibri"/>
              </a:rPr>
              <a:t>Vite + singlefile plugin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98064" y="2926080"/>
            <a:ext cx="27432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78716C"/>
                </a:solidFill>
                <a:latin typeface="Calibri"/>
              </a:rPr>
              <a:t>832KB self-contained HTML · no CDN · runs offline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03504" y="3465576"/>
            <a:ext cx="5047488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9808" y="3520440"/>
            <a:ext cx="2011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C1917"/>
                </a:solidFill>
                <a:latin typeface="Calibri"/>
              </a:rPr>
              <a:t>GitHub Pages (gh-pages)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98064" y="3520440"/>
            <a:ext cx="27432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78716C"/>
                </a:solidFill>
                <a:latin typeface="Calibri"/>
              </a:rPr>
              <a:t>Deployed · imscots-ui.github.io/santander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03504" y="4059936"/>
            <a:ext cx="5047488" cy="566928"/>
          </a:xfrm>
          <a:prstGeom prst="rect">
            <a:avLst/>
          </a:prstGeom>
          <a:solidFill>
            <a:srgbClr val="F5F5F4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49808" y="4114800"/>
            <a:ext cx="2011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C1917"/>
                </a:solidFill>
                <a:latin typeface="Calibri"/>
              </a:rPr>
              <a:t>No backend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798064" y="4114800"/>
            <a:ext cx="27432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78716C"/>
                </a:solidFill>
                <a:latin typeface="Calibri"/>
              </a:rPr>
              <a:t>All data simulated · validates design not engineering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03504" y="4654296"/>
            <a:ext cx="5047488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49808" y="4709160"/>
            <a:ext cx="2011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C1917"/>
                </a:solidFill>
                <a:latin typeface="Calibri"/>
              </a:rPr>
              <a:t>21 features built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798064" y="4709160"/>
            <a:ext cx="27432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78716C"/>
                </a:solidFill>
                <a:latin typeface="Calibri"/>
              </a:rPr>
              <a:t>Including Voice ID, MTD, FX, lending, forecasting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108192" y="1024128"/>
            <a:ext cx="5641848" cy="539496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08192" y="1024128"/>
            <a:ext cx="5641848" cy="54864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272784" y="1115568"/>
            <a:ext cx="5303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78716C"/>
                </a:solidFill>
                <a:latin typeface="Calibri"/>
              </a:rPr>
              <a:t>NEXT — PRODUCTION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72784" y="1371600"/>
            <a:ext cx="5303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78716C"/>
                </a:solidFill>
                <a:latin typeface="Calibri"/>
              </a:rPr>
              <a:t>18 months  ·  4 phases  ·  approx 32 FTE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72784" y="1700784"/>
            <a:ext cx="5303520" cy="969264"/>
          </a:xfrm>
          <a:prstGeom prst="rect">
            <a:avLst/>
          </a:prstGeom>
          <a:solidFill>
            <a:srgbClr val="ECFDF5"/>
          </a:solidFill>
          <a:ln w="9525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72784" y="1700784"/>
            <a:ext cx="5303520" cy="50292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82512" y="1764792"/>
            <a:ext cx="5084064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C1917"/>
                </a:solidFill>
                <a:latin typeface="Calibri"/>
              </a:rPr>
              <a:t>CLIENT TIER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82512" y="2011680"/>
            <a:ext cx="5084064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44403C"/>
                </a:solidFill>
                <a:latin typeface="Calibri"/>
              </a:rPr>
              <a:t>React 18 PWA · mobile + desktop · Add to Home Screen · iOS / Android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272784" y="2779776"/>
            <a:ext cx="5303520" cy="969264"/>
          </a:xfrm>
          <a:prstGeom prst="rect">
            <a:avLst/>
          </a:prstGeom>
          <a:solidFill>
            <a:srgbClr val="EFF6FF"/>
          </a:solidFill>
          <a:ln w="9525">
            <a:solidFill>
              <a:srgbClr val="1D4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272784" y="2779776"/>
            <a:ext cx="5303520" cy="50292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382512" y="2843784"/>
            <a:ext cx="5084064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C1917"/>
                </a:solidFill>
                <a:latin typeface="Calibri"/>
              </a:rPr>
              <a:t>API TIER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82512" y="3090672"/>
            <a:ext cx="5084064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44403C"/>
                </a:solidFill>
                <a:latin typeface="Calibri"/>
              </a:rPr>
              <a:t>FastAPI / AWS API Gateway · JWT RS256 · OAuth2 PKCE · rate limiting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272784" y="3858768"/>
            <a:ext cx="5303520" cy="969264"/>
          </a:xfrm>
          <a:prstGeom prst="rect">
            <a:avLst/>
          </a:prstGeom>
          <a:solidFill>
            <a:srgbClr val="D97706"/>
          </a:solidFill>
          <a:ln w="9525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272784" y="3858768"/>
            <a:ext cx="5303520" cy="5029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382512" y="3922776"/>
            <a:ext cx="5084064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C1917"/>
                </a:solidFill>
                <a:latin typeface="Calibri"/>
              </a:rPr>
              <a:t>DATA TIER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82512" y="4169664"/>
            <a:ext cx="5084064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44403C"/>
                </a:solidFill>
                <a:latin typeface="Calibri"/>
              </a:rPr>
              <a:t>PostgreSQL · Audit EventBridge → S3 Glacier · Redis · HMRC records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272784" y="4937760"/>
            <a:ext cx="5303520" cy="969264"/>
          </a:xfrm>
          <a:prstGeom prst="rect">
            <a:avLst/>
          </a:prstGeom>
          <a:solidFill>
            <a:srgbClr val="FDF2F8"/>
          </a:solidFill>
          <a:ln w="9525">
            <a:solidFill>
              <a:srgbClr val="DA29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6272784" y="4937760"/>
            <a:ext cx="5303520" cy="502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382512" y="5001768"/>
            <a:ext cx="5084064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C1917"/>
                </a:solidFill>
                <a:latin typeface="Calibri"/>
              </a:rPr>
              <a:t>INTEGRATIONS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382512" y="5248656"/>
            <a:ext cx="5084064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44403C"/>
                </a:solidFill>
                <a:latin typeface="Calibri"/>
              </a:rPr>
              <a:t>GOV.UK One Login · HMRC MTD API · Vocalink CoP · Companies House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11480" y="6620256"/>
            <a:ext cx="3657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DA291C"/>
                </a:solidFill>
                <a:latin typeface="Calibri"/>
              </a:rPr>
              <a:t>INTERNAL · CONFIDENTIAL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657600" y="6620256"/>
            <a:ext cx="811987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 i="1">
                <a:solidFill>
                  <a:srgbClr val="78716C"/>
                </a:solidFill>
                <a:latin typeface="Calibri"/>
              </a:rPr>
              <a:t>Alan Davidson  ·  Business Banking Advisor  ·  Self-initiated  ·  Own time  ·  June 2026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722608" y="6565392"/>
            <a:ext cx="34747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78716C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912" y="137160"/>
            <a:ext cx="109728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The business case.</a:t>
            </a:r>
          </a:p>
        </p:txBody>
      </p:sp>
      <p:sp>
        <p:nvSpPr>
          <p:cNvPr id="5" name="Rectangle 4"/>
          <p:cNvSpPr/>
          <p:nvPr/>
        </p:nvSpPr>
        <p:spPr>
          <a:xfrm>
            <a:off x="438912" y="877824"/>
            <a:ext cx="11311128" cy="14630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12" y="64008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1">
                <a:solidFill>
                  <a:srgbClr val="D6D3D1"/>
                </a:solidFill>
                <a:latin typeface="Calibri"/>
              </a:rPr>
              <a:t>Phase 1 complete. Phase 2 awaiting stakeholder approval. Zero days to readiness.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38912" y="1078992"/>
            <a:ext cx="3703320" cy="1508760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0352" y="1170432"/>
            <a:ext cx="3520439" cy="875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Calibri"/>
              </a:rPr>
              <a:t>£137M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999792"/>
            <a:ext cx="3520439" cy="5431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D6D3D1"/>
                </a:solidFill>
                <a:latin typeface="Calibri"/>
              </a:rPr>
              <a:t>Annualised
opportunity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52544" y="1078992"/>
            <a:ext cx="3703320" cy="1508760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43983" y="1170432"/>
            <a:ext cx="3520439" cy="875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Calibri"/>
              </a:rPr>
              <a:t>£4.9M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43983" y="1999792"/>
            <a:ext cx="3520439" cy="5431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D6D3D1"/>
                </a:solidFill>
                <a:latin typeface="Calibri"/>
              </a:rPr>
              <a:t>Cost saving / 10k
customers · Year 1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66176" y="1078992"/>
            <a:ext cx="3703320" cy="1508760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57616" y="1170432"/>
            <a:ext cx="3520439" cy="875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Calibri"/>
              </a:rPr>
              <a:t>21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57616" y="1999792"/>
            <a:ext cx="3520439" cy="5431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D6D3D1"/>
                </a:solidFill>
                <a:latin typeface="Calibri"/>
              </a:rPr>
              <a:t>Features across
4 areas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8912" y="2770632"/>
            <a:ext cx="3703320" cy="1508760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0352" y="2862072"/>
            <a:ext cx="3520439" cy="875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Calibri"/>
              </a:rPr>
              <a:t>11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0352" y="3691432"/>
            <a:ext cx="3520439" cy="5431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D6D3D1"/>
                </a:solidFill>
                <a:latin typeface="Calibri"/>
              </a:rPr>
              <a:t>Paper workflows
digitised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352544" y="2770632"/>
            <a:ext cx="3703320" cy="1508760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43983" y="2862072"/>
            <a:ext cx="3520439" cy="875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43983" y="3691432"/>
            <a:ext cx="3520439" cy="5431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D6D3D1"/>
                </a:solidFill>
                <a:latin typeface="Calibri"/>
              </a:rPr>
              <a:t>Paper forms
retired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66176" y="2770632"/>
            <a:ext cx="3703320" cy="1508760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57616" y="2862072"/>
            <a:ext cx="3520439" cy="875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57616" y="3691432"/>
            <a:ext cx="3520439" cy="5431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D6D3D1"/>
                </a:solidFill>
                <a:latin typeface="Calibri"/>
              </a:rPr>
              <a:t>Compliance
frameworks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38912" y="4553712"/>
            <a:ext cx="11311128" cy="493776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12064" y="4590288"/>
            <a:ext cx="2084831" cy="420624"/>
          </a:xfrm>
          <a:prstGeom prst="rect">
            <a:avLst/>
          </a:prstGeom>
          <a:solidFill>
            <a:srgbClr val="3531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85216" y="4626864"/>
            <a:ext cx="1920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0">
                <a:solidFill>
                  <a:srgbClr val="D6D3D1"/>
                </a:solidFill>
                <a:latin typeface="Calibri"/>
              </a:rPr>
              <a:t>CA04
Mandate change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761488" y="4590288"/>
            <a:ext cx="2084831" cy="420624"/>
          </a:xfrm>
          <a:prstGeom prst="rect">
            <a:avLst/>
          </a:prstGeom>
          <a:solidFill>
            <a:srgbClr val="3531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834640" y="4626864"/>
            <a:ext cx="1920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0">
                <a:solidFill>
                  <a:srgbClr val="D6D3D1"/>
                </a:solidFill>
                <a:latin typeface="Calibri"/>
              </a:rPr>
              <a:t>CA07
Account closure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010912" y="4590288"/>
            <a:ext cx="2084831" cy="420624"/>
          </a:xfrm>
          <a:prstGeom prst="rect">
            <a:avLst/>
          </a:prstGeom>
          <a:solidFill>
            <a:srgbClr val="3531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084064" y="4626864"/>
            <a:ext cx="1920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0">
                <a:solidFill>
                  <a:srgbClr val="D6D3D1"/>
                </a:solidFill>
                <a:latin typeface="Calibri"/>
              </a:rPr>
              <a:t>CA11
Dormancy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260336" y="4590288"/>
            <a:ext cx="2084831" cy="420624"/>
          </a:xfrm>
          <a:prstGeom prst="rect">
            <a:avLst/>
          </a:prstGeom>
          <a:solidFill>
            <a:srgbClr val="3531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333488" y="4626864"/>
            <a:ext cx="1920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0">
                <a:solidFill>
                  <a:srgbClr val="D6D3D1"/>
                </a:solidFill>
                <a:latin typeface="Calibri"/>
              </a:rPr>
              <a:t>P17
Bulk payment auth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509760" y="4590288"/>
            <a:ext cx="2084831" cy="420624"/>
          </a:xfrm>
          <a:prstGeom prst="rect">
            <a:avLst/>
          </a:prstGeom>
          <a:solidFill>
            <a:srgbClr val="3531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582912" y="4626864"/>
            <a:ext cx="1920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0">
                <a:solidFill>
                  <a:srgbClr val="D6D3D1"/>
                </a:solidFill>
                <a:latin typeface="Calibri"/>
              </a:rPr>
              <a:t>DIB
KYC update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38912" y="5166360"/>
            <a:ext cx="11311128" cy="438912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03504" y="5230368"/>
            <a:ext cx="107899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Phase 1 — COMPLETE    Prototype live · All features functional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38912" y="5669280"/>
            <a:ext cx="11311128" cy="438912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03504" y="5733288"/>
            <a:ext cx="107899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Phase 2 — 0 DAYS TO READY    Awaiting stakeholder approval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11480" y="6620256"/>
            <a:ext cx="3657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FECACA"/>
                </a:solidFill>
                <a:latin typeface="Calibri"/>
              </a:rPr>
              <a:t>INTERNAL · CONFIDENTIAL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657600" y="6620256"/>
            <a:ext cx="811987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 i="1">
                <a:solidFill>
                  <a:srgbClr val="D6D3D1"/>
                </a:solidFill>
                <a:latin typeface="Calibri"/>
              </a:rPr>
              <a:t>Alan Davidson  ·  Business Banking Advisor  ·  Self-initiated  ·  Own time  ·  June 2026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722608" y="6565392"/>
            <a:ext cx="34747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D6D3D1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912" y="137160"/>
            <a:ext cx="109728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C1917"/>
                </a:solidFill>
                <a:latin typeface="Calibri"/>
              </a:rPr>
              <a:t>Four phases. Twelve months to production at scale.</a:t>
            </a:r>
          </a:p>
        </p:txBody>
      </p:sp>
      <p:sp>
        <p:nvSpPr>
          <p:cNvPr id="5" name="Rectangle 4"/>
          <p:cNvSpPr/>
          <p:nvPr/>
        </p:nvSpPr>
        <p:spPr>
          <a:xfrm>
            <a:off x="438912" y="877824"/>
            <a:ext cx="11311128" cy="14630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227832" y="1847088"/>
            <a:ext cx="155448" cy="54864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38912" y="1024128"/>
            <a:ext cx="2788920" cy="841248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3503" y="1060704"/>
            <a:ext cx="2468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1">
                <a:solidFill>
                  <a:srgbClr val="FFFFFF"/>
                </a:solidFill>
                <a:latin typeface="Calibri"/>
              </a:rPr>
              <a:t>Q3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3" y="1298448"/>
            <a:ext cx="2468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PHASE 1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12" y="1883664"/>
            <a:ext cx="2788920" cy="274320"/>
          </a:xfrm>
          <a:prstGeom prst="rect">
            <a:avLst/>
          </a:prstGeom>
          <a:solidFill>
            <a:srgbClr val="F5F5F4"/>
          </a:solidFill>
          <a:ln w="9525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3503" y="1920240"/>
            <a:ext cx="24688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59669"/>
                </a:solidFill>
                <a:latin typeface="Calibri"/>
              </a:rPr>
              <a:t>COMPLETE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8912" y="2176272"/>
            <a:ext cx="2788920" cy="402336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03503" y="2304288"/>
            <a:ext cx="54864" cy="658368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86384" y="2322576"/>
            <a:ext cx="22860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C1917"/>
                </a:solidFill>
                <a:latin typeface="Calibri"/>
              </a:rPr>
              <a:t>Prototype live and functional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3503" y="3182112"/>
            <a:ext cx="54864" cy="658368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86384" y="3200400"/>
            <a:ext cx="22860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C1917"/>
                </a:solidFill>
                <a:latin typeface="Calibri"/>
              </a:rPr>
              <a:t>All 21 features validated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03503" y="4059935"/>
            <a:ext cx="54864" cy="658368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86384" y="4078224"/>
            <a:ext cx="22860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C1917"/>
                </a:solidFill>
                <a:latin typeface="Calibri"/>
              </a:rPr>
              <a:t>Stakeholder review complete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03503" y="4937760"/>
            <a:ext cx="54864" cy="658368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86384" y="4956048"/>
            <a:ext cx="22860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C1917"/>
                </a:solidFill>
                <a:latin typeface="Calibri"/>
              </a:rPr>
              <a:t>Architecture documented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72200" y="1847088"/>
            <a:ext cx="155448" cy="54864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383280" y="1024128"/>
            <a:ext cx="2788920" cy="841248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547872" y="1060704"/>
            <a:ext cx="2468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1">
                <a:solidFill>
                  <a:srgbClr val="FFFFFF"/>
                </a:solidFill>
                <a:latin typeface="Calibri"/>
              </a:rPr>
              <a:t>Q4 2026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47872" y="1298448"/>
            <a:ext cx="2468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PHASE 2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383280" y="1883664"/>
            <a:ext cx="2788920" cy="274320"/>
          </a:xfrm>
          <a:prstGeom prst="rect">
            <a:avLst/>
          </a:prstGeom>
          <a:solidFill>
            <a:srgbClr val="F5F5F4"/>
          </a:solidFill>
          <a:ln w="9525">
            <a:solidFill>
              <a:srgbClr val="1C19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47872" y="1920240"/>
            <a:ext cx="24688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C1917"/>
                </a:solidFill>
                <a:latin typeface="Calibri"/>
              </a:rPr>
              <a:t>API &amp; AUTH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383280" y="2176272"/>
            <a:ext cx="2788920" cy="402336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547872" y="2304288"/>
            <a:ext cx="54864" cy="658368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730752" y="2322576"/>
            <a:ext cx="22860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C1917"/>
                </a:solidFill>
                <a:latin typeface="Calibri"/>
              </a:rPr>
              <a:t>FastAPI backend + PostgreSQL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547872" y="3182112"/>
            <a:ext cx="54864" cy="658368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730752" y="3200400"/>
            <a:ext cx="22860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C1917"/>
                </a:solidFill>
                <a:latin typeface="Calibri"/>
              </a:rPr>
              <a:t>JWT auth + GOV.UK One Login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547872" y="4059935"/>
            <a:ext cx="54864" cy="658368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730752" y="4078224"/>
            <a:ext cx="22860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C1917"/>
                </a:solidFill>
                <a:latin typeface="Calibri"/>
              </a:rPr>
              <a:t>HMRC MTD API integration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547872" y="4937760"/>
            <a:ext cx="54864" cy="658368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730752" y="4956048"/>
            <a:ext cx="22860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C1917"/>
                </a:solidFill>
                <a:latin typeface="Calibri"/>
              </a:rPr>
              <a:t>Internal beta: 50 colleagues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116567" y="1847088"/>
            <a:ext cx="155448" cy="54864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327648" y="1024128"/>
            <a:ext cx="2788920" cy="841248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492240" y="1060704"/>
            <a:ext cx="2468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1">
                <a:solidFill>
                  <a:srgbClr val="FFFFFF"/>
                </a:solidFill>
                <a:latin typeface="Calibri"/>
              </a:rPr>
              <a:t>Q1 2027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92240" y="1298448"/>
            <a:ext cx="2468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PHASE 3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327648" y="1883664"/>
            <a:ext cx="2788920" cy="274320"/>
          </a:xfrm>
          <a:prstGeom prst="rect">
            <a:avLst/>
          </a:prstGeom>
          <a:solidFill>
            <a:srgbClr val="F5F5F4"/>
          </a:solidFill>
          <a:ln w="9525">
            <a:solidFill>
              <a:srgbClr val="DA29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492240" y="1920240"/>
            <a:ext cx="24688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DA291C"/>
                </a:solidFill>
                <a:latin typeface="Calibri"/>
              </a:rPr>
              <a:t>COMPLIANCE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327648" y="2176272"/>
            <a:ext cx="2788920" cy="402336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492240" y="2304288"/>
            <a:ext cx="54864" cy="658368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675120" y="2322576"/>
            <a:ext cx="22860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C1917"/>
                </a:solidFill>
                <a:latin typeface="Calibri"/>
              </a:rPr>
              <a:t>Vocalink CoP wired live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492240" y="3182112"/>
            <a:ext cx="54864" cy="658368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675120" y="3200400"/>
            <a:ext cx="22860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C1917"/>
                </a:solidFill>
                <a:latin typeface="Calibri"/>
              </a:rPr>
              <a:t>FCA notification submitted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492240" y="4059935"/>
            <a:ext cx="54864" cy="658368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675120" y="4078224"/>
            <a:ext cx="22860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C1917"/>
                </a:solidFill>
                <a:latin typeface="Calibri"/>
              </a:rPr>
              <a:t>Cooling-off server-enforced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492240" y="4937760"/>
            <a:ext cx="54864" cy="658368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675120" y="4956048"/>
            <a:ext cx="22860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C1917"/>
                </a:solidFill>
                <a:latin typeface="Calibri"/>
              </a:rPr>
              <a:t>500-customer beta pilot</a:t>
            </a:r>
          </a:p>
        </p:txBody>
      </p:sp>
      <p:sp>
        <p:nvSpPr>
          <p:cNvPr id="51" name="Rectangle 50"/>
          <p:cNvSpPr/>
          <p:nvPr/>
        </p:nvSpPr>
        <p:spPr>
          <a:xfrm>
            <a:off x="9272016" y="1024128"/>
            <a:ext cx="2788920" cy="841248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436608" y="1060704"/>
            <a:ext cx="2468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1">
                <a:solidFill>
                  <a:srgbClr val="FFFFFF"/>
                </a:solidFill>
                <a:latin typeface="Calibri"/>
              </a:rPr>
              <a:t>Q2 2027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436608" y="1298448"/>
            <a:ext cx="2468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PHASE 4</a:t>
            </a:r>
          </a:p>
        </p:txBody>
      </p:sp>
      <p:sp>
        <p:nvSpPr>
          <p:cNvPr id="54" name="Rectangle 53"/>
          <p:cNvSpPr/>
          <p:nvPr/>
        </p:nvSpPr>
        <p:spPr>
          <a:xfrm>
            <a:off x="9272016" y="1883664"/>
            <a:ext cx="2788920" cy="274320"/>
          </a:xfrm>
          <a:prstGeom prst="rect">
            <a:avLst/>
          </a:prstGeom>
          <a:solidFill>
            <a:srgbClr val="F5F5F4"/>
          </a:solidFill>
          <a:ln w="9525">
            <a:solidFill>
              <a:srgbClr val="1D4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9436608" y="1920240"/>
            <a:ext cx="24688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D4ED8"/>
                </a:solidFill>
                <a:latin typeface="Calibri"/>
              </a:rPr>
              <a:t>SCALE</a:t>
            </a:r>
          </a:p>
        </p:txBody>
      </p:sp>
      <p:sp>
        <p:nvSpPr>
          <p:cNvPr id="56" name="Rectangle 55"/>
          <p:cNvSpPr/>
          <p:nvPr/>
        </p:nvSpPr>
        <p:spPr>
          <a:xfrm>
            <a:off x="9272016" y="2176272"/>
            <a:ext cx="2788920" cy="402336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9436608" y="2304288"/>
            <a:ext cx="54864" cy="658368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9619488" y="2322576"/>
            <a:ext cx="22860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C1917"/>
                </a:solidFill>
                <a:latin typeface="Calibri"/>
              </a:rPr>
              <a:t>App Store + Play Store launch</a:t>
            </a:r>
          </a:p>
        </p:txBody>
      </p:sp>
      <p:sp>
        <p:nvSpPr>
          <p:cNvPr id="59" name="Rectangle 58"/>
          <p:cNvSpPr/>
          <p:nvPr/>
        </p:nvSpPr>
        <p:spPr>
          <a:xfrm>
            <a:off x="9436608" y="3182112"/>
            <a:ext cx="54864" cy="658368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9619488" y="3200400"/>
            <a:ext cx="22860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C1917"/>
                </a:solidFill>
                <a:latin typeface="Calibri"/>
              </a:rPr>
              <a:t>80% paperless mandate target</a:t>
            </a:r>
          </a:p>
        </p:txBody>
      </p:sp>
      <p:sp>
        <p:nvSpPr>
          <p:cNvPr id="61" name="Rectangle 60"/>
          <p:cNvSpPr/>
          <p:nvPr/>
        </p:nvSpPr>
        <p:spPr>
          <a:xfrm>
            <a:off x="9436608" y="4059935"/>
            <a:ext cx="54864" cy="658368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9619488" y="4078224"/>
            <a:ext cx="22860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C1917"/>
                </a:solidFill>
                <a:latin typeface="Calibri"/>
              </a:rPr>
              <a:t>Full MLR / SYSC 9 audit-ready</a:t>
            </a:r>
          </a:p>
        </p:txBody>
      </p:sp>
      <p:sp>
        <p:nvSpPr>
          <p:cNvPr id="63" name="Rectangle 62"/>
          <p:cNvSpPr/>
          <p:nvPr/>
        </p:nvSpPr>
        <p:spPr>
          <a:xfrm>
            <a:off x="9436608" y="4937760"/>
            <a:ext cx="54864" cy="658368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9619488" y="4956048"/>
            <a:ext cx="22860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C1917"/>
                </a:solidFill>
                <a:latin typeface="Calibri"/>
              </a:rPr>
              <a:t>280,000 customer rollout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11480" y="6620256"/>
            <a:ext cx="3657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DA291C"/>
                </a:solidFill>
                <a:latin typeface="Calibri"/>
              </a:rPr>
              <a:t>INTERNAL · CONFIDENTIAL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3657600" y="6620256"/>
            <a:ext cx="811987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 i="1">
                <a:solidFill>
                  <a:srgbClr val="78716C"/>
                </a:solidFill>
                <a:latin typeface="Calibri"/>
              </a:rPr>
              <a:t>Alan Davidson  ·  Business Banking Advisor  ·  Self-initiated  ·  Own time  ·  June 2026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1722608" y="6565392"/>
            <a:ext cx="34747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78716C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912" y="137160"/>
            <a:ext cx="109728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C1917"/>
                </a:solidFill>
                <a:latin typeface="Calibri"/>
              </a:rPr>
              <a:t>Design system — built for every customer.</a:t>
            </a:r>
          </a:p>
        </p:txBody>
      </p:sp>
      <p:sp>
        <p:nvSpPr>
          <p:cNvPr id="5" name="Rectangle 4"/>
          <p:cNvSpPr/>
          <p:nvPr/>
        </p:nvSpPr>
        <p:spPr>
          <a:xfrm>
            <a:off x="438912" y="877824"/>
            <a:ext cx="11311128" cy="14630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12" y="1024128"/>
            <a:ext cx="18288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78716C"/>
                </a:solidFill>
                <a:latin typeface="Calibri"/>
              </a:rPr>
              <a:t>COLOUR</a:t>
            </a:r>
          </a:p>
        </p:txBody>
      </p:sp>
      <p:sp>
        <p:nvSpPr>
          <p:cNvPr id="7" name="Rectangle 6"/>
          <p:cNvSpPr/>
          <p:nvPr/>
        </p:nvSpPr>
        <p:spPr>
          <a:xfrm>
            <a:off x="438912" y="1335024"/>
            <a:ext cx="365760" cy="365760"/>
          </a:xfrm>
          <a:prstGeom prst="rect">
            <a:avLst/>
          </a:prstGeom>
          <a:solidFill>
            <a:srgbClr val="DA291C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335024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C1917"/>
                </a:solidFill>
                <a:latin typeface="Calibri"/>
              </a:rPr>
              <a:t>#C8102E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1517904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DA291C"/>
                </a:solidFill>
                <a:latin typeface="Calibri"/>
              </a:rPr>
              <a:t>brand-red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11680" y="1389888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78716C"/>
                </a:solidFill>
                <a:latin typeface="Calibri"/>
              </a:rPr>
              <a:t>CTAs, active nav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12" y="1828800"/>
            <a:ext cx="365760" cy="365760"/>
          </a:xfrm>
          <a:prstGeom prst="rect">
            <a:avLst/>
          </a:prstGeom>
          <a:solidFill>
            <a:srgbClr val="1C1917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1828800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C1917"/>
                </a:solidFill>
                <a:latin typeface="Calibri"/>
              </a:rPr>
              <a:t>#1C1917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2011680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DA291C"/>
                </a:solidFill>
                <a:latin typeface="Calibri"/>
              </a:rPr>
              <a:t>stone-900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11680" y="1883664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78716C"/>
                </a:solidFill>
                <a:latin typeface="Calibri"/>
              </a:rPr>
              <a:t>Primary text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8912" y="2322576"/>
            <a:ext cx="365760" cy="365760"/>
          </a:xfrm>
          <a:prstGeom prst="rect">
            <a:avLst/>
          </a:prstGeom>
          <a:solidFill>
            <a:srgbClr val="FAF6E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232257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C1917"/>
                </a:solidFill>
                <a:latin typeface="Calibri"/>
              </a:rPr>
              <a:t>#FAF6EF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250545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DA291C"/>
                </a:solidFill>
                <a:latin typeface="Calibri"/>
              </a:rPr>
              <a:t>warm-bg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011680" y="2377440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78716C"/>
                </a:solidFill>
                <a:latin typeface="Calibri"/>
              </a:rPr>
              <a:t>Page background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38912" y="2816352"/>
            <a:ext cx="365760" cy="365760"/>
          </a:xfrm>
          <a:prstGeom prst="rect">
            <a:avLst/>
          </a:prstGeom>
          <a:solidFill>
            <a:srgbClr val="78716C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281635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C1917"/>
                </a:solidFill>
                <a:latin typeface="Calibri"/>
              </a:rPr>
              <a:t>#78716C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299923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DA291C"/>
                </a:solidFill>
                <a:latin typeface="Calibri"/>
              </a:rPr>
              <a:t>stone-500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11680" y="2871216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78716C"/>
                </a:solidFill>
                <a:latin typeface="Calibri"/>
              </a:rPr>
              <a:t>Secondary text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8912" y="3310128"/>
            <a:ext cx="365760" cy="365760"/>
          </a:xfrm>
          <a:prstGeom prst="rect">
            <a:avLst/>
          </a:prstGeom>
          <a:solidFill>
            <a:srgbClr val="FECACA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4400" y="331012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C1917"/>
                </a:solidFill>
                <a:latin typeface="Calibri"/>
              </a:rPr>
              <a:t>#FECACA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" y="349300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DA291C"/>
                </a:solidFill>
                <a:latin typeface="Calibri"/>
              </a:rPr>
              <a:t>red-200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011680" y="3364992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78716C"/>
                </a:solidFill>
                <a:latin typeface="Calibri"/>
              </a:rPr>
              <a:t>On red surfaces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749039" y="1024128"/>
            <a:ext cx="27432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78716C"/>
                </a:solidFill>
                <a:latin typeface="Calibri"/>
              </a:rPr>
              <a:t>TYPOGRAPHY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749039" y="1280160"/>
            <a:ext cx="3657600" cy="566928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858768" y="1335024"/>
            <a:ext cx="343814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Fraunces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858768" y="1572768"/>
            <a:ext cx="3438144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D6D3D1"/>
                </a:solidFill>
                <a:latin typeface="Calibri"/>
              </a:rPr>
              <a:t>Serif — large display numbers, editorial headers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749039" y="1938528"/>
            <a:ext cx="3657600" cy="566928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858768" y="1993392"/>
            <a:ext cx="343814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Geist Sans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858768" y="2231136"/>
            <a:ext cx="3438144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D6D3D1"/>
                </a:solidFill>
                <a:latin typeface="Calibri"/>
              </a:rPr>
              <a:t>All body text, labels, navigation, buttons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749039" y="2596896"/>
            <a:ext cx="3657600" cy="566928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858768" y="2651760"/>
            <a:ext cx="343814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Geist Mono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858768" y="2889503"/>
            <a:ext cx="3438144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D6D3D1"/>
                </a:solidFill>
                <a:latin typeface="Calibri"/>
              </a:rPr>
              <a:t>Account numbers, sort codes, financial data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749039" y="3255264"/>
            <a:ext cx="3657600" cy="566928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858768" y="3310128"/>
            <a:ext cx="343814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num-tab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858768" y="3547872"/>
            <a:ext cx="3438144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D6D3D1"/>
                </a:solidFill>
                <a:latin typeface="Calibri"/>
              </a:rPr>
              <a:t>tabular-nums on every monetary amount — alignment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680960" y="1024128"/>
            <a:ext cx="41148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78716C"/>
                </a:solidFill>
                <a:latin typeface="Calibri"/>
              </a:rPr>
              <a:t>ACCESSIBILITY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680960" y="1280160"/>
            <a:ext cx="4114800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7680960" y="1280160"/>
            <a:ext cx="4114800" cy="50292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827264" y="1353312"/>
            <a:ext cx="1188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C1917"/>
                </a:solidFill>
                <a:latin typeface="Calibri"/>
              </a:rPr>
              <a:t>WCAG 2.1 AA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827264" y="1600200"/>
            <a:ext cx="3840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78716C"/>
                </a:solidFill>
                <a:latin typeface="Calibri"/>
              </a:rPr>
              <a:t>focus-visible:ring on all interactive elements — keyboard users fully supported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680960" y="2011680"/>
            <a:ext cx="4114800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7680960" y="2011680"/>
            <a:ext cx="4114800" cy="50292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827264" y="2084832"/>
            <a:ext cx="1188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C1917"/>
                </a:solidFill>
                <a:latin typeface="Calibri"/>
              </a:rPr>
              <a:t>Contrast ≥4.5:1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827264" y="2331720"/>
            <a:ext cx="3840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78716C"/>
                </a:solidFill>
                <a:latin typeface="Calibri"/>
              </a:rPr>
              <a:t>Every text / background combination tested — no gray-on-gray ever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680960" y="2743200"/>
            <a:ext cx="4114800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7680960" y="2743200"/>
            <a:ext cx="4114800" cy="50292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827264" y="2816352"/>
            <a:ext cx="1188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C1917"/>
                </a:solidFill>
                <a:latin typeface="Calibri"/>
              </a:rPr>
              <a:t>tabular-nums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827264" y="3063240"/>
            <a:ext cx="3840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78716C"/>
                </a:solidFill>
                <a:latin typeface="Calibri"/>
              </a:rPr>
              <a:t>All monetary amounts use font-variant-numeric: tabular-nums for column alignment</a:t>
            </a:r>
          </a:p>
        </p:txBody>
      </p:sp>
      <p:sp>
        <p:nvSpPr>
          <p:cNvPr id="53" name="Rectangle 52"/>
          <p:cNvSpPr/>
          <p:nvPr/>
        </p:nvSpPr>
        <p:spPr>
          <a:xfrm>
            <a:off x="7680960" y="3474720"/>
            <a:ext cx="4114800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7680960" y="3474720"/>
            <a:ext cx="4114800" cy="50292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827264" y="3547872"/>
            <a:ext cx="1188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C1917"/>
                </a:solidFill>
                <a:latin typeface="Calibri"/>
              </a:rPr>
              <a:t>Error messages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827264" y="3794760"/>
            <a:ext cx="3840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78716C"/>
                </a:solidFill>
                <a:latin typeface="Calibri"/>
              </a:rPr>
              <a:t>Describe how to fix — not just what went wrong — per WCAG 3.3.1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680960" y="4206240"/>
            <a:ext cx="4114800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7680960" y="4206240"/>
            <a:ext cx="4114800" cy="50292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827264" y="4279392"/>
            <a:ext cx="1188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C1917"/>
                </a:solidFill>
                <a:latin typeface="Calibri"/>
              </a:rPr>
              <a:t>Screen reader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827264" y="4526279"/>
            <a:ext cx="3840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78716C"/>
                </a:solidFill>
                <a:latin typeface="Calibri"/>
              </a:rPr>
              <a:t>ARIA labels on all icons — no decoration-only elements lack alt text</a:t>
            </a:r>
          </a:p>
        </p:txBody>
      </p:sp>
      <p:sp>
        <p:nvSpPr>
          <p:cNvPr id="61" name="Rectangle 60"/>
          <p:cNvSpPr/>
          <p:nvPr/>
        </p:nvSpPr>
        <p:spPr>
          <a:xfrm>
            <a:off x="7680960" y="4937760"/>
            <a:ext cx="4114800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680960" y="4937760"/>
            <a:ext cx="4114800" cy="50292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827264" y="5010912"/>
            <a:ext cx="1188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C1917"/>
                </a:solidFill>
                <a:latin typeface="Calibri"/>
              </a:rPr>
              <a:t>BSL relay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827264" y="5257800"/>
            <a:ext cx="3840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78716C"/>
                </a:solidFill>
                <a:latin typeface="Calibri"/>
              </a:rPr>
              <a:t>Accessibility footer on every screen: BSL relay, Relay UK, large print option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38912" y="5650992"/>
            <a:ext cx="73152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78716C"/>
                </a:solidFill>
                <a:latin typeface="Calibri"/>
              </a:rPr>
              <a:t>SPACING SCALE (4px base)</a:t>
            </a:r>
          </a:p>
        </p:txBody>
      </p:sp>
      <p:sp>
        <p:nvSpPr>
          <p:cNvPr id="66" name="Rectangle 65"/>
          <p:cNvSpPr/>
          <p:nvPr/>
        </p:nvSpPr>
        <p:spPr>
          <a:xfrm>
            <a:off x="438912" y="6263640"/>
            <a:ext cx="420624" cy="45720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438912" y="6327648"/>
            <a:ext cx="42062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1C1917"/>
                </a:solidFill>
                <a:latin typeface="Calibri"/>
              </a:rPr>
              <a:t>4</a:t>
            </a:r>
          </a:p>
        </p:txBody>
      </p:sp>
      <p:sp>
        <p:nvSpPr>
          <p:cNvPr id="68" name="Rectangle 67"/>
          <p:cNvSpPr/>
          <p:nvPr/>
        </p:nvSpPr>
        <p:spPr>
          <a:xfrm>
            <a:off x="969264" y="6217920"/>
            <a:ext cx="420624" cy="91440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969264" y="6327648"/>
            <a:ext cx="42062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1C1917"/>
                </a:solidFill>
                <a:latin typeface="Calibri"/>
              </a:rPr>
              <a:t>8</a:t>
            </a:r>
          </a:p>
        </p:txBody>
      </p:sp>
      <p:sp>
        <p:nvSpPr>
          <p:cNvPr id="70" name="Rectangle 69"/>
          <p:cNvSpPr/>
          <p:nvPr/>
        </p:nvSpPr>
        <p:spPr>
          <a:xfrm>
            <a:off x="1499616" y="6172200"/>
            <a:ext cx="420624" cy="137160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1499616" y="6327648"/>
            <a:ext cx="42062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1C1917"/>
                </a:solidFill>
                <a:latin typeface="Calibri"/>
              </a:rPr>
              <a:t>12</a:t>
            </a:r>
          </a:p>
        </p:txBody>
      </p:sp>
      <p:sp>
        <p:nvSpPr>
          <p:cNvPr id="72" name="Rectangle 71"/>
          <p:cNvSpPr/>
          <p:nvPr/>
        </p:nvSpPr>
        <p:spPr>
          <a:xfrm>
            <a:off x="2029967" y="6126480"/>
            <a:ext cx="420624" cy="182880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2029967" y="6327648"/>
            <a:ext cx="42062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1C1917"/>
                </a:solidFill>
                <a:latin typeface="Calibri"/>
              </a:rPr>
              <a:t>16</a:t>
            </a:r>
          </a:p>
        </p:txBody>
      </p:sp>
      <p:sp>
        <p:nvSpPr>
          <p:cNvPr id="74" name="Rectangle 73"/>
          <p:cNvSpPr/>
          <p:nvPr/>
        </p:nvSpPr>
        <p:spPr>
          <a:xfrm>
            <a:off x="2560320" y="6035040"/>
            <a:ext cx="420624" cy="274320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2560320" y="6327648"/>
            <a:ext cx="42062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1C1917"/>
                </a:solidFill>
                <a:latin typeface="Calibri"/>
              </a:rPr>
              <a:t>24</a:t>
            </a:r>
          </a:p>
        </p:txBody>
      </p:sp>
      <p:sp>
        <p:nvSpPr>
          <p:cNvPr id="76" name="Rectangle 75"/>
          <p:cNvSpPr/>
          <p:nvPr/>
        </p:nvSpPr>
        <p:spPr>
          <a:xfrm>
            <a:off x="3090672" y="5943600"/>
            <a:ext cx="420624" cy="365760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3090672" y="6327648"/>
            <a:ext cx="42062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1C1917"/>
                </a:solidFill>
                <a:latin typeface="Calibri"/>
              </a:rPr>
              <a:t>32</a:t>
            </a:r>
          </a:p>
        </p:txBody>
      </p:sp>
      <p:sp>
        <p:nvSpPr>
          <p:cNvPr id="78" name="Rectangle 77"/>
          <p:cNvSpPr/>
          <p:nvPr/>
        </p:nvSpPr>
        <p:spPr>
          <a:xfrm>
            <a:off x="3621023" y="5760720"/>
            <a:ext cx="420624" cy="548640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3621023" y="6327648"/>
            <a:ext cx="42062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1C1917"/>
                </a:solidFill>
                <a:latin typeface="Calibri"/>
              </a:rPr>
              <a:t>48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411480" y="6620256"/>
            <a:ext cx="3657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DA291C"/>
                </a:solidFill>
                <a:latin typeface="Calibri"/>
              </a:rPr>
              <a:t>INTERNAL · CONFIDENTIAL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3657600" y="6620256"/>
            <a:ext cx="811987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 i="1">
                <a:solidFill>
                  <a:srgbClr val="78716C"/>
                </a:solidFill>
                <a:latin typeface="Calibri"/>
              </a:rPr>
              <a:t>Alan Davidson  ·  Business Banking Advisor  ·  Self-initiated  ·  Own time  ·  June 2026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1722608" y="6565392"/>
            <a:ext cx="34747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78716C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530352"/>
            <a:ext cx="10543032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  <a:latin typeface="Calibri"/>
              </a:rPr>
              <a:t>£137M. Live today. Zero days to readiness.</a:t>
            </a:r>
          </a:p>
        </p:txBody>
      </p:sp>
      <p:sp>
        <p:nvSpPr>
          <p:cNvPr id="5" name="Rectangle 4"/>
          <p:cNvSpPr/>
          <p:nvPr/>
        </p:nvSpPr>
        <p:spPr>
          <a:xfrm>
            <a:off x="2286000" y="1170432"/>
            <a:ext cx="7616952" cy="502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12" y="1335024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D6D3D1"/>
                </a:solidFill>
                <a:latin typeface="Calibri"/>
              </a:rPr>
              <a:t>Three decisions for senior management:</a:t>
            </a:r>
          </a:p>
        </p:txBody>
      </p:sp>
      <p:sp>
        <p:nvSpPr>
          <p:cNvPr id="7" name="Rectangle 6"/>
          <p:cNvSpPr/>
          <p:nvPr/>
        </p:nvSpPr>
        <p:spPr>
          <a:xfrm>
            <a:off x="438912" y="1719072"/>
            <a:ext cx="3730752" cy="4572000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38912" y="1719072"/>
            <a:ext cx="3730752" cy="502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1792" y="1783080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DA291C"/>
                </a:solidFill>
                <a:latin typeface="Calibri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43584" y="1828800"/>
            <a:ext cx="2743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Walk through the prototype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" y="2212848"/>
            <a:ext cx="3364992" cy="21945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1792" y="2331720"/>
            <a:ext cx="3364992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D6D3D1"/>
                </a:solidFill>
                <a:latin typeface="Calibri"/>
              </a:rPr>
              <a:t>Spend 30 minutes with the live prototype at imscots-ui.github.io/santander. Test the workflows, the compliance paths, the dual-signature unlock. Form a view based on evidence, not a slide.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" y="4992624"/>
            <a:ext cx="3364992" cy="603504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13232" y="5074920"/>
            <a:ext cx="3182112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ACTION  →  Open the link. Walk through it today.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52544" y="1719072"/>
            <a:ext cx="3730752" cy="4572000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52544" y="1719072"/>
            <a:ext cx="3730752" cy="502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35424" y="1783080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DA291C"/>
                </a:solidFill>
                <a:latin typeface="Calibri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57216" y="1828800"/>
            <a:ext cx="2743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Commission a technical review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35424" y="2212848"/>
            <a:ext cx="3364992" cy="21945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35424" y="2331720"/>
            <a:ext cx="3364992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D6D3D1"/>
                </a:solidFill>
                <a:latin typeface="Calibri"/>
              </a:rPr>
              <a:t>Share the Architecture deck with your engineering leads. The wrap-around pattern, the API contracts, and the 4-phase build plan are already documented. The architecture question has an answer.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35424" y="4992624"/>
            <a:ext cx="3364992" cy="603504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626864" y="5074920"/>
            <a:ext cx="3182112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ACTION  →  Schedule a 1-hour architecture review.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66176" y="1719072"/>
            <a:ext cx="3730752" cy="4572000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266176" y="1719072"/>
            <a:ext cx="3730752" cy="502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449056" y="1783080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DA291C"/>
                </a:solidFill>
                <a:latin typeface="Calibri"/>
              </a:rPr>
              <a:t>03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70848" y="1828800"/>
            <a:ext cx="2743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Decide on Phase 2 scope and timing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449056" y="2212848"/>
            <a:ext cx="3364992" cy="21945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449056" y="2331720"/>
            <a:ext cx="3364992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D6D3D1"/>
                </a:solidFill>
                <a:latin typeface="Calibri"/>
              </a:rPr>
              <a:t>Phase 1 is complete. The prototype exists. The business case is £137M annualised. Phase 2 needs a sponsor, a team, and a timeline. That decision is the only thing between here and production.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449056" y="4992624"/>
            <a:ext cx="3364992" cy="603504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540496" y="5074920"/>
            <a:ext cx="3182112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ACTION  →  Assign a sponsor. Set a Q4 2026 start date.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38912" y="6565392"/>
            <a:ext cx="113111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Live prototype:  imscots-ui.github.io/santander  ·  No install, no login — open it on any device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722608" y="6565392"/>
            <a:ext cx="34747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D6D3D1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