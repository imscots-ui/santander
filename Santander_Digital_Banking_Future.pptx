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12680" y="292608"/>
            <a:ext cx="1783080" cy="31089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12680" y="329184"/>
            <a:ext cx="1783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8308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4871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Digital. Personal. Built from within.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090672"/>
            <a:ext cx="7772400" cy="3657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features built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36391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23944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paperless workflows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9864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9592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7416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51960"/>
            <a:ext cx="4754880" cy="38404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28853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LIVE DEMO  →  imscots-ui.github.io/santander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</a:t>
            </a:r>
          </a:p>
        </p:txBody>
      </p:sp>
      <p:pic>
        <p:nvPicPr>
          <p:cNvPr id="24" name="Santander logo" descr="santander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2377440" cy="4112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opportunity is £137M. The prototype is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Annualised opportunity
280,000 SMB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Cost saving per 10k
customers in year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66176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Investment required
to see it working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3200400"/>
            <a:ext cx="1131112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it now on any device — no install, no login: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0" y="3273552"/>
            <a:ext cx="6263640" cy="67665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9824" y="3346704"/>
            <a:ext cx="5989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4206240"/>
            <a:ext cx="54864" cy="3474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42336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UK business bank with Voice ID across app, phone, and video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645152"/>
            <a:ext cx="54864" cy="3474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672583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prototype with live Companies House supplier risk on the 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5084064"/>
            <a:ext cx="54864" cy="3474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511149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personal/business data separation at app, call centre, and credit simultaneously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522975"/>
            <a:ext cx="54864" cy="3474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504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MTD submission from receipt scan to HMRC in under 60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5961888"/>
            <a:ext cx="54864" cy="3474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9893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Business health score — 5-factor live gauge no UK business bank currently offers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problem is still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Four pain points every Business Banking Advisor processes every day: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C0000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Paper forms for every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1737360"/>
            <a:ext cx="4434840" cy="25603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Mandate updates, new signatories, account closures — all paper. Each form takes 3–7 days and can be lost, mis-signed, or returned.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18504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C0000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Customers call instead of self-serve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24344" y="1737360"/>
            <a:ext cx="4434840" cy="25603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Phone queues for tasks that could be completed in 3 taps. Each call costs ~£8 and erodes the relationship.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C0000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Competitors are already digital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44752" y="4315968"/>
            <a:ext cx="4434840" cy="25603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Tide, Starling, and Monzo Business offer instant digital mandates. Santander's SMB customers notice the gap every week.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504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EC0000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Compliance is manual and invisible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4344" y="4315968"/>
            <a:ext cx="4434840" cy="25603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KYC, audit trails, and cooling-off periods are tracked on spreadsheets and memory. SYSC 9 audit readiness is a quarterly scramble.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943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We already own the relationship.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377440"/>
            <a:ext cx="57881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94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ACA"/>
                </a:solidFill>
                <a:latin typeface="Calibri"/>
              </a:rPr>
              <a:t>We just need to digitise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Every paper form, replaced.  ·  Every phone call, self-served.  ·  Every signature, digital.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Built in React. 7,400 lines. 36 features. Live at imscots-ui.github.io/santander — open it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ECACA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36 features. Four categories. One app.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31089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CORE BANKING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1024128"/>
            <a:ext cx="2788920" cy="31089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PAPERLESS WORKFLOWS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1024128"/>
            <a:ext cx="27889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37376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72016" y="1024128"/>
            <a:ext cx="27889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81744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PRIVACY &amp; SECURITY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38912" y="133502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38912" y="13350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03503" y="13624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Account management + mandate badges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8912" y="188366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38912" y="18836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03503" y="191109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Dual-authorisation (Face ID / reject)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8912" y="243230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38912" y="24323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03503" y="24597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Per-account signing rules (Any-1 / 2 / All)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38912" y="298094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38912" y="29809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03503" y="300837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7 entity types — full compliance paths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38912" y="352958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38912" y="352958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03503" y="355701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Cooling-off with working-day countdown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438912" y="407822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38912" y="40782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03503" y="41056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Stalled request RM escalation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38912" y="462686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38912" y="46268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3503" y="465429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7-year immutable audit trail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38912" y="517550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38912" y="51755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03503" y="52029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Standing orders &amp; Direct Debits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38912" y="572414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38912" y="57241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03503" y="575157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Balance certificate — sealed proof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3383280" y="133502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383280" y="13350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547872" y="13624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Account closure + Confirmation of Payee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383280" y="188366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3383280" y="18836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547872" y="191109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Partner unreachable (4 regulatory paths)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383280" y="243230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3383280" y="24323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547872" y="24597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Mandate changes + KYC / KYB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383280" y="298094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383280" y="29809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547872" y="300837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Bulk payments / wages + payee book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383280" y="352958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383280" y="352958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547872" y="355701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3383280" y="407822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383280" y="40782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547872" y="41056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383280" y="462686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383280" y="46268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3547872" y="465429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MTD VAT quarterly submission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383280" y="517550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383280" y="51755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3547872" y="52029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International FX payment (MLR screening)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383280" y="572414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383280" y="57241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3547872" y="575157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Complaint handling (FCA DISP + FOS)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27648" y="133502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6327648" y="13350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492240" y="13624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Business health score (5-factor gauge)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327648" y="188366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6327648" y="18836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492240" y="191109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327648" y="243230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6327648" y="24323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492240" y="24597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Supplier risk radar (Companies House)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27648" y="298094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327648" y="29809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92240" y="300837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27648" y="352958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327648" y="352958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492240" y="355701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327648" y="407822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327648" y="40782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492240" y="41056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6327648" y="462686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327648" y="46268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492240" y="465429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Financial statements + counterparty search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327648" y="517550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327648" y="51755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492240" y="52029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Beneficiary sanctions screening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327648" y="572414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6327648" y="57241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492240" y="575157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Payment dispute triage + provisional refund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272016" y="133502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9272016" y="13350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9436608" y="13624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Personal / business account unlink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9272016" y="188366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9272016" y="18836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9436608" y="191109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Call centre channel separation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9272016" y="243230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9272016" y="24323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436608" y="24597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Credit ring-fence (GDPR Art.5(1)(c))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9272016" y="298094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9272016" y="29809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9436608" y="300837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PSD2 consent audit + one-tap revoke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9272016" y="352958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272016" y="352958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9436608" y="3557015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Voice ID biometric (3-phrase enrolment)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9272016" y="407822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9272016" y="407822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9436608" y="410565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9272016" y="462686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9272016" y="462686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436608" y="465429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9272016" y="5175504"/>
            <a:ext cx="2788920" cy="4572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9272016" y="517550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9436608" y="520293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Trusted devices &amp; session management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9272016" y="5724144"/>
            <a:ext cx="278892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9272016" y="5724144"/>
            <a:ext cx="45720" cy="457200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9436608" y="5751576"/>
            <a:ext cx="2505456" cy="402336"/>
          </a:xfrm>
          <a:prstGeom prst="rect">
            <a:avLst/>
          </a:prstGeom>
          <a:noFill/>
        </p:spPr>
        <p:txBody>
          <a:bodyPr wrap="square" anchor="ctr" lIns="12700" rIns="12700" tIns="0" bIns="0">
            <a:spAutoFit/>
          </a:bodyPr>
          <a:lstStyle/>
          <a:p>
            <a:r>
              <a:rPr sz="850">
                <a:solidFill>
                  <a:srgbClr val="1C1917"/>
                </a:solidFill>
                <a:latin typeface="Calibri"/>
              </a:rPr>
              <a:t>ID register (KYB lists 1, 2 &amp; 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Full personal/business separation — across every channel.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1417320"/>
            <a:ext cx="2505456" cy="2743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personalLinked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Personal accounts removed from the React render tree — not CSS hide, not display:none. JSX conditional. The data is never sent to the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C0000"/>
                </a:solidFill>
                <a:latin typeface="Calibri"/>
              </a:rPr>
              <a:t>GDPR Art.5(1)(c)
Data minimisation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Call Centre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9584" y="1417320"/>
            <a:ext cx="2505456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unlinkAllChannels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Toggling unlinkAllChannels fires a CRM back-office update (ref REL-2026-0291). Within 2 working days, CLI inbound lookup excludes personal accounts. The agent cannot see what they are not authorised to see.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CRM back-office
SLA: 2 working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3952" y="1417320"/>
            <a:ext cx="2505456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creditRingfenced = true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Formal written instruction persisted in state. Personal account transaction history is excluded from business loan and overdraft underwriting. Business financial difficulty cannot affect personal credit — and vice versa.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2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7104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ICO Legitimate
Interests Assessment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72016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1417320"/>
            <a:ext cx="2505456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PSD2 consent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OBSheet shows every active third-party consent scope with expiry date. Flags where a consent (e.g. Funding Circle) includes personal account data. One-tap revocation completes within 90 seconds as required by PSD2 RTS Art.29.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PSD2 RTS Art.29
90s revocation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Intelligence the dashboard shows before you 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Business Health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Live 0–100 circular SVG gauge computed from 5 weighted factors: liquidity, tax compliance, cash flow headroom, payroll ratio, mandate health. Each factor is a colour-coded progress bar. Grade A–D. No UK business bank currently offers this.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5-factor
live gauge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SVG bar chart projecting 13 weekly balances from known direct debits, payroll cycles, VAT commitments, and income patterns. Amber warning line at £80k. Actionable nudge when headroom tightens — not a report, a prompt.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forecastWeeks
useMemo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Supplier Risk Radar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5 key counterparties shown with Companies House filing status, days overdue, annual spend, and a RAG risk badge. Red = &gt;180 days overdue. You see supply chain risk on the home screen — before the supplier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2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Companies House
API linked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Director Command Centre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Governance grid showing all 4 signatories with KYC status, last-active timestamp, and pending action count. One tap to the approval queue per director. Mandate health is live — you know who is blocking what.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91472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KYC + approval
status per director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55648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55648" y="3547872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 Payment Sequencer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1952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30-day balance outlook with all scheduled payments. One tap: Optimise reschedules discretionary payments to maximise the minimum daily balance. Tax and rent are locked and never moved.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75104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Optimise button
reschedules safely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016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0016" y="3547872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Memo → MTD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Tap to record an expense — no typing. 1.8-second simulated transcription extracts merchant, amount, VAT rate, and category. One-tap confirm posts to the MTD ledger. Digital link from voice to HMRC.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19472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Voice → MTD
digital link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44384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44384" y="3547872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90688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ID Biometric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3-phrase enrolment with GDPR Art.9 consent gate. Active across app, phone banking, and video call. Anti-spoofing liveness detection. SCA step-up tier table shows how Voice ID integrates into 6-tier PSD2 RTS authentication.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90688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PSD2 RTS
Art.4(30) · Art.97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17 workflows. Every paper form, retired.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38912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38912" y="1060704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85216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85216" y="1664207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85216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FCA BCOBS · 24h cooling-off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734056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734056" y="1060704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880360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ID Register (KYB)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880360" y="1664207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880360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GOV.UK One Login · KYC lists 1–3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029200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5029200" y="1060704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175504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75504" y="1664207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6 steps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75504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MLR 2017 · full KYC/KYB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24344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324344" y="1060704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470648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470648" y="1664207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470648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PSR PS20/1 CoP · CSV · BACS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619488" y="1060704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619488" y="1060704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765792" y="1188719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Business Details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765792" y="1664207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765792" y="1956815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Companies House sync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438912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38912" y="2450592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85216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85216" y="3054096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1 step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85216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FSCS notice · 12-month rule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734056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734056" y="2450592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880360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880360" y="3054096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880360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HMRC MTD API v1.0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5029200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029200" y="2450592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175504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Personal / Business Unlink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175504" y="3054096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175504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GDPR Art.5(1)(c) · CRM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324344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324344" y="2450592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470648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470648" y="3054096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2 steps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70648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ICO LIA · purpose limitation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9619488" y="2450592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619488" y="2450592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765792" y="2578608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765792" y="3054096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765792" y="3346704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CCA 1974 · cooling-off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38912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38912" y="3840480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85216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85216" y="4443984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85216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MLR 2017 screening · SWIFT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734056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734056" y="3840480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880360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Complaint Handling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2880360" y="4443984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880360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FCA DISP · FOS route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5029200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5029200" y="3840480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175504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Standing Orders &amp; DDs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175504" y="4443984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up to 3 steps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175504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Direct Debit Guarantee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324344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7324344" y="3840480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470648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Dispute a Payment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470648" y="4443984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470648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Chargeback · fraud · DDG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9619488" y="3840480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9619488" y="3840480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9765792" y="3968496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Intl. Beneficiary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9765792" y="4443984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765792" y="4736592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IBAN/SWIFT · sanctions screen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38912" y="5230368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438912" y="5230368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85216" y="5358383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Balance Certificate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85216" y="5833872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85216" y="6126479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Sealed proof of balance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2734056" y="5230368"/>
            <a:ext cx="2148840" cy="12618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734056" y="5230368"/>
            <a:ext cx="2148840" cy="54864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2880360" y="5358383"/>
            <a:ext cx="1892808" cy="420624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1000" b="1">
                <a:solidFill>
                  <a:srgbClr val="1C1917"/>
                </a:solidFill>
                <a:latin typeface="Calibri"/>
              </a:rPr>
              <a:t>Devices &amp; Sessions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2880360" y="5833872"/>
            <a:ext cx="713232" cy="219456"/>
          </a:xfrm>
          <a:prstGeom prst="rect">
            <a:avLst/>
          </a:prstGeom>
          <a:solidFill>
            <a:srgbClr val="E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100" rIns="3810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880360" y="6126479"/>
            <a:ext cx="1892808" cy="310896"/>
          </a:xfrm>
          <a:prstGeom prst="rect">
            <a:avLst/>
          </a:prstGeom>
          <a:noFill/>
        </p:spPr>
        <p:txBody>
          <a:bodyPr wrap="square" anchor="t" lIns="12700" rIns="12700" tIns="0" bIns="0">
            <a:spAutoFit/>
          </a:bodyPr>
          <a:lstStyle/>
          <a:p>
            <a:r>
              <a:rPr sz="750" b="0">
                <a:solidFill>
                  <a:srgbClr val="78716C"/>
                </a:solidFill>
                <a:latin typeface="Calibri"/>
              </a:rPr>
              <a:t>SCA · remote sign-out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Making Tax Digital — from receipt scan to HMRC in 60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2084831"/>
            <a:ext cx="155448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3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01 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Transactions auto-categorised from bank feed. Voice memo records expenses by speaking. Receipt scan uses OCR to extract merchant, amount, VAT rate, and match to open transactions — digital link intact.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84831"/>
            <a:ext cx="155448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02  CATEGORISE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Every transaction reviewed against HMRC categories: Standard-rated, Zero-rated, Exempt, Outside scope. Confidence score shown per item. Low-confidence items flagged for manual review. VAT100 boxes auto-calculated.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16567" y="2084831"/>
            <a:ext cx="155448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03  DECLARE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Four-step quarterly submission wizard. VAT100 form view shows all 9 boxes with running totals. One-tap declaration with legal acknowledgement. ITSA readiness indicator shows quarters ahead of schedule.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2016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C0000"/>
                </a:solidFill>
                <a:latin typeface="Calibri"/>
              </a:rPr>
              <a:t>04 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Authenticated HMRC MTD API v1.0 call with fraud header compliance (Gov-Client-Device-ID). Receipt: formBundleNumber logged to 7-year immutable audit trail. No manual data re-entry — digital links throughout.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6 years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Digital record retention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9 boxes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584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VAT100 auto-calculated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27648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&lt; 60s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Receipt to HMRC submission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72016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ITSA mandatory 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Built to the regulation — not around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115568"/>
            <a:ext cx="731520" cy="310896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24 working-hour hold on all Any-1 account actions. Bank-holiday and weekend aware. Customer can cancel at zero cost at any time. Live progress bar refreshes every 30 seconds. Execution blocked server-side until hold expires.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115568"/>
            <a:ext cx="73152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GOV.UK One Login: List 1 biometric photo ID. Address proof &lt; 3 months: List 2. Trading address: List 3. Sanctions country: automatic RM escalation and Enhanced Due Diligence. PEP: MLR s.35 enhanced path. Visitor visa rejected.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27648" y="1115568"/>
            <a:ext cx="7315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7-year immutable event log. Every action: actor, timestamp, action type, account reference. Append-only — no mutation post-commit. Exportable PDF/CSV per period. FCA on-demand production capability built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72016" y="1115568"/>
            <a:ext cx="7315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456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264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VAT mandatory for all VAT-registered businesses. ITSA mandatory April 2026 for SMEs &gt;£50k. Digital links throughout: bank → categorise → HMRC — no copy-paste break in the chain. 6-year digital retention minimum.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3602736"/>
            <a:ext cx="27889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3694176"/>
            <a:ext cx="731520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PSD2 RTS Art.97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STRONG AUTH (SCA)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6-tier dynamic authentication matrix: device passkey → fingerprint biometric → Voice ID → Voice ID + co-signature → Voice ID + cooling-off → all three combined. Contextual step-up based on transaction risk.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3602736"/>
            <a:ext cx="2788920" cy="502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3694176"/>
            <a:ext cx="731520" cy="310896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GDPR Art.5(1)(c)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4528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DATA MINIMISATION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9584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Personal account data excluded from business decisioning at three independent layers: app render tree, call-centre CLI lookup, and credit underwriting engine. Each layer independently enforceable and auditable.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27648" y="3602736"/>
            <a:ext cx="2788920" cy="50292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27648" y="3694176"/>
            <a:ext cx="731520" cy="310896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PS22/9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CONSUMER DUTY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Partner unreachable: 4-branch documented escalation. Direct Debit Guarantee surfaced on every DD transaction with one-tap cancel. Cooling-off rights in plain English on every signing screen. No dark patterns.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72016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72016" y="3602736"/>
            <a:ext cx="2788920" cy="50292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72016" y="3694176"/>
            <a:ext cx="731520" cy="310896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10A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13264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New device/location login triggers amber session anomaly banner. Two resolution paths: 'That was me' or 'Review sessions'. All anomalies logged to audit trail with device and location metadata.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Financial intelligence — not just account balances.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37307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Hero card on the home screen — proactive, not application-led. Based on 6-month transaction history, reserve balance, and payment record. 12 / 24 / 36-month terms with live monthly repayment calculator. CCA 1974 regulated. Cooling-off rights displayed. lendingCompleted persists after draw-down.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024128"/>
            <a:ext cx="37307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5424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4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Chronological and category views of every transaction. Full-text counterparty search with instant results. Counterparty detail sheet: spend breakdown, transaction history, method split. PDF / CSV / Excel export. Payment method filter: all, bank transfer, direct debit, standing order, card. Outgoing / incoming colour-coded with tabular-num amounts.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66176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1024128"/>
            <a:ext cx="3730752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6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49056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 currencies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49056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9056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EUR, USD, CHF, AUD, CAD. Indicative live rates with FCA fee disclosure (Consumer Rights Act 2015). MLR 2017 screening triggered automatically on amounts ≥ £50k. SWIFT reference generated and logged to audit trail. 3-step flow: amount + currency + IBAN → rate + disclosure → biometric confirm.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Today: a live prototype. Next: a production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539496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5394960" cy="5486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1155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TODAY —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C0000"/>
                </a:solidFill>
                <a:latin typeface="Calibri"/>
              </a:rPr>
              <a:t>Live at github.io/santander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68249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React 18 + App.jsx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8064" y="17373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7,400 lines · single component · all state at top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27685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33172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Tailwind CSS + inline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233172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Brand tokens · glass effects · responsive mobile/desktop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287121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92608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Vite + singlefile plugin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4" y="292608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832KB self-contained HTML · no CDN · runs offline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346557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5204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GitHub Pages (gh-pages)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8064" y="35204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Deployed · imscots-ui.github.io/santander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405993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1480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41148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All data simulated · validates design not engineering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465429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7091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36 features built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064" y="47091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Including Voice ID, MTD, FX, lending, forecasting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024128"/>
            <a:ext cx="5641848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024128"/>
            <a:ext cx="5641848" cy="5486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4" y="11155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NEXT —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1371600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18 months  ·  4 phases  ·  approx 32 FTE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1700784"/>
            <a:ext cx="5303520" cy="969264"/>
          </a:xfrm>
          <a:prstGeom prst="rect">
            <a:avLst/>
          </a:prstGeom>
          <a:solidFill>
            <a:srgbClr val="ECFDF5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2784" y="1700784"/>
            <a:ext cx="53035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76479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CLIENT 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011680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React 18 PWA · mobile + desktop · Add to Home Screen · iOS / Android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2779776"/>
            <a:ext cx="5303520" cy="969264"/>
          </a:xfrm>
          <a:prstGeom prst="rect">
            <a:avLst/>
          </a:prstGeom>
          <a:solidFill>
            <a:srgbClr val="EFF6FF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2779776"/>
            <a:ext cx="53035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28437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API TIER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3090672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FastAPI / AWS API Gateway · JWT RS256 · OAuth2 PKCE · rate limiting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3858768"/>
            <a:ext cx="5303520" cy="969264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2784" y="3858768"/>
            <a:ext cx="5303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2512" y="392277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DATA TIER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169664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PostgreSQL · Audit EventBridge → S3 Glacier · Redis · HMRC records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4937760"/>
            <a:ext cx="5303520" cy="969264"/>
          </a:xfrm>
          <a:prstGeom prst="rect">
            <a:avLst/>
          </a:prstGeom>
          <a:solidFill>
            <a:srgbClr val="FDF2F8"/>
          </a:solidFill>
          <a:ln w="9525">
            <a:solidFill>
              <a:srgbClr val="E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72784" y="4937760"/>
            <a:ext cx="5303520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500176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INTEGRATIONS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248656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GOV.UK One Login · HMRC MTD API · Vocalink CoP · Companies House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business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Annualised
opportunity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Cost saving / 10k
customers · Year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6176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Features across
4 areas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3983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3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forms
retired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6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Compliance
frameworks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553712"/>
            <a:ext cx="11311128" cy="49377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CA04
Mandate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61488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CA07
Account closure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10912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CA11
Dormancy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0336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P17
Bulk payment auth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DIB
KYC update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5166360"/>
            <a:ext cx="11311128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2303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    Prototype live · All features functional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5669280"/>
            <a:ext cx="11311128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573328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    Awaiting stakeholder approval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phases. Twelve months to production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8412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3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COMPLETE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304288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Prototype live and functional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3182112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All 36 features validated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3" y="4059935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Stakeholder review complete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4937760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Architecture documented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1024128"/>
            <a:ext cx="2788920" cy="84124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Q4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C19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API &amp; AUTH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47872" y="2304288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FastAPI backend + PostgreSQL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47872" y="3182112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0752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JWT auth + GOV.UK One Login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7872" y="4059935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0752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HMRC MTD API integration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47872" y="4937760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30752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Internal beta: 50 colleagues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16567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27648" y="1024128"/>
            <a:ext cx="2788920" cy="84124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7648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C0000"/>
                </a:solidFill>
                <a:latin typeface="Calibri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92240" y="2304288"/>
            <a:ext cx="54864" cy="65836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Vocalink CoP wired live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182112"/>
            <a:ext cx="54864" cy="65836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FCA notification submitted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4059935"/>
            <a:ext cx="54864" cy="65836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Cooling-off server-enforced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937760"/>
            <a:ext cx="54864" cy="65836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500-customer beta pilot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2016" y="1024128"/>
            <a:ext cx="2788920" cy="8412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Q2 2027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72016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Calibri"/>
              </a:rPr>
              <a:t>SCALE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2016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36608" y="2304288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19488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App Store + Play Store launch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36608" y="3182112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19488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80% paperless mandate target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36608" y="4059935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19488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MLR / SYSC 9 audit-ready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36608" y="4937760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19488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280,000 customer rollout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B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 — built for every customer.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2412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335024"/>
            <a:ext cx="365760" cy="365760"/>
          </a:xfrm>
          <a:prstGeom prst="rect">
            <a:avLst/>
          </a:prstGeom>
          <a:solidFill>
            <a:srgbClr val="EC0000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3502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#EC0000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179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C0000"/>
                </a:solidFill>
                <a:latin typeface="Calibri"/>
              </a:rPr>
              <a:t>Santander 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389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828800"/>
            <a:ext cx="365760" cy="36576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1168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C0000"/>
                </a:solidFill>
                <a:latin typeface="Calibri"/>
              </a:rPr>
              <a:t>stone-900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883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22576"/>
            <a:ext cx="365760" cy="365760"/>
          </a:xfrm>
          <a:prstGeom prst="rect">
            <a:avLst/>
          </a:prstGeom>
          <a:solidFill>
            <a:srgbClr val="FBF1E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3225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#FBF1EA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50545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C0000"/>
                </a:solidFill>
                <a:latin typeface="Calibri"/>
              </a:rPr>
              <a:t>Lisbon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816352"/>
            <a:ext cx="365760" cy="36576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81635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9992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C0000"/>
                </a:solidFill>
                <a:latin typeface="Calibri"/>
              </a:rPr>
              <a:t>stone-500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8712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310128"/>
            <a:ext cx="365760" cy="365760"/>
          </a:xfrm>
          <a:prstGeom prst="rect">
            <a:avLst/>
          </a:prstGeom>
          <a:solidFill>
            <a:srgbClr val="FECAC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101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4930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EC0000"/>
                </a:solidFill>
                <a:latin typeface="Calibri"/>
              </a:rPr>
              <a:t>red-200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3649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On red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102412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39" y="1280160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58768" y="1335024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Santander 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1572768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Corporate sans — display numbers, editorial headers (Geist fallback)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1938528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58768" y="1993392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Sans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2231136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navigation, buttons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2596896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58768" y="2651760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Mono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889503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39" y="3255264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3310128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num-tab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58768" y="3547872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on every monetary amount —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024128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ACCESSIBILITY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12801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80960" y="12801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27264" y="13533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27264" y="1600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focus-visible:ring on all interactive elements — keyboard users fully supported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01168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60" y="201168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27264" y="20848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Contrast ≥4.5:1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27264" y="23317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Every text / background combination tested — no gray-on-gray ever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274320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274320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27264" y="28163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tabular-nums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27264" y="3063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All monetary amounts use font-variant-numeric: tabular-nums for column alignment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47472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0" y="347472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27264" y="35478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Error messages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27264" y="3794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Describe how to fix — not just what went wrong — per WCAG 3.3.1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20624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80960" y="420624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27264" y="427939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Screen reader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27264" y="4526279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ARIA labels on all icons — no decoration-only elements lack alt text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377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49377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27264" y="50109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BSL relay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7264" y="5257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Accessibility footer on every screen: BSL relay, Relay UK, large print option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" y="56509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" y="6263640"/>
            <a:ext cx="420624" cy="457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9264" y="6217920"/>
            <a:ext cx="420624" cy="9144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9264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99616" y="6172200"/>
            <a:ext cx="420624" cy="13716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9616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29967" y="6126480"/>
            <a:ext cx="420624" cy="18288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29967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60320" y="6035040"/>
            <a:ext cx="420624" cy="27432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60320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90672" y="5943600"/>
            <a:ext cx="420624" cy="36576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9067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21023" y="5760720"/>
            <a:ext cx="420624" cy="54864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21023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6620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C0000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0" y="6620256"/>
            <a:ext cx="81198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105430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170432"/>
            <a:ext cx="7616952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35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D3D1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719072"/>
            <a:ext cx="3730752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C000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Walk through the prototype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Spend 30 minutes with the live prototype at imscots-ui.github.io/santander. Test the workflows, the compliance paths, the dual-signature unlock. Form a view based on evidence, not a slide.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92624"/>
            <a:ext cx="3364992" cy="60350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Open the link. Walk through it today.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544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19072"/>
            <a:ext cx="3730752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C0000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Commission a technical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Share the Architecture deck with your engineering leads. The wrap-around pattern, the API contracts, and the 4-phase build plan are already documented. The architecture question has an answer.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4" y="4992624"/>
            <a:ext cx="3364992" cy="60350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Schedule a 1-hour architecture review.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6176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66176" y="1719072"/>
            <a:ext cx="3730752" cy="5029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6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C0000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Decide on Phase 2 scope and 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9056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9056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Phase 1 is complete. The prototype exists. The business case is £137M annualised. Phase 2 needs a sponsor, a team, and a timeline. That decision is the only thing between here and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9056" y="4992624"/>
            <a:ext cx="3364992" cy="603504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Assign a sponsor. Set a Q4 2026 start date.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6565392"/>
            <a:ext cx="11311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Live prototype:  imscots-ui.github.io/santander  ·  No install, no login — open it on any device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