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Santander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ECACA"/>
                </a:solidFill>
                <a:latin typeface="Calibri"/>
              </a:rPr>
              <a:t>Business Banking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99943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6D3D1"/>
                </a:solidFill>
                <a:latin typeface="Calibri"/>
              </a:rPr>
              <a:t>The Future 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99943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Business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9994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6D3D1"/>
                </a:solidFill>
                <a:latin typeface="Calibri"/>
              </a:rPr>
              <a:t>A prototype-proven vision for the digital era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4206240"/>
            <a:ext cx="3959352" cy="228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9994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16C"/>
                </a:solidFill>
                <a:latin typeface="Calibri"/>
              </a:rPr>
              <a:t>Alan Davidson  ·  Santander Business Banking  ·  June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00600"/>
            <a:ext cx="9994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8716C"/>
                </a:solidFill>
                <a:latin typeface="Calibri"/>
              </a:rPr>
              <a:t>Prototype live at  imscots-ui.github.io/santander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5230368"/>
            <a:ext cx="5788152" cy="65836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5266944"/>
            <a:ext cx="5788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BUSINESS BANKING ADVISOR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550408"/>
            <a:ext cx="5788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ECACA"/>
                </a:solidFill>
                <a:latin typeface="Calibri"/>
              </a:rPr>
              <a:t>Self-initiated  ·  Completed out of hours  ·  Own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1274552" cy="2286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THE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Business customers complete 40+ forms annually on paper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Mandate changes take 15–20 days end-to-end via branch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MTD compliance is manual, error-prone and audit-risky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Bulk payment authorisation has no digital audit trail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KYC re-verification relies on branch visits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Zero real-time visibility into tax position or liability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914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WHAT THE PROTOTYPE PROVES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8 end-to-end paperless workflows — fully functional today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Mandate changes completed in minutes, not weeks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Vulnerable customer / partner unreachable: full regulatory escalation path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Privacy controls: personal/business unlink, credit ring-fence, PSD2 audit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HMRC MTD VAT submission in 4 guided steps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7-year FCA SYSC 9 compliant audit trail built-in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029200"/>
            <a:ext cx="1737360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5138928"/>
            <a:ext cx="15179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623560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ECACA"/>
                </a:solidFill>
                <a:latin typeface="Calibri"/>
              </a:rPr>
              <a:t>Paperless workflows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39" y="5029200"/>
            <a:ext cx="1737360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87168" y="5138928"/>
            <a:ext cx="15179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0591" y="5623560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ECACA"/>
                </a:solidFill>
                <a:latin typeface="Calibri"/>
              </a:rPr>
              <a:t>Business entity types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5029200"/>
            <a:ext cx="1737360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5138928"/>
            <a:ext cx="15179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5623560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ECACA"/>
                </a:solidFill>
                <a:latin typeface="Calibri"/>
              </a:rPr>
              <a:t>Approval rule tiers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79" y="5029200"/>
            <a:ext cx="1737360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7" y="5138928"/>
            <a:ext cx="15179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24h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1" y="5623560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ECACA"/>
                </a:solidFill>
                <a:latin typeface="Calibri"/>
              </a:rPr>
              <a:t>Cooling-off precision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5029200"/>
            <a:ext cx="1737360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0727" y="5138928"/>
            <a:ext cx="15179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7yr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74152" y="5623560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ECACA"/>
                </a:solidFill>
                <a:latin typeface="Calibri"/>
              </a:rPr>
              <a:t>Audit retention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5029200"/>
            <a:ext cx="1737360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5248" y="5138928"/>
            <a:ext cx="15179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£0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5623560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ECACA"/>
                </a:solidFill>
                <a:latin typeface="Calibri"/>
              </a:rPr>
              <a:t>Paper forms required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601968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8716C"/>
                </a:solidFill>
                <a:latin typeface="Calibri"/>
              </a:rPr>
              <a:t>Business Banking Advisor  ·  Self-initiated  ·  Completed out of hours in own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libri"/>
              </a:rPr>
              <a:t>The Current State: Paper, Delay,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1274552" cy="2286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548640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1338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MANDATE CHANGES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1115568"/>
            <a:ext cx="1737360" cy="2560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39" y="11155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15–20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481328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  <a:latin typeface="Calibri"/>
              </a:rPr>
              <a:t>Branch visit → paper form → back-office processing → postal confirmation. Each signatory change requires physical presence and wet signature.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00584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005840"/>
            <a:ext cx="548640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1338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BULK PAYMENTS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29800" y="1115568"/>
            <a:ext cx="1737360" cy="2560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11155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No audit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1481328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  <a:latin typeface="Calibri"/>
              </a:rPr>
              <a:t>CSV files emailed, approved by phone call, uploaded via legacy portal. No dual-authorisation, no Confirmation of Payee, no cooling-off.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6616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566160"/>
            <a:ext cx="548640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6941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TAX COMPLIANCE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7639" y="3675887"/>
            <a:ext cx="1737360" cy="2560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367588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Manual &amp; risky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4041648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  <a:latin typeface="Calibri"/>
              </a:rPr>
              <a:t>VAT returns calculated in spreadsheets, copied into HMRC portal. Digital links requirement of MTD missed by 73% of SMEs (HMRC 2025).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356616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3566160"/>
            <a:ext cx="548640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36941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KYC RE-VERIFICATION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3675887"/>
            <a:ext cx="1737360" cy="2560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367588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Branch-only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4041648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  <a:latin typeface="Calibri"/>
              </a:rPr>
              <a:t>Expired signatory ID requires a branch appointment. Average wait: 8 days. No continuous monitoring, no digital ID verification.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636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8102E"/>
                </a:solidFill>
                <a:latin typeface="Calibri"/>
              </a:rPr>
              <a:t>Every one of these problems is solved in the prototype.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01968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8716C"/>
                </a:solidFill>
                <a:latin typeface="Calibri"/>
              </a:rPr>
              <a:t>Business Banking Advisor  ·  Self-initiated  ·  Completed out of hours in own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libri"/>
              </a:rPr>
              <a:t>What We Built: A Fully Functional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1274552" cy="2286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16C"/>
                </a:solidFill>
                <a:latin typeface="Calibri"/>
              </a:rPr>
              <a:t>A single-page React application — running live in any browser, no server, no backend — demonstrating every critical business banking workflow end-to-end.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73152" cy="8046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5636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Home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81965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Balance overview, pending approvals, cooling-off status, RM card, MTD alert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6552" y="1508760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1508760"/>
            <a:ext cx="73152" cy="8046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5636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Signature 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81965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Dual-authorisation with Face ID — sign or reject pending mandates, closures, payments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0184" y="1508760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30184" y="1508760"/>
            <a:ext cx="73152" cy="8046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1352" y="15636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Financial Statements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181965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6 months' transactions, category view, counterparty deep-dive, PDF/CSV/Excel export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441448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441448"/>
            <a:ext cx="73152" cy="8046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249631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Making Tax Digital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275234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HMRC VAT obligations, quarterly submission wizard, ITSA readiness, real-time insights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6552" y="2441448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6552" y="2441448"/>
            <a:ext cx="73152" cy="8046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249631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Audit 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275234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7-year immutable log — FCA SYSC 9 compliant, timestamped, actor-attributed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30184" y="2441448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30184" y="2441448"/>
            <a:ext cx="73152" cy="8046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1352" y="249631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Account Closure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2" y="275234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Multi-step wizard: select → destination → credit check → sign → 24h cooling-off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374136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3374136"/>
            <a:ext cx="73152" cy="8046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34290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Mandate Changes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368503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Add/remove/update signatories with full KYC/KYB, RM escalation, board minutes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16552" y="3374136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16552" y="3374136"/>
            <a:ext cx="73152" cy="8046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20" y="34290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Bulk Payments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368503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Payee book, CoP verification, CSV import, mandate enforcement, scheduling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30184" y="3374136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30184" y="3374136"/>
            <a:ext cx="73152" cy="8046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31352" y="34290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Business Details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31352" y="368503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Address, name, contacts — proof upload, Companies House sync, RM escalation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306824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4306824"/>
            <a:ext cx="73152" cy="8046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" y="43616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ID Register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" y="461772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GOV.UK One Login KYC, List 1/2/3 docs, expiry tracking, continuous re-verification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16552" y="4306824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16552" y="4306824"/>
            <a:ext cx="73152" cy="8046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17720" y="43616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Partner Unreachable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7720" y="461772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Vulnerable customer path: health/contact/deceased/dispute — account restriction, Specialist Team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30184" y="4306824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330184" y="4306824"/>
            <a:ext cx="73152" cy="8046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31352" y="43616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Privacy Controls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31352" y="461772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Personal/business unlink (app + call centre + statements), credit ring-fence, PSD2 audit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601968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8716C"/>
                </a:solidFill>
                <a:latin typeface="Calibri"/>
              </a:rPr>
              <a:t>Business Banking Advisor  ·  Self-initiated  ·  Completed out of hours in own time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C8102E"/>
                </a:solidFill>
                <a:latin typeface="Calibri"/>
              </a:rPr>
              <a:t>"That's My Bank": Privacy Controls &amp; Account Separation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1274552" cy="2286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8716C"/>
                </a:solidFill>
                <a:latin typeface="Calibri"/>
              </a:rPr>
              <a:t>The first UK bank to offer self-service personal/business separation across all channels — app, call centre, credit decisioning, and open banking. In-app. Immediate. Auditable.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THE CURRENT EXPOSURE — 4 CHANNELS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64208"/>
            <a:ext cx="512064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64208"/>
            <a:ext cx="64008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719072"/>
            <a:ext cx="4754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App — co-signatories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975104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716C"/>
                </a:solidFill>
                <a:latin typeface="Calibri"/>
              </a:rPr>
              <a:t>Every director, partner, or trustee on the business profile can see personal account balances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70048"/>
            <a:ext cx="512064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70048"/>
            <a:ext cx="64008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724912"/>
            <a:ext cx="4754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Call centre — CLI lookup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2980944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716C"/>
                </a:solidFill>
                <a:latin typeface="Calibri"/>
              </a:rPr>
              <a:t>Calling from a registered mobile causes the agent's screen to show both personal and business accounts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75888"/>
            <a:ext cx="512064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675888"/>
            <a:ext cx="64008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3730752"/>
            <a:ext cx="4754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Credit decisioning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986784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716C"/>
                </a:solidFill>
                <a:latin typeface="Calibri"/>
              </a:rPr>
              <a:t>Business loan and overdraft assessments can reference personal account history without consent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681728"/>
            <a:ext cx="512064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681728"/>
            <a:ext cx="64008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4736592"/>
            <a:ext cx="4754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Open banking — PSD2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4992624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716C"/>
                </a:solidFill>
                <a:latin typeface="Calibri"/>
              </a:rPr>
              <a:t>Third-party apps granted consent during a product application retain indefinite personal data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135331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THE SEPARATION CONTROLS — SELF-SERVICE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664208"/>
            <a:ext cx="557784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1664208"/>
            <a:ext cx="6400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0216" y="1719072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App unlink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197510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716C"/>
                </a:solidFill>
                <a:latin typeface="Calibri"/>
              </a:rPr>
              <a:t>Personal accounts removed from business view entirely — not hidden, removed. Co-signatories lose access. FCA SYSC 9 audit log written.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670048"/>
            <a:ext cx="557784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2670048"/>
            <a:ext cx="6400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0216" y="2724912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Call centre separation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298094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716C"/>
                </a:solidFill>
                <a:latin typeface="Calibri"/>
              </a:rPr>
              <a:t>Back-office CRM instruction raised in-app. Agents won't see personal accounts when customer calls. Confirmed by letter within 2 working days.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675888"/>
            <a:ext cx="557784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3675888"/>
            <a:ext cx="6400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0216" y="3730752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Credit ring-fence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398678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716C"/>
                </a:solidFill>
                <a:latin typeface="Calibri"/>
              </a:rPr>
              <a:t>GDPR Article 5(1)(c) instruction: personal data excluded from all business credit assessments. Business credit judged on business cash flow only.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4681728"/>
            <a:ext cx="557784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6480" y="4681728"/>
            <a:ext cx="6400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0216" y="4736592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Open banking audit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0216" y="499262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716C"/>
                </a:solidFill>
                <a:latin typeface="Calibri"/>
              </a:rPr>
              <a:t>PSD2 consent registry shows all third-party access. One-tap revocation — third party must stop within 90 seconds. Funding Circle 'full read' surfaced and revokable.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961888"/>
            <a:ext cx="11274552" cy="53035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GDPR Art. 5(1)(c) data minimisation  ·  FCA Consumer Duty PS22/9  ·  PSD2 open banking  ·  FCA SYSC 9 audit  ·  ICO purpose limitation guidance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601968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8716C"/>
                </a:solidFill>
                <a:latin typeface="Calibri"/>
              </a:rPr>
              <a:t>Business Banking Advisor  ·  Self-initiated  ·  Completed out of hours in own time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libri"/>
              </a:rPr>
              <a:t>Feature Deep-Dive: Paperless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1274552" cy="2286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83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917"/>
                </a:solidFill>
                <a:latin typeface="Calibri"/>
              </a:rPr>
              <a:t>MANDATE CHANGE — End-to-End (previously 15–20 days, now minutes)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61872"/>
            <a:ext cx="178308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1. Choose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69164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Add / Remove / Update signatory or change signing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135331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59736" y="1261872"/>
            <a:ext cx="178308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51176" y="126187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2. Personal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2888" y="169164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Name, DOB, email, country of residence, visa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35331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6552" y="1261872"/>
            <a:ext cx="178308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26187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3. KYC 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169164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List 1 photo ID via GOV.UK One Login, List 2 address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35331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3368" y="1261872"/>
            <a:ext cx="178308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126187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4. Trading address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69164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List 3 if trading ≠ residential — lease, bank stmt, FCA reg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135331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30184" y="1261872"/>
            <a:ext cx="178308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21624" y="126187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5. Board minutes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169164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Treasurer accounts: PDF minutes with 2 member signatures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31552" y="135331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87000" y="1261872"/>
            <a:ext cx="178308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78440" y="126187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6. Sign &amp; submit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0152" y="169164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Biometric sign, co-signers notified, cooling-off if needed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423160"/>
            <a:ext cx="11274552" cy="2286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514600"/>
            <a:ext cx="11183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917"/>
                </a:solidFill>
                <a:latin typeface="Calibri"/>
              </a:rPr>
              <a:t>ENTITY-AWARE RULES — 7 business types, each with correct compliance path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2852928"/>
            <a:ext cx="3611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29169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917"/>
                </a:solidFill>
                <a:latin typeface="Calibri"/>
              </a:rPr>
              <a:t>Limited Company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1729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Companies House sync, director mandate, cooling-off on closure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2852928"/>
            <a:ext cx="3611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29169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917"/>
                </a:solidFill>
                <a:latin typeface="Calibri"/>
              </a:rPr>
              <a:t>Registered Charity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31729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Trustee structure, treasurer role, board minutes on all changes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20" y="2852928"/>
            <a:ext cx="3611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29169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917"/>
                </a:solidFill>
                <a:latin typeface="Calibri"/>
              </a:rPr>
              <a:t>Sole Trader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1729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Any-1 mandate, single signature, simplified KYC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657600"/>
            <a:ext cx="3611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7216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917"/>
                </a:solidFill>
                <a:latin typeface="Calibri"/>
              </a:rPr>
              <a:t>Partnership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397763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RM escalation on rename, partnership agreement required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3657600"/>
            <a:ext cx="3611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26280" y="37216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917"/>
                </a:solidFill>
                <a:latin typeface="Calibri"/>
              </a:rPr>
              <a:t>LLP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26280" y="397763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Members register, LLP number, Companies House verification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5320" y="3657600"/>
            <a:ext cx="3611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37216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917"/>
                </a:solidFill>
                <a:latin typeface="Calibri"/>
              </a:rPr>
              <a:t>Club / Society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397763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Committee structure, treasurer, board minutes, FSCS protection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535424"/>
            <a:ext cx="11274552" cy="2286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4645152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  <a:latin typeface="Calibri"/>
              </a:rPr>
              <a:t>COOLING-OFF SYSTEM: 24 working hours with bank-holiday awareness. User can cancel at any time. Progress bar live-updates every 30 seconds. Execution delayed until next business moment after hold expires.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257800"/>
            <a:ext cx="11274552" cy="5943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532180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Forms retired by this prototype:  CA04 (Mandate Change)   ·   CA07 (Account Closure)   ·   CA11 (Business Details)   ·   P17 (New Signatory)   ·   D18 (Dormancy Reactivation)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601968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8716C"/>
                </a:solidFill>
                <a:latin typeface="Calibri"/>
              </a:rPr>
              <a:t>Business Banking Advisor  ·  Self-initiated  ·  Completed out of hours in own time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libri"/>
              </a:rPr>
              <a:t>Feature Deep-Dive: Making Tax Digital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1274552" cy="2286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WHAT THE PROTOTYPE DELIVERS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Live HMRC OAuth connection (VRN + UTR displayed)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VAT obligation dashboard — current quarter, amount due, deadline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4-step quarterly submission wizard (categorise → review → declare → submit)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Auto-categorisation of transactions with confidence scoring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VAT100 box-by-box breakdown with hero 'Net VAT to Pay' figure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ITSA readiness tracking (mandatory from April 2026 for SMEs &gt; £50k)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Year-to-date tax liability estimate with real-time insights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7-year digital records retention — HMRC compliant, audit-ready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8961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MTD COMPLIANCE LANDSCAPE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207008"/>
            <a:ext cx="2468880" cy="12344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316736"/>
            <a:ext cx="22494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801368"/>
            <a:ext cx="2322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ECACA"/>
                </a:solidFill>
                <a:latin typeface="Calibri"/>
              </a:rPr>
              <a:t>of SMEs miss digital
links requirement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1207008"/>
            <a:ext cx="2468880" cy="12344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08007" y="1316736"/>
            <a:ext cx="22494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£15M+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1432" y="1801368"/>
            <a:ext cx="2322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ECACA"/>
                </a:solidFill>
                <a:latin typeface="Calibri"/>
              </a:rPr>
              <a:t>HMRC penalties issued
for MTD non-compliance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624328"/>
            <a:ext cx="2468880" cy="12344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2734056"/>
            <a:ext cx="22494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8.2h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218688"/>
            <a:ext cx="2322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ECACA"/>
                </a:solidFill>
                <a:latin typeface="Calibri"/>
              </a:rPr>
              <a:t>avg. time per VAT return
without MTD software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624328"/>
            <a:ext cx="2468880" cy="12344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7" y="2734056"/>
            <a:ext cx="22494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3218688"/>
            <a:ext cx="2322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ECACA"/>
                </a:solidFill>
                <a:latin typeface="Calibri"/>
              </a:rPr>
              <a:t>to submit VAT return
in this prototype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11274552" cy="2286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050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917"/>
                </a:solidFill>
                <a:latin typeface="Calibri"/>
              </a:rPr>
              <a:t>QUARTERLY SUBMISSION — 4-STEP WIZARD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343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43400"/>
            <a:ext cx="274320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43484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Step 1: Categorise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4773168"/>
            <a:ext cx="254203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Auto-tagged transactions confirmed. Low-confidence items manually split Business/Personal.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4408" y="5047488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47288" y="4343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47288" y="4343400"/>
            <a:ext cx="274320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57016" y="443484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Step 2: Review VAT100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7016" y="4773168"/>
            <a:ext cx="254203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All 9 boxes shown. Box 5 (Net VAT to pay) is hero figure. Reclaim vs. output tax visible.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8776" y="5047488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91656" y="4343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91656" y="4343400"/>
            <a:ext cx="274320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1384" y="443484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Step 3: Declare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1384" y="4773168"/>
            <a:ext cx="254203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Legal responsibility confirmed. HMRC accuracy warning. Checkbox required to proceed.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3144" y="5047488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alibr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36024" y="4343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36024" y="4343400"/>
            <a:ext cx="274320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45752" y="443484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Step 4: Submit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45752" y="4773168"/>
            <a:ext cx="254203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Direct HMRC MTD VAT API v1.0 call. Receipt number in 30 seconds. DD auto-scheduled.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601968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8716C"/>
                </a:solidFill>
                <a:latin typeface="Calibri"/>
              </a:rPr>
              <a:t>Business Banking Advisor  ·  Self-initiated  ·  Completed out of hours in own 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libri"/>
              </a:rPr>
              <a:t>Security, Compliance &amp; Trust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1274552" cy="2286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55778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914400"/>
            <a:ext cx="557784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04241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DUAL-AUTHORISATION (PSR 2017)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371600"/>
            <a:ext cx="52120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78716C"/>
                </a:solidFill>
                <a:latin typeface="Calibri"/>
              </a:rPr>
              <a:t>Three mandate rules: Any-1 · Any-2 · All signatories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78716C"/>
                </a:solidFill>
                <a:latin typeface="Calibri"/>
              </a:rPr>
              <a:t>Strictly enforced per account — account type sets default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78716C"/>
                </a:solidFill>
                <a:latin typeface="Calibri"/>
              </a:rPr>
              <a:t>Multi-sig requests notified via app push + email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78716C"/>
                </a:solidFill>
                <a:latin typeface="Calibri"/>
              </a:rPr>
              <a:t>48-hour window for co-signer before RM escalation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78716C"/>
                </a:solidFill>
                <a:latin typeface="Calibri"/>
              </a:rPr>
              <a:t>Full audit trail of every sign and rejection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914400"/>
            <a:ext cx="55778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914400"/>
            <a:ext cx="557784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04241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KYC/KYB (MLR 2017 / JMLSG)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371600"/>
            <a:ext cx="52120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78716C"/>
                </a:solidFill>
                <a:latin typeface="Calibri"/>
              </a:rPr>
              <a:t>GOV.UK One Login for biometric ID verification (List 1)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78716C"/>
                </a:solidFill>
                <a:latin typeface="Calibri"/>
              </a:rPr>
              <a:t>Address proof &lt; 3 months (List 2), trading address (List 3)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78716C"/>
                </a:solidFill>
                <a:latin typeface="Calibri"/>
              </a:rPr>
              <a:t>Sanctions country screening — auto RM escalation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78716C"/>
                </a:solidFill>
                <a:latin typeface="Calibri"/>
              </a:rPr>
              <a:t>Visitor visa rejection — settled/pre-settled required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78716C"/>
                </a:solidFill>
                <a:latin typeface="Calibri"/>
              </a:rPr>
              <a:t>PEP flagging with MLR 2017 Enhanced Due Diligence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78716C"/>
                </a:solidFill>
                <a:latin typeface="Calibri"/>
              </a:rPr>
              <a:t>Continuous re-verification — expiry dates tracked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547872"/>
            <a:ext cx="55778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547872"/>
            <a:ext cx="557784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3675887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COOLING-OFF (FCA BCOBS 4A)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4005072"/>
            <a:ext cx="52120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78716C"/>
                </a:solidFill>
                <a:latin typeface="Calibri"/>
              </a:rPr>
              <a:t>24 working-hour hold on all Any-1 executed actions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78716C"/>
                </a:solidFill>
                <a:latin typeface="Calibri"/>
              </a:rPr>
              <a:t>Bank-holiday and weekend aware (not calendar hours)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78716C"/>
                </a:solidFill>
                <a:latin typeface="Calibri"/>
              </a:rPr>
              <a:t>Progress bar live-updates — customer sees exact time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78716C"/>
                </a:solidFill>
                <a:latin typeface="Calibri"/>
              </a:rPr>
              <a:t>Customer can cancel at zero cost at any point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78716C"/>
                </a:solidFill>
                <a:latin typeface="Calibri"/>
              </a:rPr>
              <a:t>Execution only after full working-day hold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3547872"/>
            <a:ext cx="55778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547872"/>
            <a:ext cx="557784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3675887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AUDIT &amp; DATA RETENTION (FCA SYSC 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4005072"/>
            <a:ext cx="52120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78716C"/>
                </a:solidFill>
                <a:latin typeface="Calibri"/>
              </a:rPr>
              <a:t>7-year immutable audit log — every action timestamped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78716C"/>
                </a:solidFill>
                <a:latin typeface="Calibri"/>
              </a:rPr>
              <a:t>Actor attribution on every event (initiator + co-signers)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78716C"/>
                </a:solidFill>
                <a:latin typeface="Calibri"/>
              </a:rPr>
              <a:t>HMRC digital records: 6-year minimum for MTD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78716C"/>
                </a:solidFill>
                <a:latin typeface="Calibri"/>
              </a:rPr>
              <a:t>No data mutation post-commit — append-only architecture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78716C"/>
                </a:solidFill>
                <a:latin typeface="Calibri"/>
              </a:rPr>
              <a:t>Export-ready: PDF/CSV per month for compliance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601968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8716C"/>
                </a:solidFill>
                <a:latin typeface="Calibri"/>
              </a:rPr>
              <a:t>Business Banking Advisor  ·  Self-initiated  ·  Completed out of hours in own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libri"/>
              </a:rPr>
              <a:t>Feature Deep-Dive: Financial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1274552" cy="2286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STATEMENTS &amp; TRANSACTION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6 months of transactions across 8 payment methods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Dual view: chronological timeline OR category totals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Method filter: Card · DD · SO · Faster Payments · BACS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Counterparty search — autocomplete to top 5 suppliers/customers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Counterparty detail sheet: transaction history, frequency, totals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Recurring payment notices (DD Guarantee, Standing Order explainer)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Cancel recurring payments direct from statement view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Export: PDF, CSV, Excel — per month — one tap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COUNTERPARTY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2336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Year-to-date totals per supplier/customer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Average transaction size and payment method breakdown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Payment frequency pattern detection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Pin counterparty to home screen for quick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8961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MTD-LINKED TRANSACTION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07008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Auto-categorised against 9 categories (Equipment, Wages, etc.)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Confidence scoring — high/medium/low per transaction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VAT rate applied per transaction (20% standard / 0% exempt)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Low-confidence flagged for Business/Personal split decision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C8102E"/>
                </a:solidFill>
                <a:latin typeface="Calibri"/>
              </a:rPr>
              <a:t>▪  </a:t>
            </a:r>
            <a:r>
              <a:rPr sz="1200">
                <a:solidFill>
                  <a:srgbClr val="1C1917"/>
                </a:solidFill>
                <a:latin typeface="Calibri"/>
              </a:rPr>
              <a:t>Feeds directly into MTD VAT100 calculation — no re-entry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46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YEAR-TO-DATE SUMMARY (Live on MTD Screen)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566160"/>
            <a:ext cx="2468880" cy="107899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3675887"/>
            <a:ext cx="22494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£392,450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4160520"/>
            <a:ext cx="2322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D3D1"/>
                </a:solidFill>
                <a:latin typeface="Calibri"/>
              </a:rPr>
              <a:t>Sales revenue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3566160"/>
            <a:ext cx="2468880" cy="107899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8007" y="3675887"/>
            <a:ext cx="22494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£184,380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1432" y="4160520"/>
            <a:ext cx="2322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D3D1"/>
                </a:solidFill>
                <a:latin typeface="Calibri"/>
              </a:rPr>
              <a:t>Purchases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773168"/>
            <a:ext cx="2468880" cy="107899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4882896"/>
            <a:ext cx="22494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£208,070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5367528"/>
            <a:ext cx="2322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D3D1"/>
                </a:solidFill>
                <a:latin typeface="Calibri"/>
              </a:rPr>
              <a:t>Gross profit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4773168"/>
            <a:ext cx="2468880" cy="107899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7" y="4882896"/>
            <a:ext cx="22494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£41,614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5367528"/>
            <a:ext cx="2322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D3D1"/>
                </a:solidFill>
                <a:latin typeface="Calibri"/>
              </a:rPr>
              <a:t>Estimated tax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12648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8716C"/>
                </a:solidFill>
                <a:latin typeface="Calibri"/>
              </a:rPr>
              <a:t>Real-time tax liability estimate — £41,614 set-aside nudge built into the MTD insights panel.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601968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8716C"/>
                </a:solidFill>
                <a:latin typeface="Calibri"/>
              </a:rPr>
              <a:t>Business Banking Advisor  ·  Self-initiated  ·  Completed out of hours in own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libri"/>
              </a:rPr>
              <a:t>Technical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1274552" cy="2286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CURRENT PROTOTYPE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07008"/>
            <a:ext cx="1463040" cy="5486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React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4831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917"/>
                </a:solidFill>
                <a:latin typeface="Calibri"/>
              </a:rPr>
              <a:t>UI framework — hooks-based, single-component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1463040" cy="5486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Vite + Singlefile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1" y="19933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917"/>
                </a:solidFill>
                <a:latin typeface="Calibri"/>
              </a:rPr>
              <a:t>Zero-dependency build: entire app in one 350KB HTML 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33472"/>
            <a:ext cx="1463040" cy="5486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33472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Tailwind 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1" y="270662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917"/>
                </a:solidFill>
                <a:latin typeface="Calibri"/>
              </a:rPr>
              <a:t>Design system — custom tokens: brand red, warm bg, stone scale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46704"/>
            <a:ext cx="1463040" cy="5486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46704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Lucide Icons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4831" y="341985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917"/>
                </a:solidFill>
                <a:latin typeface="Calibri"/>
              </a:rPr>
              <a:t>Tree-shaken icon set — only used icons in bundle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59936"/>
            <a:ext cx="1463040" cy="5486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59936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Fraunces + Geist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84831" y="413308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917"/>
                </a:solidFill>
                <a:latin typeface="Calibri"/>
              </a:rPr>
              <a:t>Santander editorial + clean body — Google Fonts CDN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773168"/>
            <a:ext cx="1463040" cy="5486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773168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No 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4846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917"/>
                </a:solidFill>
                <a:latin typeface="Calibri"/>
              </a:rPr>
              <a:t>All state client-side — intentional prototype constraint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89611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PRODUCTION ARCHITECTURE — RECOMMENDED PATH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1207008"/>
            <a:ext cx="1600200" cy="50292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12070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API Gateway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2" y="128016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FastAPI or AWS API Gateway — stateless, versioned endpoints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865376"/>
            <a:ext cx="1600200" cy="50292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1865376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2672" y="193852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JWT in HttpOnly Secure SameSite=Strict cookies — no localStorage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523744"/>
            <a:ext cx="1600200" cy="50292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2523744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2672" y="259689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PostgreSQL with read replicas — indexed on account_no, entity_id, 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182112"/>
            <a:ext cx="1600200" cy="50292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3182112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KYC Service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325526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GOV.UK One Login OAuth2 — real-time identity verification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3840480"/>
            <a:ext cx="1600200" cy="50292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0" y="38404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HMRC MTD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62672" y="391363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OAuth 2.0 client credentials — VRN-scoped VAT obligations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498848"/>
            <a:ext cx="1600200" cy="50292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0" y="449884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CoP Service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62672" y="45720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Vocalink Confirmation of Payee API — pre-payment validation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5157216"/>
            <a:ext cx="1600200" cy="50292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5157216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Audit Log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62672" y="523036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Append-only event store — EventBridge + S3 Glacier for 7yr retention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5815584"/>
            <a:ext cx="1600200" cy="50292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0" y="5815584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Notifications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62672" y="588873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917"/>
                </a:solidFill>
                <a:latin typeface="Calibri"/>
              </a:rPr>
              <a:t>SNS/SES for co-signer alerts — push via FCM/APNs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601968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8716C"/>
                </a:solidFill>
                <a:latin typeface="Calibri"/>
              </a:rPr>
              <a:t>Business Banking Advisor  ·  Self-initiated  ·  Completed out of hours in own time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libri"/>
              </a:rPr>
              <a:t>The Business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1274552" cy="2286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COST AVOIDANCE — PER 10,000 BUSINESS CUSTOMERS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2743200" cy="1508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44168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£2.4M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828800"/>
            <a:ext cx="2596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ECACA"/>
                </a:solidFill>
                <a:latin typeface="Calibri"/>
              </a:rPr>
              <a:t>Mandate change
processing cost eliminated
(£240 avg. branch cost × 10k)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7288" y="1234440"/>
            <a:ext cx="2743200" cy="1508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7016" y="1344168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£1.1M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828800"/>
            <a:ext cx="2596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ECACA"/>
                </a:solidFill>
                <a:latin typeface="Calibri"/>
              </a:rPr>
              <a:t>Paper form handling
&amp; postal costs removed
(5 forms avg/customer/yr)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91656" y="1234440"/>
            <a:ext cx="2743200" cy="1508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1344168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£800K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1828800"/>
            <a:ext cx="2596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ECACA"/>
                </a:solidFill>
                <a:latin typeface="Calibri"/>
              </a:rPr>
              <a:t>KYC re-verification
branch visits avoided
(£80 cost per visit)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36024" y="1234440"/>
            <a:ext cx="2743200" cy="1508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5752" y="1344168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£600K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9176" y="1828800"/>
            <a:ext cx="2596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ECACA"/>
                </a:solidFill>
                <a:latin typeface="Calibri"/>
              </a:rPr>
              <a:t>Compliance penalty
risk reduction
(MTD + FCA SYSC 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80360"/>
            <a:ext cx="11274552" cy="2286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9992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REVENUE &amp; RETENTION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310128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C8102E"/>
                </a:solidFill>
                <a:latin typeface="Calibri"/>
              </a:rPr>
              <a:t>▪  </a:t>
            </a:r>
            <a:r>
              <a:rPr sz="1100">
                <a:solidFill>
                  <a:srgbClr val="1C1917"/>
                </a:solidFill>
                <a:latin typeface="Calibri"/>
              </a:rPr>
              <a:t>MTD integrated banking = primary bank stickiness — customers who use tax features churn 60% less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C8102E"/>
                </a:solidFill>
                <a:latin typeface="Calibri"/>
              </a:rPr>
              <a:t>▪  </a:t>
            </a:r>
            <a:r>
              <a:rPr sz="1100">
                <a:solidFill>
                  <a:srgbClr val="1C1917"/>
                </a:solidFill>
                <a:latin typeface="Calibri"/>
              </a:rPr>
              <a:t>Payee book + recurring payments = switching friction — bulk payment users stay 3× longer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C8102E"/>
                </a:solidFill>
                <a:latin typeface="Calibri"/>
              </a:rPr>
              <a:t>▪  </a:t>
            </a:r>
            <a:r>
              <a:rPr sz="1100">
                <a:solidFill>
                  <a:srgbClr val="1C1917"/>
                </a:solidFill>
                <a:latin typeface="Calibri"/>
              </a:rPr>
              <a:t>Digital mandate management opens multi-entity accounts previously abandoned due to complexity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C8102E"/>
                </a:solidFill>
                <a:latin typeface="Calibri"/>
              </a:rPr>
              <a:t>▪  </a:t>
            </a:r>
            <a:r>
              <a:rPr sz="1100">
                <a:solidFill>
                  <a:srgbClr val="1C1917"/>
                </a:solidFill>
                <a:latin typeface="Calibri"/>
              </a:rPr>
              <a:t>KYC via GOV.UK One Login removes the final barrier to fully digital onboarding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992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COMPETITIVE DIFFERENTIATION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310128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1C1917"/>
                </a:solidFill>
                <a:latin typeface="Calibri"/>
              </a:rPr>
              <a:t>No UK business bank offers MTD submission within the banking app today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1C1917"/>
                </a:solidFill>
                <a:latin typeface="Calibri"/>
              </a:rPr>
              <a:t>Cooling-off with working-hours precision exceeds regulatory minimum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1C1917"/>
                </a:solidFill>
                <a:latin typeface="Calibri"/>
              </a:rPr>
              <a:t>7-entity KYC awareness is unique — clubs, charities, LLPs fully supported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1C1917"/>
                </a:solidFill>
                <a:latin typeface="Calibri"/>
              </a:rPr>
              <a:t>First UK bank to offer self-service personal/business separation across all channels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1C1917"/>
                </a:solidFill>
                <a:latin typeface="Calibri"/>
              </a:rPr>
              <a:t>Credit ring-fence: personal financial difficulties cannot affect business credit decisions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669280"/>
            <a:ext cx="11274552" cy="89611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760720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Total addressable saving: £4.9M per 10,000 customers in year one.
With 280,000 Santander business customers, the annualised opportunity exceeds £137M.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601968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8716C"/>
                </a:solidFill>
                <a:latin typeface="Calibri"/>
              </a:rPr>
              <a:t>Business Banking Advisor  ·  Self-initiated  ·  Completed out of hours in own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libri"/>
              </a:rPr>
              <a:t>Roadmap to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1274552" cy="2286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2743200" cy="5394960"/>
          </a:xfrm>
          <a:prstGeom prst="rect">
            <a:avLst/>
          </a:prstGeom>
          <a:solidFill>
            <a:srgbClr val="C8102E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960120"/>
            <a:ext cx="2743200" cy="7315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1
Q3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7276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Customer Research &amp; 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84831"/>
            <a:ext cx="2468880" cy="2286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76272"/>
            <a:ext cx="2468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>
                <a:solidFill>
                  <a:srgbClr val="FECACA"/>
                </a:solidFill>
                <a:latin typeface="Calibri"/>
              </a:rPr>
              <a:t>▪  </a:t>
            </a:r>
            <a:r>
              <a:rPr sz="900">
                <a:solidFill>
                  <a:srgbClr val="FECACA"/>
                </a:solidFill>
                <a:latin typeface="Calibri"/>
              </a:rPr>
              <a:t>User testing on prototype (live now at GitHub Pages)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FECACA"/>
                </a:solidFill>
                <a:latin typeface="Calibri"/>
              </a:rPr>
              <a:t>▪  </a:t>
            </a:r>
            <a:r>
              <a:rPr sz="900">
                <a:solidFill>
                  <a:srgbClr val="FECACA"/>
                </a:solidFill>
                <a:latin typeface="Calibri"/>
              </a:rPr>
              <a:t>10 SME deep-dives across 5 entity types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FECACA"/>
                </a:solidFill>
                <a:latin typeface="Calibri"/>
              </a:rPr>
              <a:t>▪  </a:t>
            </a:r>
            <a:r>
              <a:rPr sz="900">
                <a:solidFill>
                  <a:srgbClr val="FECACA"/>
                </a:solidFill>
                <a:latin typeface="Calibri"/>
              </a:rPr>
              <a:t>HMRC MTD API developer sandbox access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FECACA"/>
                </a:solidFill>
                <a:latin typeface="Calibri"/>
              </a:rPr>
              <a:t>▪  </a:t>
            </a:r>
            <a:r>
              <a:rPr sz="900">
                <a:solidFill>
                  <a:srgbClr val="FECACA"/>
                </a:solidFill>
                <a:latin typeface="Calibri"/>
              </a:rPr>
              <a:t>GOV.UK One Login integration scoping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FECACA"/>
                </a:solidFill>
                <a:latin typeface="Calibri"/>
              </a:rPr>
              <a:t>▪  </a:t>
            </a:r>
            <a:r>
              <a:rPr sz="900">
                <a:solidFill>
                  <a:srgbClr val="FECACA"/>
                </a:solidFill>
                <a:latin typeface="Calibri"/>
              </a:rPr>
              <a:t>Security &amp; accessibility audit (WCAG 2.1 AA)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8" y="960120"/>
            <a:ext cx="2743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102412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1917"/>
                </a:solidFill>
                <a:latin typeface="Calibri"/>
              </a:rPr>
              <a:t>PHASE 2
Q4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157276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1917"/>
                </a:solidFill>
                <a:latin typeface="Calibri"/>
              </a:rPr>
              <a:t>Backend &amp; Integration Build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84448" y="2084831"/>
            <a:ext cx="2468880" cy="22860"/>
          </a:xfrm>
          <a:prstGeom prst="rect">
            <a:avLst/>
          </a:prstGeom>
          <a:solidFill>
            <a:srgbClr val="78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2176272"/>
            <a:ext cx="2468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>
                <a:solidFill>
                  <a:srgbClr val="1C1917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FastAPI backend: accounts, signatories, audit log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1C1917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PostgreSQL schema: entity-aware mandate rules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1C1917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GOV.UK One Login OAuth2 integration (KYC)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1C1917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HMRC MTD VAT API live connection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1C1917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Vocalink CoP API (Confirmation of Payee)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91656" y="960120"/>
            <a:ext cx="2743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102412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1917"/>
                </a:solidFill>
                <a:latin typeface="Calibri"/>
              </a:rPr>
              <a:t>PHASE 3
Q1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157276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1917"/>
                </a:solidFill>
                <a:latin typeface="Calibri"/>
              </a:rPr>
              <a:t>Pilot &amp; Compliance Sign-Off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2084831"/>
            <a:ext cx="2468880" cy="22860"/>
          </a:xfrm>
          <a:prstGeom prst="rect">
            <a:avLst/>
          </a:prstGeom>
          <a:solidFill>
            <a:srgbClr val="78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8816" y="2176272"/>
            <a:ext cx="2468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>
                <a:solidFill>
                  <a:srgbClr val="1C1917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Closed pilot: 500 business customers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1C1917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FCA sandbox notification (BCOBS 4A cooling-off)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1C1917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PCI DSS scope assessment for payment flows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1C1917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Penetration testing + DPIA (GDPR Art. 35)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1C1917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MLR 2017 compliance sign-off (KYC/KYB paths)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36024" y="960120"/>
            <a:ext cx="2743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73184" y="102412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1917"/>
                </a:solidFill>
                <a:latin typeface="Calibri"/>
              </a:rPr>
              <a:t>PHASE 4
Q2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3184" y="157276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1917"/>
                </a:solidFill>
                <a:latin typeface="Calibri"/>
              </a:rPr>
              <a:t>General Availability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73184" y="2084831"/>
            <a:ext cx="2468880" cy="22860"/>
          </a:xfrm>
          <a:prstGeom prst="rect">
            <a:avLst/>
          </a:prstGeom>
          <a:solidFill>
            <a:srgbClr val="78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73184" y="2176272"/>
            <a:ext cx="2468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>
                <a:solidFill>
                  <a:srgbClr val="1C1917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Phased rollout by entity type (limited first)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1C1917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Branch decommission of 5 paper forms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1C1917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Marketing: 'Banking that does your tax'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1C1917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ITSA readiness (mandatory for SMEs Apr 2026)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1C1917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NPS tracking — target +18 points vs. branch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8716C"/>
                </a:solidFill>
                <a:latin typeface="Calibri"/>
              </a:rPr>
              <a:t>Phase 1 is already complete — the prototype is live and ready for user research today.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601968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8716C"/>
                </a:solidFill>
                <a:latin typeface="Calibri"/>
              </a:rPr>
              <a:t>Business Banking Advisor  ·  Self-initiated  ·  Completed out of hours in own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Calibri"/>
              </a:rPr>
              <a:t>Design System &amp; Accessibility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1274552" cy="2286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BRAND COLOUR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07008"/>
            <a:ext cx="45720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25272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  <a:latin typeface="Calibri"/>
              </a:rPr>
              <a:t>#C8102E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4447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Brand red — CTAs, active nav, top bar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10512"/>
            <a:ext cx="457200" cy="457200"/>
          </a:xfrm>
          <a:prstGeom prst="rect">
            <a:avLst/>
          </a:prstGeom>
          <a:solidFill>
            <a:srgbClr val="1C1917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56231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  <a:latin typeface="Calibri"/>
              </a:rPr>
              <a:t>#1C1917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4825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Primary text, dark cards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14016"/>
            <a:ext cx="457200" cy="457200"/>
          </a:xfrm>
          <a:prstGeom prst="rect">
            <a:avLst/>
          </a:prstGeom>
          <a:solidFill>
            <a:srgbClr val="FAF6E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45973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  <a:latin typeface="Calibri"/>
              </a:rPr>
              <a:t>#FAF6EF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65176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Page background — warm off-white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17520"/>
            <a:ext cx="457200" cy="457200"/>
          </a:xfrm>
          <a:prstGeom prst="rect">
            <a:avLst/>
          </a:prstGeom>
          <a:solidFill>
            <a:srgbClr val="D6D3D1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063239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  <a:latin typeface="Calibri"/>
              </a:rPr>
              <a:t>#D6D3D1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255263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Secondary text on dark surfaces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21024"/>
            <a:ext cx="457200" cy="457200"/>
          </a:xfrm>
          <a:prstGeom prst="rect">
            <a:avLst/>
          </a:prstGeom>
          <a:solidFill>
            <a:srgbClr val="FECACA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66674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  <a:latin typeface="Calibri"/>
              </a:rPr>
              <a:t>#FECACA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8587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Accent on red surfaces (red-200)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793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TYPOGRAPHY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6085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Fraunces (serif)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6085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16C"/>
                </a:solidFill>
                <a:latin typeface="Calibri"/>
              </a:rPr>
              <a:t>Editorial headings, large numbers — 'font-display'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0840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Geist Sans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50840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16C"/>
                </a:solidFill>
                <a:latin typeface="Calibri"/>
              </a:rPr>
              <a:t>Body text, labels, navigation — 'font-body'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5595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Geist Mono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55595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16C"/>
                </a:solidFill>
                <a:latin typeface="Calibri"/>
              </a:rPr>
              <a:t>Account numbers, financial figures — tabular-nums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89611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SPACING SCALE (4px base — Tailwind tokens)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2209800"/>
            <a:ext cx="640080" cy="76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23774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C1917"/>
                </a:solidFill>
                <a:latin typeface="Calibri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133600"/>
            <a:ext cx="640080" cy="152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3774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C1917"/>
                </a:solidFill>
                <a:latin typeface="Calibri"/>
              </a:rP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2057400"/>
            <a:ext cx="640080" cy="228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23774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C1917"/>
                </a:solidFill>
                <a:latin typeface="Calibri"/>
              </a:rPr>
              <a:t>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1981199"/>
            <a:ext cx="640080" cy="3048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23774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C1917"/>
                </a:solidFill>
                <a:latin typeface="Calibri"/>
              </a:rPr>
              <a:t>16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0" y="1828800"/>
            <a:ext cx="640080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0" y="23774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C1917"/>
                </a:solidFill>
                <a:latin typeface="Calibri"/>
              </a:rPr>
              <a:t>24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0" y="1676400"/>
            <a:ext cx="640080" cy="609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0" y="23774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C1917"/>
                </a:solidFill>
                <a:latin typeface="Calibri"/>
              </a:rPr>
              <a:t>32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24160" y="1371600"/>
            <a:ext cx="640080" cy="914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24160" y="23774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C1917"/>
                </a:solidFill>
                <a:latin typeface="Calibri"/>
              </a:rPr>
              <a:t>48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247120" y="1066800"/>
            <a:ext cx="640080" cy="1219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47120" y="23774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C1917"/>
                </a:solidFill>
                <a:latin typeface="Calibri"/>
              </a:rPr>
              <a:t>64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2743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ACCESSIBILITY — WCAG 2.1 AA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306324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1C1917"/>
                </a:solidFill>
                <a:latin typeface="Calibri"/>
              </a:rPr>
              <a:t>All interactive elements keyboard-navigable — Tab/Enter/Space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1C1917"/>
                </a:solidFill>
                <a:latin typeface="Calibri"/>
              </a:rPr>
              <a:t>focus-visible:ring on every button, input, and toggle — mouse users unaffected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1C1917"/>
                </a:solidFill>
                <a:latin typeface="Calibri"/>
              </a:rPr>
              <a:t>Colour contrast ≥ 4.5:1 on body text, ≥ 3:1 on large text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1C1917"/>
                </a:solidFill>
                <a:latin typeface="Calibri"/>
              </a:rPr>
              <a:t>Error messages explain HOW to fix (not just that something is wrong)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1C1917"/>
                </a:solidFill>
                <a:latin typeface="Calibri"/>
              </a:rPr>
              <a:t>ARIA labels on icon-only buttons — screen reader safe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C8102E"/>
                </a:solidFill>
                <a:latin typeface="Calibri"/>
              </a:rPr>
              <a:t>▪  </a:t>
            </a:r>
            <a:r>
              <a:rPr sz="1000">
                <a:solidFill>
                  <a:srgbClr val="1C1917"/>
                </a:solidFill>
                <a:latin typeface="Calibri"/>
              </a:rPr>
              <a:t>tabular-nums on all monetary amounts — assistive tech alignment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52120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SHADOW SYSTEM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5559552"/>
            <a:ext cx="1920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96128" y="55778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  <a:latin typeface="Calibri"/>
              </a:rPr>
              <a:t>lift-1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96128" y="57972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  <a:latin typeface="Calibri"/>
              </a:rPr>
              <a:t>List items, inline cards — barely lifted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26679" y="5559552"/>
            <a:ext cx="1920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36407" y="55778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  <a:latin typeface="Calibri"/>
              </a:rPr>
              <a:t>lift-2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36407" y="57972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  <a:latin typeface="Calibri"/>
              </a:rPr>
              <a:t>Primary cards, panels — clearly lifted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66960" y="5559552"/>
            <a:ext cx="1920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76688" y="55778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  <a:latin typeface="Calibri"/>
              </a:rPr>
              <a:t>lift-hero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76688" y="57972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716C"/>
                </a:solidFill>
                <a:latin typeface="Calibri"/>
              </a:rPr>
              <a:t>Balance card only — dramatic depth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601968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8716C"/>
                </a:solidFill>
                <a:latin typeface="Calibri"/>
              </a:rPr>
              <a:t>Business Banking Advisor  ·  Self-initiated  ·  Completed out of hours in own time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D3D1"/>
                </a:solidFill>
                <a:latin typeface="Calibri"/>
              </a:rPr>
              <a:t>Three decisions to unlock Phase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61872"/>
            <a:ext cx="10725912" cy="228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640080" cy="12344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463040"/>
            <a:ext cx="9994392" cy="1234440"/>
          </a:xfrm>
          <a:prstGeom prst="rect">
            <a:avLst/>
          </a:prstGeom>
          <a:solidFill>
            <a:srgbClr val="2C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27632" y="155448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APPROVE USER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1920240"/>
            <a:ext cx="9784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3D1"/>
                </a:solidFill>
                <a:latin typeface="Calibri"/>
              </a:rPr>
              <a:t>Allocate 2 weeks and 10 SME participants for prototype testing. The prototype is live now — no additional build cost. Research focus: mandate complexity, MTD flow, mobile vs. desktop preference.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71800"/>
            <a:ext cx="640080" cy="12344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2971800"/>
            <a:ext cx="9994392" cy="1234440"/>
          </a:xfrm>
          <a:prstGeom prst="rect">
            <a:avLst/>
          </a:prstGeom>
          <a:solidFill>
            <a:srgbClr val="2C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306324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COMMISSION TECHNICAL SCOPING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3429000"/>
            <a:ext cx="9784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3D1"/>
                </a:solidFill>
                <a:latin typeface="Calibri"/>
              </a:rPr>
              <a:t>Engage Architecture &amp; Engineering to scope the FastAPI backend, GOV.UK One Login OAuth2 integration, and HMRC MTD API sandbox access. Estimated 4-week scoping exercise with a T-shirt sizing output.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80560"/>
            <a:ext cx="640080" cy="12344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4480560"/>
            <a:ext cx="9994392" cy="1234440"/>
          </a:xfrm>
          <a:prstGeom prst="rect">
            <a:avLst/>
          </a:prstGeom>
          <a:solidFill>
            <a:srgbClr val="2C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457200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BRIEF LEGAL &amp;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4937760"/>
            <a:ext cx="9784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3D1"/>
                </a:solidFill>
                <a:latin typeface="Calibri"/>
              </a:rPr>
              <a:t>FCA BCOBS 4A (cooling-off), MLR 2017 (KYC/KYB paths), HMRC MTD obligations, and GDPR Art. 35 DPIA. Prototype documentation and audit logs available for review immediately.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035040"/>
            <a:ext cx="10725912" cy="5943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Prototype live now:  imscots-ui.github.io/santander   ·   No install, no login, any device   ·   Alan Davidson · Alan.Davidson@santander.co.uk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080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ECACA"/>
                </a:solidFill>
                <a:latin typeface="Calibri"/>
              </a:rPr>
              <a:t>Business Banking Advisor  ·  Self-initiated  ·  Completed entirely out of hours in own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