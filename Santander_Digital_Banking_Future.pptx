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1148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09360"/>
            <a:ext cx="12188952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Santander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47472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CACA"/>
                </a:solidFill>
                <a:latin typeface="Calibri"/>
              </a:rPr>
              <a:t>Business Banking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463040"/>
            <a:ext cx="999439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D6D3D1"/>
                </a:solidFill>
                <a:latin typeface="Calibri"/>
              </a:rPr>
              <a:t>The Future of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2103120"/>
            <a:ext cx="999439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Business Banking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520440"/>
            <a:ext cx="999439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D6D3D1"/>
                </a:solidFill>
                <a:latin typeface="Calibri"/>
              </a:rPr>
              <a:t>A prototype-proven vision for the digital era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4206240"/>
            <a:ext cx="395935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480560"/>
            <a:ext cx="99943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78716C"/>
                </a:solidFill>
                <a:latin typeface="Calibri"/>
              </a:rPr>
              <a:t>Alan Davidson  ·  Santander Business Banking  ·  June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00600"/>
            <a:ext cx="999439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78716C"/>
                </a:solidFill>
                <a:latin typeface="Calibri"/>
              </a:rPr>
              <a:t>Prototype live at  imscots-ui.github.io/santander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5230368"/>
            <a:ext cx="5788152" cy="65836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0" y="5266944"/>
            <a:ext cx="5788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BUSINESS BANKING ADVISOR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5550408"/>
            <a:ext cx="57881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Self-initiated  ·  Completed out of hours  ·  Own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Executive 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THE OPPORTUNITY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Business customers complete 40+ forms annually on paper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Mandate changes take 15–20 days end-to-end via branch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MTD compliance is manual, error-prone and audit-risky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Bulk payment authorisation has no digital audit trail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KYC re-verification relies on branch visits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Zero real-time visibility into tax position or liability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9144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WHAT THE PROTOTYPE PROVES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234440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6 end-to-end paperless workflows — fully functional today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Mandate changes completed in minutes, not weeks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HMRC MTD VAT submission in 4 guided steps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KYC/KYB via GOV.UK One Login — no branch visit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24-hour cooling-off with working-hours precision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7-year FCA SYSC 9 compliant audit trail built-in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Paperless workflows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3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8716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50591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Business entity types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5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6168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Approval rule tiers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26479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36207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24h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9631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Cooling-off precision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0100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10727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7yr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7415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Audit retention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875520" y="5029200"/>
            <a:ext cx="1737360" cy="1371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85248" y="5138928"/>
            <a:ext cx="151790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48672" y="5623560"/>
            <a:ext cx="159105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 forms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The Current State: Paper, Delay, Risk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0058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00584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977639" y="1115568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77639" y="1115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15–20 days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148132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Branch visit → paper form → back-office processing → postal confirmation. Each signatory change requires physical presence and wet signature.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55080" y="100584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55080" y="100584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9672" y="113385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BULK PAYMENTS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29800" y="1115568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29800" y="1115568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 audit trail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9672" y="148132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CSV files emailed, approved by phone call, uploaded via legacy portal. No dual-authorisation, no Confirmation of Payee, no cooling-off.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661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6616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" y="36941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TAX COMPLIANCE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77639" y="3675887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39" y="36758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Manual &amp; risky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04164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VAT returns calculated in spreadsheets, copied into HMRC portal. Digital links requirement of MTD missed by 73% of SMEs (HMRC 2025).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55080" y="3566160"/>
            <a:ext cx="54864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55080" y="3566160"/>
            <a:ext cx="54864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9672" y="3694176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KYC RE-VERIFICATION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829800" y="3675887"/>
            <a:ext cx="1737360" cy="25603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829800" y="3675887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Branch-only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19672" y="4041648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Expired signatory ID requires a branch appointment. Average wait: 8 days. No continuous monitoring, no digital ID verification.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263640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8102E"/>
                </a:solidFill>
                <a:latin typeface="Calibri"/>
              </a:rPr>
              <a:t>Every one of these problems is solved in the prototype.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What We Built: A Fully Functional Prototype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6868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78716C"/>
                </a:solidFill>
                <a:latin typeface="Calibri"/>
              </a:rPr>
              <a:t>A single-page React application — running live in any browser, no server, no backend — demonstrating every critical business banking workflow end-to-end.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08760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15636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Home Dashboard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1819656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Balance overview, pending approvals, cooling-off status, RM card, MTD alert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508760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508760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6248" y="156362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Signature Queue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6248" y="1819656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Dual-authorisation with Face ID — sign or reject pending mandates, closures, payments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441448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02920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" y="249631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Financial Statements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" y="2752344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6 months' transactions, category view, counterparty deep-dive, PDF/CSV/Excel export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2441448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2441448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56248" y="249631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Making Tax Digital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2752344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HMRC VAT obligations, quarterly submission wizard, ITSA readiness, real-time insights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374136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088" y="34290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Audit Trail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" y="368503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7-year immutable log — FCA SYSC 9 compliant, timestamped, actor-attributed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3374136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355080" y="3374136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56248" y="342900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Account Closure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56248" y="3685032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Multi-step wizard: select → destination → credit check → sign → 24h cooling-off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306824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088" y="43616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" y="46177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Add/remove/update signatories with full KYC/KYB, RM escalation, board minutes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4306824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55080" y="4306824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56248" y="43616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Bulk Payments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56248" y="4617720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Payee book, CoP verification, CSV import, mandate enforcement, scheduling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239512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2920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4088" y="529437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Business Details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" y="5550408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Address, name, contacts — proof upload, Companies House sync, RM escalation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355080" y="5239512"/>
            <a:ext cx="5486400" cy="8046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355080" y="5239512"/>
            <a:ext cx="73152" cy="80467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56248" y="529437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ID Register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56248" y="5550408"/>
            <a:ext cx="51206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GOV.UK One Login KYC, List 1/2/3 docs, expiry tracking, continuous re-verification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Paperless Workflows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MANDATE CHANGE — End-to-End (previously 15–20 days, now minutes)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1. Choose action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Add / Remove / Update signatory or change signing rule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04288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59736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51176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2. Personal details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32888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Name, DOB, email, country of residence, visa status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1104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16552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07992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3. KYC documents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9704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List 1 photo ID via GOV.UK One Login, List 2 address proof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3368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4807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4. Trading address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List 3 if trading ≠ residential — lease, bank stmt, FCA reg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74736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330184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21624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5. Board minutes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03336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Treasurer accounts: PDF minutes with 2 member signatures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31552" y="1353312"/>
            <a:ext cx="182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287000" y="1261872"/>
            <a:ext cx="1783080" cy="384048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378440" y="1261872"/>
            <a:ext cx="1691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6. Sign &amp; submit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60152" y="1691640"/>
            <a:ext cx="1691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Biometric sign, co-signers notified, cooling-off if needed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242316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2514600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ENTITY-AWARE RULES — 7 business types, each with correct compliance path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Limited Company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Companies House sync, director mandate, cooling-off on closure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891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262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Registered Charity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Trustee structure, treasurer role, board minutes on all changes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2852928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412480" y="29169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Sole Trader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172968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Any-1 mandate, single signature, simplified KYC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Partnership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RM escalation on rename, partnership agreement required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3891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262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LLP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262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Members register, LLP number, Companies House verification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75320" y="3657600"/>
            <a:ext cx="361188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12480" y="37216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Club / Society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12480" y="3977639"/>
            <a:ext cx="3383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Committee structure, treasurer, board minutes, FSCS protection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4535424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645152"/>
            <a:ext cx="111831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8716C"/>
                </a:solidFill>
                <a:latin typeface="Calibri"/>
              </a:rPr>
              <a:t>COOLING-OFF SYSTEM: 24 working hours with bank-holiday awareness. User can cancel at any time. Progress bar live-updates every 30 seconds. Execution delayed until next business moment after hold expires.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5257800"/>
            <a:ext cx="11274552" cy="594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" y="5321808"/>
            <a:ext cx="109728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Forms retired by this prototype:  CA04 (Mandate Change)   ·   CA07 (Account Closure)   ·   CA11 (Business Details)   ·   P17 (New Signatory)   ·   D18 (Dormancy Reactivation)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Making Tax Digital Integration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WHAT THE PROTOTYPE DELIVERS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Live HMRC OAuth connection (VRN + UTR displayed)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 obligation dashboard — current quarter, amount due, deadline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4-step quarterly submission wizard (categorise → review → declare → submit)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Auto-categorisation of transactions with confidence scoring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VAT100 box-by-box breakdown with hero 'Net VAT to Pay' figure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ITSA readiness tracking (mandatory from April 2026 for SMEs &gt; £50k)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Year-to-date tax liability estimate with real-time insights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7-year digital records retention — HMRC compliant, audit-ready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896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MTD COMPLIANCE LANDSCAPE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120700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31673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73%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3952" y="180136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of SMEs miss digital
links requirement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098280" y="120700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08007" y="131673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£15M+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1432" y="180136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HMRC penalties issued
for MTD non-compliance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62432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10528" y="273405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8.2h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321868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avg. time per VAT return
without MTD software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98280" y="2624328"/>
            <a:ext cx="24688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08007" y="273405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4 steps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71432" y="321868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to submit VAT return
in this prototype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88620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00507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1917"/>
                </a:solidFill>
                <a:latin typeface="Calibri"/>
              </a:rPr>
              <a:t>QUARTERLY SUBMISSION — 4-STEP WIZARD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1: Categorise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Auto-tagged transactions confirmed. Low-confidence items manually split Business/Personal.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4408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447288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47288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57016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2: Review VAT100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57016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All 9 boxes shown. Box 5 (Net VAT to pay) is hero figure. Reclaim vs. output tax visible.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91656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01384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3: Declare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01384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Legal responsibility confirmed. HMRC accuracy warning. Checkbox required to proceed.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53144" y="5047488"/>
            <a:ext cx="2011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8102E"/>
                </a:solidFill>
                <a:latin typeface="Calibri"/>
              </a:rPr>
              <a:t>→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336024" y="4343400"/>
            <a:ext cx="27432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336024" y="4343400"/>
            <a:ext cx="274320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445752" y="4434840"/>
            <a:ext cx="252374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Step 4: Submit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45752" y="4773168"/>
            <a:ext cx="2542032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Direct HMRC MTD VAT API v1.0 call. Receipt number in 30 seconds. DD auto-scheduled.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Security, Compliance &amp; Trust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DUAL-AUTHORISATION (PSR 2017)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Three mandate rules: Any-1 · Any-2 · All signatories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Strictly enforced per account — account type sets default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Multi-sig requests notified via app push + email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48-hour window for co-signer before RM escalation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Full audit trail of every sign and rejection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914400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914400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9672" y="104241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KYC/KYB (MLR 2017 / JMLSG)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19672" y="1371600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GOV.UK One Login for biometric ID verification (List 1)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Address proof &lt; 3 months (List 2), trading address (List 3)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Sanctions country screening — auto RM escalation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Visitor visa rejection — settled/pre-settled required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PEP flagging with MLR 2017 Enhanced Due Diligence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Continuous re-verification — expiry dates tracked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0292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51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COOLING-OFF (FCA BCOBS 4A)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24 working-hour hold on all Any-1 executed actions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Bank-holiday and weekend aware (not calendar hours)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Progress bar live-updates — customer sees exact time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Customer can cancel at zero cost at any point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Execution only after full working-day hold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55080" y="3547872"/>
            <a:ext cx="557784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55080" y="3547872"/>
            <a:ext cx="5577840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9672" y="3675887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AUDIT &amp; DATA RETENTION (FCA SYSC 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9672" y="4005072"/>
            <a:ext cx="52120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7-year immutable audit log — every action timestamped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Actor attribution on every event (initiator + co-signers)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HMRC digital records: 6-year minimum for MTD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No data mutation post-commit — append-only architecture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78716C"/>
                </a:solidFill>
                <a:latin typeface="Calibri"/>
              </a:rPr>
              <a:t>Export-ready: PDF/CSV per month for compliance 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Feature Deep-Dive: Financial Intelligence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STATEMENTS &amp; TRANSACTION INTELLIGENCE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6 months of transactions across 8 payment methods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Dual view: chronological timeline OR category totals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Method filter: Card · DD · SO · Faster Payments · BACS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Counterparty search — autocomplete to top 5 suppliers/customers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Counterparty detail sheet: transaction history, frequency, totals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Recurring payment notices (DD Guarantee, Standing Order explainer)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Cancel recurring payments direct from statement view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Export: PDF, CSV, Excel — per month — one tap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COUNTERPARTY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023360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Year-to-date totals per supplier/customer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Average transaction size and payment method breakdown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Payment frequency pattern detection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Pin counterparty to home screen for quick access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89611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MTD-LINKED TRANSACTION INSIGHTS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207008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Auto-categorised against 9 categories (Equipment, Wages, etc.)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Confidence scoring — high/medium/low per transaction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VAT rate applied per transaction (20% standard / 0% exempt)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Low-confidence flagged for Business/Personal split decision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C8102E"/>
                </a:solidFill>
                <a:latin typeface="Calibri"/>
              </a:rPr>
              <a:t>▪  </a:t>
            </a:r>
            <a:r>
              <a:rPr sz="1200">
                <a:solidFill>
                  <a:srgbClr val="1C1917"/>
                </a:solidFill>
                <a:latin typeface="Calibri"/>
              </a:rPr>
              <a:t>Feeds directly into MTD VAT100 calculation — no re-entry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4612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YEAR-TO-DATE SUMMARY (Live on MTD Screen)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0" y="3566160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10528" y="3675887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£392,450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3952" y="4160520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Sales revenue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98280" y="3566160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08007" y="3675887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£184,380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71432" y="4160520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Purchases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773168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10528" y="488289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£208,070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3952" y="536752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Gross profit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98280" y="4773168"/>
            <a:ext cx="2468880" cy="107899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7" y="4882896"/>
            <a:ext cx="22494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£41,614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1432" y="5367528"/>
            <a:ext cx="232257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D6D3D1"/>
                </a:solidFill>
                <a:latin typeface="Calibri"/>
              </a:rPr>
              <a:t>Estimated tax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126480"/>
            <a:ext cx="1118311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78716C"/>
                </a:solidFill>
                <a:latin typeface="Calibri"/>
              </a:rPr>
              <a:t>Real-time tax liability estimate — £41,614 set-aside nudge built into the MTD insights panel.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Technical Architecture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CURRENT PROTOTYPE STACK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0700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React 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4831" y="128016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UI framework — hooks-based, single-component architecture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20240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40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Vite + Singlefile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4831" y="1993392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Zero-dependency build: entire app in one 350KB HTML file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633472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633472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Tailwind CSS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4831" y="2706624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Design system — custom tokens: brand red, warm bg, stone scale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346704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46704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Lucide Icons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84831" y="3419856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Tree-shaken icon set — only used icons in bundle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059936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4059936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Fraunces + Geist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84831" y="4133088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Santander editorial + clean body — Google Fonts CDN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773168"/>
            <a:ext cx="146304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773168"/>
            <a:ext cx="1463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No backend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4831" y="48463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C1917"/>
                </a:solidFill>
                <a:latin typeface="Calibri"/>
              </a:rPr>
              <a:t>All state client-side — intentional prototype constraint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0" y="89611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PRODUCTION ARCHITECTURE — RECOMMENDED PATH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43600" y="1207008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0" y="120700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API Gateway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62672" y="128016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FastAPI or AWS API Gateway — stateless, versioned endpoints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0" y="1865376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0" y="1865376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62672" y="193852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JWT in HttpOnly Secure SameSite=Strict cookies — no localStorage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2523744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0" y="2523744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Database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62672" y="259689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PostgreSQL with read replicas — indexed on account_no, entity_id,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3182112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0" y="3182112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KYC Service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662672" y="3255264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GOV.UK One Login OAuth2 — real-time identity verification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3600" y="3840480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943600" y="3840480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HMRC MTD API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62672" y="3913632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OAuth 2.0 client credentials — VRN-scoped VAT obligations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4498848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0" y="4498848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CoP Service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62672" y="4572000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Vocalink Confirmation of Payee API — pre-payment validation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43600" y="5157216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5157216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Audit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662672" y="5230368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Append-only event store — EventBridge + S3 Glacier for 7yr retention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5815584"/>
            <a:ext cx="1600200" cy="50292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5815584"/>
            <a:ext cx="1600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Notifications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62672" y="5888736"/>
            <a:ext cx="4114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C1917"/>
                </a:solidFill>
                <a:latin typeface="Calibri"/>
              </a:rPr>
              <a:t>SNS/SES for co-signer alerts — push via FCM/APNs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The Business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COST AVOIDANCE — PER 10,000 BUSINESS CUSTOMERS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8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£2.4M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Mandate change
processing cost eliminated
(£240 avg. branch cost × 10k)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47288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57016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£1.1M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Paper form handling
&amp; postal costs removed
(5 forms avg/customer/yr)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91656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01384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£800K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KYC re-verification
branch visits avoided
(£80 cost per visit)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36024" y="1234440"/>
            <a:ext cx="2743200" cy="15087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1344168"/>
            <a:ext cx="252374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£600K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09176" y="1828800"/>
            <a:ext cx="2596896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ECACA"/>
                </a:solidFill>
                <a:latin typeface="Calibri"/>
              </a:rPr>
              <a:t>Compliance penalty
risk reduction
(MTD + FCA SYSC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80360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99923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REVENUE &amp; RETENTION OPPORTUNITY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3310128"/>
            <a:ext cx="54864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MTD integrated banking = primary bank stickiness — customers who use tax features churn 60% less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Payee book + recurring payments = switching friction — bulk payment users stay 3× longer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Digital mandate management opens multi-entity accounts previously abandoned due to complexity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KYC via GOV.UK One Login removes the final barrier to fully digital onboarding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99923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COMPETITIVE DIFFERENTIATION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310128"/>
            <a:ext cx="530352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No UK business bank offers MTD submission within the banking app today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Cooling-off with working-hours precision exceeds regulatory minimum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7-entity KYC awareness is unique — clubs, charities, LLPs fully supported</a:t>
            </a:r>
          </a:p>
          <a:p>
            <a:pPr>
              <a:spcAft>
                <a:spcPts val="500"/>
              </a:spcAft>
            </a:pPr>
            <a:r>
              <a:rPr sz="1100">
                <a:solidFill>
                  <a:srgbClr val="C8102E"/>
                </a:solidFill>
                <a:latin typeface="Calibri"/>
              </a:rPr>
              <a:t>▪  </a:t>
            </a:r>
            <a:r>
              <a:rPr sz="1100">
                <a:solidFill>
                  <a:srgbClr val="1C1917"/>
                </a:solidFill>
                <a:latin typeface="Calibri"/>
              </a:rPr>
              <a:t>Single-file portability: prototype runs on any device, no install required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669280"/>
            <a:ext cx="11274552" cy="89611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5760720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Total addressable saving: £4.9M per 10,000 customers in year one.
With 280,000 Santander business customers, the annualised opportunity exceeds £137M.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Roadmap to Production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960120"/>
            <a:ext cx="2743200" cy="5394960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960120"/>
            <a:ext cx="2743200" cy="73152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PHASE 1
Q3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Customer Research &amp; Validation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84831"/>
            <a:ext cx="2468880" cy="22860"/>
          </a:xfrm>
          <a:prstGeom prst="rect">
            <a:avLst/>
          </a:prstGeom>
          <a:solidFill>
            <a:srgbClr val="FECAC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User testing on prototype (live now at GitHub Pages)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10 SME deep-dives across 5 entity types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HMRC MTD API developer sandbox access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GOV.UK One Login integration scoping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FECACA"/>
                </a:solidFill>
                <a:latin typeface="Calibri"/>
              </a:rPr>
              <a:t>▪  </a:t>
            </a:r>
            <a:r>
              <a:rPr sz="900">
                <a:solidFill>
                  <a:srgbClr val="FECACA"/>
                </a:solidFill>
                <a:latin typeface="Calibri"/>
              </a:rPr>
              <a:t>Security &amp; accessibility audit (WCAG 2.1 AA)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47288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448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2
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Backend &amp; Integration Build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84448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84448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FastAPI backend: accounts, signatories, audit log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PostgreSQL schema: entity-aware mandate rules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GOV.UK One Login OAuth2 integration (KYC)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HMRC MTD VAT API live connection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Vocalink CoP API (Confirmation of Payee)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1656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28816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3
Q1 2027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8816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Pilot &amp; Compliance Sign-Off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28816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28816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Closed pilot: 500 business customers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FCA sandbox notification (BCOBS 4A cooling-off)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PCI DSS scope assessment for payment flows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Penetration testing + DPIA (GDPR Art. 35)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MLR 2017 compliance sign-off (KYC/KYB paths)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36024" y="960120"/>
            <a:ext cx="2743200" cy="5394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73184" y="1024128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1C1917"/>
                </a:solidFill>
                <a:latin typeface="Calibri"/>
              </a:rPr>
              <a:t>PHASE 4
Q2 2027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73184" y="1572768"/>
            <a:ext cx="24688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C1917"/>
                </a:solidFill>
                <a:latin typeface="Calibri"/>
              </a:rPr>
              <a:t>General Availability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73184" y="2084831"/>
            <a:ext cx="2468880" cy="22860"/>
          </a:xfrm>
          <a:prstGeom prst="rect">
            <a:avLst/>
          </a:prstGeom>
          <a:solidFill>
            <a:srgbClr val="7871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473184" y="2176272"/>
            <a:ext cx="246888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Phased rollout by entity type (limited first)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Branch decommission of 5 paper forms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Marketing: 'Banking that does your tax'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ITSA readiness (mandatory for SMEs Apr 2026)</a:t>
            </a:r>
          </a:p>
          <a:p>
            <a:pPr>
              <a:spcAft>
                <a:spcPts val="500"/>
              </a:spcAft>
            </a:pPr>
            <a:r>
              <a:rPr sz="900">
                <a:solidFill>
                  <a:srgbClr val="1C1917"/>
                </a:solidFill>
                <a:latin typeface="Calibri"/>
              </a:rPr>
              <a:t>▪  </a:t>
            </a:r>
            <a:r>
              <a:rPr sz="900">
                <a:solidFill>
                  <a:srgbClr val="78716C"/>
                </a:solidFill>
                <a:latin typeface="Calibri"/>
              </a:rPr>
              <a:t>NPS tracking — target +18 points vs. branch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73952"/>
            <a:ext cx="1118311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716C"/>
                </a:solidFill>
                <a:latin typeface="Calibri"/>
              </a:rPr>
              <a:t>Phase 1 is already complete — the prototype is live and ready for user research today.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AF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C8102E"/>
                </a:solidFill>
                <a:latin typeface="Calibri"/>
              </a:rPr>
              <a:t>Design System &amp; Accessibility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49808"/>
            <a:ext cx="11274552" cy="22860"/>
          </a:xfrm>
          <a:prstGeom prst="rect">
            <a:avLst/>
          </a:prstGeom>
          <a:solidFill>
            <a:srgbClr val="D6D3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BRAND COLOUR SYSTEM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207008"/>
            <a:ext cx="457200" cy="457200"/>
          </a:xfrm>
          <a:prstGeom prst="rect">
            <a:avLst/>
          </a:prstGeom>
          <a:solidFill>
            <a:srgbClr val="C8102E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252728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#C8102E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1444752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Brand red — CTAs, active nav, top bar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810512"/>
            <a:ext cx="457200" cy="457200"/>
          </a:xfrm>
          <a:prstGeom prst="rect">
            <a:avLst/>
          </a:prstGeom>
          <a:solidFill>
            <a:srgbClr val="1C1917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1856231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#1C1917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048256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Primary text, dark cards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414016"/>
            <a:ext cx="457200" cy="457200"/>
          </a:xfrm>
          <a:prstGeom prst="rect">
            <a:avLst/>
          </a:prstGeom>
          <a:solidFill>
            <a:srgbClr val="FAF6E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45973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#FAF6EF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65176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Page background — warm off-white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017520"/>
            <a:ext cx="457200" cy="457200"/>
          </a:xfrm>
          <a:prstGeom prst="rect">
            <a:avLst/>
          </a:prstGeom>
          <a:solidFill>
            <a:srgbClr val="D6D3D1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063239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#D6D3D1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255263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Secondary text on dark surfaces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621024"/>
            <a:ext cx="457200" cy="457200"/>
          </a:xfrm>
          <a:prstGeom prst="rect">
            <a:avLst/>
          </a:prstGeom>
          <a:solidFill>
            <a:srgbClr val="FECACA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3666744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1917"/>
                </a:solidFill>
                <a:latin typeface="Calibri"/>
              </a:rPr>
              <a:t>#FECACA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3858768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78716C"/>
                </a:solidFill>
                <a:latin typeface="Calibri"/>
              </a:rPr>
              <a:t>Accent on red surfaces (red-200)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4279392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TYPOGRAPHY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08576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Fraunces (serif)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608576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Editorial headings, large numbers — 'font-display'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508406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Geist Sans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06040" y="5084064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Body text, labels, navigation — 'font-body'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5595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C1917"/>
                </a:solidFill>
                <a:latin typeface="Calibri"/>
              </a:rPr>
              <a:t>Geist Mono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5559552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8716C"/>
                </a:solidFill>
                <a:latin typeface="Calibri"/>
              </a:rPr>
              <a:t>Account numbers, financial figures — tabular-nums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896112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SPACING SCALE (4px base — Tailwind tokens)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0" y="2209800"/>
            <a:ext cx="640080" cy="76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2133600"/>
            <a:ext cx="640080" cy="152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0" y="2057400"/>
            <a:ext cx="640080" cy="228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955279" y="1981199"/>
            <a:ext cx="640080" cy="3048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955279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16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78240" y="1828800"/>
            <a:ext cx="640080" cy="457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77824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24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0" y="1676400"/>
            <a:ext cx="640080" cy="6096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60120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32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424160" y="1371600"/>
            <a:ext cx="640080" cy="9144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42416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48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247120" y="1066800"/>
            <a:ext cx="640080" cy="12192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247120" y="2377440"/>
            <a:ext cx="6400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1C1917"/>
                </a:solidFill>
                <a:latin typeface="Calibri"/>
              </a:rPr>
              <a:t>64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486400" y="27432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ACCESSIBILITY — WCAG 2.1 AA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0" y="3063240"/>
            <a:ext cx="640080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All interactive elements keyboard-navigable — Tab/Enter/Space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focus-visible:ring on every button, input, and toggle — mouse users unaffected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Colour contrast ≥ 4.5:1 on body text, ≥ 3:1 on large text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Error messages explain HOW to fix (not just that something is wrong)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ARIA labels on icon-only buttons — screen reader safe</a:t>
            </a:r>
          </a:p>
          <a:p>
            <a:pPr>
              <a:spcAft>
                <a:spcPts val="500"/>
              </a:spcAft>
            </a:pPr>
            <a:r>
              <a:rPr sz="1000">
                <a:solidFill>
                  <a:srgbClr val="C8102E"/>
                </a:solidFill>
                <a:latin typeface="Calibri"/>
              </a:rPr>
              <a:t>▪  </a:t>
            </a:r>
            <a:r>
              <a:rPr sz="1000">
                <a:solidFill>
                  <a:srgbClr val="1C1917"/>
                </a:solidFill>
                <a:latin typeface="Calibri"/>
              </a:rPr>
              <a:t>tabular-nums on all monetary amounts — assistive tech alignment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0" y="521208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78716C"/>
                </a:solidFill>
                <a:latin typeface="Calibri"/>
              </a:rPr>
              <a:t>SHADOW SYSTEM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486400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596128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lift-1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96128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List items, inline cards — barely lifted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26679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836407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36407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Primary cards, panels — clearly lifted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966960" y="5559552"/>
            <a:ext cx="192024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3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076688" y="5577840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8102E"/>
                </a:solidFill>
                <a:latin typeface="Calibri"/>
              </a:rPr>
              <a:t>lift-hero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076688" y="5797296"/>
            <a:ext cx="17373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78716C"/>
                </a:solidFill>
                <a:latin typeface="Calibri"/>
              </a:rPr>
              <a:t>Balance card only — dramatic depth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6601968"/>
            <a:ext cx="10515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78716C"/>
                </a:solidFill>
                <a:latin typeface="Calibri"/>
              </a:rPr>
              <a:t>Business Banking Advisor  ·  Self-initiated  ·  Completed out of hours in own time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C19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3657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Calibri"/>
              </a:rPr>
              <a:t>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822960"/>
            <a:ext cx="107259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D6D3D1"/>
                </a:solidFill>
                <a:latin typeface="Calibri"/>
              </a:rPr>
              <a:t>Three decisions to unlock Phase 2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261872"/>
            <a:ext cx="10725912" cy="228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146304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463040" y="146304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27632" y="155448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APPROVE USER 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27632" y="192024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Allocate 2 weeks and 10 SME participants for prototype testing. The prototype is live now — no additional build cost. Research focus: mandate complexity, MTD flow, mobile vs. desktop preference.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97180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29184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63040" y="297180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27632" y="306324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COMMISSION TECHNICAL SCOPING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7632" y="342900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Engage Architecture &amp; Engineering to scope the FastAPI backend, GOV.UK One Login OAuth2 integration, and HMRC MTD API sandbox access. Estimated 4-week scoping exercise with a T-shirt sizing output.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4480560"/>
            <a:ext cx="640080" cy="12344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640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63040" y="4480560"/>
            <a:ext cx="9994392" cy="1234440"/>
          </a:xfrm>
          <a:prstGeom prst="rect">
            <a:avLst/>
          </a:prstGeom>
          <a:solidFill>
            <a:srgbClr val="2C27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627632" y="4572000"/>
            <a:ext cx="9784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BRIEF LEGAL &amp; COMPLIANCE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27632" y="4937760"/>
            <a:ext cx="9784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D3D1"/>
                </a:solidFill>
                <a:latin typeface="Calibri"/>
              </a:rPr>
              <a:t>FCA BCOBS 4A (cooling-off), MLR 2017 (KYC/KYB paths), HMRC MTD obligations, and GDPR Art. 35 DPIA. Prototype documentation and audit logs available for review immediately.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035040"/>
            <a:ext cx="10725912" cy="59436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7607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Prototype live now:  imscots-ui.github.io/santander   ·   No install, no login, any device   ·   Alan Davidson · Alan.Davidson@santander.co.uk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80760"/>
            <a:ext cx="10515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ECACA"/>
                </a:solidFill>
                <a:latin typeface="Calibri"/>
              </a:rPr>
              <a:t>Business Banking Advisor  ·  Self-initiated  ·  Completed entirely out of hours in own time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21440" y="649224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78716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