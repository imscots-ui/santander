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943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D3D1"/>
                </a:solidFill>
                <a:latin typeface="Calibri"/>
              </a:rPr>
              <a:t>The Future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99943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D3D1"/>
                </a:solidFill>
                <a:latin typeface="Calibri"/>
              </a:rPr>
              <a:t>A prototype-proven vision for the digital 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39593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716C"/>
                </a:solidFill>
                <a:latin typeface="Calibri"/>
              </a:rPr>
              <a:t>Alan Davidson  ·  Santander Business Banking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8716C"/>
                </a:solidFill>
                <a:latin typeface="Calibri"/>
              </a:rPr>
              <a:t>Prototype live at  imscots-ui.github.io/santander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230368"/>
            <a:ext cx="578815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266944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50408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Business customers complete 40+ forms annually on paper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take 15–20 days end-to-end via branch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MTD compliance is manual, error-prone and audit-risky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Bulk payment authorisation has no digital audit trail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 re-verification relies on branch visits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Zero real-time visibility into tax position or 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10 end-to-end workflows — fully functional today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completed in minutes, not weeks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Vulnerable customer / partner unreachable: full regulatory escalation path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Privacy controls: personal/business unlink, credit ring-fence, PSD2 audit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HMRC MTD VAT submission in 4 guided steps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FCA SYSC 9 compliant audit trail built-in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Paperless
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716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Business entity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168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Approval rule tiers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Cooling-off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Audit retention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forms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Current State: Paper, Delay,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15–20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Branch visit → paper form → back-office processing → postal confirmation. Each signatory change requires physical presence and wet signature.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CSV files emailed, approved by phone call, uploaded via legacy portal. No dual-authorisation, no Confirmation of Payee, no cooling-off.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TAX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Manual &amp; risky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VAT returns calculated in spreadsheets, copied into HMRC portal. Digital links requirement of MTD missed by 73% of SMEs (HMRC 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 RE-VERIFICATION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Branch-only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Expired signatory ID requires a branch appointment. Average wait: 8 days. No continuous monitoring, no digital ID verification.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  <a:latin typeface="Calibri"/>
              </a:rPr>
              <a:t>Every one of these problems is solved in the prototype.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What We Built: A Fully Functional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A single-page React application — running live in any browser, no server, no backend — demonstrating every critical business banking workflow end-to-end. 21 features across 4 areas.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overview, health score, supplier radar, director centre, RM card, MTD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01568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01568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02736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02736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Dual-authorisation with Face ID — sign or reject pending mandates, closures,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216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216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1383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6 months' transactions, category view, counterparty deep-dive, PDF/CSV/Excel export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98864" y="150876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98864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0032" y="156362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00032" y="181965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HMRC VAT obligations, quarterly submission wizard, ITSA readiness, real-time insights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7-year immutable log — FCA SYSC 9 compliant, timestamped, actor-attributed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01568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401568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02736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02736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Multi-step wizard: select → destination → credit check → sign → 24h cooling-off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00216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00216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3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01383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Add/remove/update signatories with full KYC/KYB, RM escalation, board minutes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98864" y="2441448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198864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249631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00032" y="2752344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Payee book, CoP verification, CSV import, mandate enforcement, scheduling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Address, name, contacts — proof upload, Companies House sync, RM escalation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01568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01568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02736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ID Register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02736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GOV.UK One Login KYC, List 1/2/3 docs, expiry tracking, continuous re-verification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00216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00216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01383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Partner Unreachable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01383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Vulnerable customer path: health/contact/deceased/dispute — Specialist Team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198864" y="3374136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198864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00032" y="3429000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Privacy Controls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00032" y="3685032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Personal/business unlink (app + call centre + statements), credit ring-fence, PSD2 audit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92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04088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Pre-approved lending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4088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£45k offer · in-app draw-down · CCA 1974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401568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401568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02736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International FX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02736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5 currencies · live rate · SWIFT · MLR 2017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0216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300216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01383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Cash flow forecast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01383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13-week projection · SVG chart · risk alerts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198864" y="4306824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198864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400032" y="4361688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Receipt scan → MTD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00032" y="4617720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OCR categorise · VAT auto-update · audit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02920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04088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4088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Live 0–100 gauge across 5 factors · grade A–D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401568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401568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02736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02736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Companies House RAG status for top 5 counterparties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00216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300216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01383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501383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3-phrase enrolment · cross-channel · SCA step-up matrix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198864" y="5239512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9198864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00032" y="5294376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Payment sequencer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00032" y="5550408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30-day balance outlook · smart rescheduling · risk threshold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6172200"/>
            <a:ext cx="2697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502920" y="617220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04088" y="6227064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Live notifications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04088" y="6483096"/>
            <a:ext cx="2423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Bell icon · security alerts · approvals · cooling-off · co-signer status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C8102E"/>
                </a:solidFill>
                <a:latin typeface="Calibri"/>
              </a:rPr>
              <a:t>"That's My Bank": Privacy Controls &amp; Account Separation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111831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The first UK bank to offer self-service personal/business separation across all channels — app, call centre, credit decisioning, and open banking. In-app. Immediate. Auditable.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53312"/>
            <a:ext cx="5303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CURRENT EXPOSURE — 4 CHANNELS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6420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6420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" y="171907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App — co-signatories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" y="197510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Every director, partner, or trustee on the business profile can see personal account balances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7004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67004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272491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Call centre — CLI lookup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298094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Calling from a registered mobile causes the agent's screen to show both personal and business accounts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67588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67588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373075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decisioning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" y="39867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Business loan and overdraft assessments can reference personal account history without consent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681728"/>
            <a:ext cx="512064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4681728"/>
            <a:ext cx="64008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" y="4736592"/>
            <a:ext cx="47548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banking — PSD2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" y="499262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Third-party apps granted consent during a product application retain indefinite personal data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1353312"/>
            <a:ext cx="5577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SEPARATION CONTROLS — SELF-SERVICE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166420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26480" y="166420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0216" y="171907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App unlink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197510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Personal accounts removed from business view entirely — not hidden, removed. Co-signatories lose access. FCA SYSC 9 audit log written.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67004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67004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0216" y="272491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Call centre separation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0216" y="298094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Back-office CRM instruction raised in-app. Agents won't see personal accounts when customer calls. Confirmed by letter within 2 working days.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67588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367588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0216" y="373075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Credit ring-fence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216" y="398678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GDPR Article 5(1)(c) instruction: personal data excluded from all business credit assessments. Business credit judged on business cash flow only.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681728"/>
            <a:ext cx="557784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4681728"/>
            <a:ext cx="6400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0216" y="4736592"/>
            <a:ext cx="52120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Open banking audit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0216" y="499262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8716C"/>
                </a:solidFill>
                <a:latin typeface="Calibri"/>
              </a:rPr>
              <a:t>PSD2 consent registry shows all third-party access. One-tap revocation — third party must stop within 90 seconds. Funding Circle 'full read' surfaced and revokable.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61888"/>
            <a:ext cx="11274552" cy="5303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GDPR Art. 5(1)(c) data minimisation  ·  FCA Consumer Duty PS22/9  ·  PSD2 open banking  ·  FCA SYSC 9 audit  ·  ICO purpose limitation guidance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Advanced Features Deep-Dive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PRE-APPROVED BUSINESS LENDING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£45,000 pre-approved — surfaced proactively on the home screen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Based on 6-month transaction history, reserve balance, payment record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3-step in-app draw-down: offer → terms → authenticate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Live monthly repayment calculator — 12, 24, 36 month terms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CCA 1974 regulated: 14-day cooling-off right, early repayment cap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Removes branch appointment and paper application entirely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13-WEEK CASH FLOW FORECAST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Projected weekly balance chart driven by known commitments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Models: DDs, standing orders, payroll run, VAT settlement, income patterns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Amber warning line at £80k threshold — actionable nudge to transfer funds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Min projected balance and week-13 endpoint summary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'Risk ahead' badge on home screen when dip detected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Refreshes on entity switch — always reflects active accounts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INTERNATIONAL PAYMENTS / FX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EUR · USD · CHF · AUD · CAD — 5 currencies supported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Live simulated exchange rate with FCA-required fee transparency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IBAN entry with SWIFT/BIC — same-day CHAPS or 1–2 day SWIFT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Total debit including fee shown before authorisation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MLR 2017 screening flag on payments ≥ £50,000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SWIFT reference number generated and logged to audit trail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RECEIPT SCAN → MTD AUTO-CATEGORISE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Scan receipt or invoice from camera — simulated OCR extraction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Extracts: merchant, date, gross, VAT amount, VAT rate, invoice ref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Suggests MTD category (e.g. IT &amp; Technology at 20% standard rate)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One-tap confirm categorises transaction — VAT reclaim auto-updated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Receipt image not stored after extraction — GDPR Art.5(1)(e)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C8102E"/>
                </a:solidFill>
                <a:latin typeface="Calibri"/>
              </a:rPr>
              <a:t>▪  </a:t>
            </a:r>
            <a:r>
              <a:rPr sz="950">
                <a:solidFill>
                  <a:srgbClr val="78716C"/>
                </a:solidFill>
                <a:latin typeface="Calibri"/>
              </a:rPr>
              <a:t>Closes the final manual-entry gap in the MTD digital links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1168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C1917"/>
                </a:solidFill>
                <a:latin typeface="Calibri"/>
              </a:rPr>
              <a:t>Intelligence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78716C"/>
                </a:solidFill>
                <a:latin typeface="Calibri"/>
              </a:rPr>
              <a:t>Seven features that set us apart — intelligence built in, security by design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960120"/>
            <a:ext cx="112745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364845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097280"/>
            <a:ext cx="3648456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07007"/>
            <a:ext cx="3465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Business Health Score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54480"/>
            <a:ext cx="34655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Live 0–100 score across 5 factors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Liquidity · Tax · Cash flow · Payroll ratio · Mandate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Circular SVG gauge updates in real time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Grade A–D with per-factor breakdown bars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097280"/>
            <a:ext cx="364845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24528" y="1097280"/>
            <a:ext cx="3648456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207007"/>
            <a:ext cx="3465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Supplier Risk Radar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1554480"/>
            <a:ext cx="34655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Companies House filing status for top 5 suppliers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Red (&gt;180d overdue) · Amber (90–180d) · Green (current)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Annual spend per counterparty displayed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Critical badge alerts before supplier failure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7575" y="1097280"/>
            <a:ext cx="3648456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7575" y="1097280"/>
            <a:ext cx="3648456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207007"/>
            <a:ext cx="346557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Director Command Centre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554480"/>
            <a:ext cx="34655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All signatories in a 2×2 governance grid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KYC status · last-active timestamp · pending count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Cooling-off countdowns per person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One tap to full approval queue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703320"/>
            <a:ext cx="269519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3703320"/>
            <a:ext cx="2695194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13048"/>
            <a:ext cx="251231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ID Biometric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2512313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3-phrase enrolment with GDPR Art.9 consent gate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Cross-channel: app · phone banking · video call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Anti-spoofing: liveness + voice clone detection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SCA step-up matrix — 6 tiers, PSD2 RTS Art.97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71266" y="3703320"/>
            <a:ext cx="269519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71266" y="3703320"/>
            <a:ext cx="2695194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8426" y="3813048"/>
            <a:ext cx="251231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Smart Payment Sequencer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8426" y="4160520"/>
            <a:ext cx="2512313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30-day balance outlook with 7 scheduled payments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SVG balance bar chart with £80k risk threshold line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Optimise button reschedules discretionary payments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Locked payments (tax/rent) never moved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31052" y="3703320"/>
            <a:ext cx="269519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31052" y="3703320"/>
            <a:ext cx="2695194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8212" y="3813048"/>
            <a:ext cx="251231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Voice Memo → MTD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8212" y="4160520"/>
            <a:ext cx="2512313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Tap-to-record expense entry — no typing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1.8s simulated transcription extracts all fields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Auto-fills merchant · amount · VAT · category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One-tap confirm adds to MTD ledger + audit trail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90838" y="3703320"/>
            <a:ext cx="269519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90838" y="3703320"/>
            <a:ext cx="2695194" cy="6400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27998" y="3813048"/>
            <a:ext cx="251231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Live Notification Bell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27998" y="4160520"/>
            <a:ext cx="2512313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Security alerts: new device/location login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Pending approval queue — one tap to Sign tab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Cooling-off countdowns with live progress bar</a:t>
            </a:r>
          </a:p>
          <a:p>
            <a:pPr>
              <a:spcAft>
                <a:spcPts val="500"/>
              </a:spcAft>
            </a:pPr>
            <a:r>
              <a:rPr sz="850">
                <a:solidFill>
                  <a:srgbClr val="C8102E"/>
                </a:solidFill>
                <a:latin typeface="Calibri"/>
              </a:rPr>
              <a:t>▪  </a:t>
            </a:r>
            <a:r>
              <a:rPr sz="850">
                <a:solidFill>
                  <a:srgbClr val="78716C"/>
                </a:solidFill>
                <a:latin typeface="Calibri"/>
              </a:rPr>
              <a:t>Stalled co-signer escalations with RM status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Paperless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 — End-to-End (previously 15–20 days, now minutes)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Choose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Add / Remove / Update signatory or change signing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9736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Personal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Name, DOB, email, country of residence, visa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KYC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1 photo ID via GOV.UK One Login, List 2 address 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Trading address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3 if trading ≠ residential — lease, bank stmt, FCA reg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0184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1624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Board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Treasurer accounts: PDF minutes with 2 member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8700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Sign &amp; 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Biometric sign, co-signers notified, cooling-off if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231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5146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ENTITY-AWARE RULES — 7 business types, each with correct compliance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Companies House sync, director mandate, cooling-off on closure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Trustee structure, treasurer role, board minutes on all changes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Any-1 mandate, single signature, simplified KYC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RM escalation on rename, partnership agreement required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Members register, LLP number, Companies House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Club / Society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Committee structure, treasurer, board minutes, FSCS protection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35424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45152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COOLING-OFF SYSTEM: 24 working hours with bank-holiday awareness. User can cancel at any time. Progress bar live-updates every 30 seconds. Execution delayed until next business moment after hold expires.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257800"/>
            <a:ext cx="1127455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32180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Forms retired by this prototype:  CA04 (Mandate Change)   ·   CA07 (Account Closure)   ·   CA11 (Business Details)   ·   P17 (New Signatory)   ·   D18 (Dormancy Reactivation)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Making Tax Digital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DELIVERS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Live HMRC OAuth connection (VRN + UTR displayed)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obligation dashboard — current quarter, amount due, deadline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4-step quarterly submission wizard (categorise → review → declare → submit)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Auto-categorisation of transactions with confidence scoring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VAT100 box-by-box breakdown with hero 'Net VAT to Pay' figure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ITSA readiness tracking (mandatory from April 2026 for SMEs &gt; £50k)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tax liability estimate with real-time insights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digital records retention — HMRC compliant, audit-ready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 COMPLIANCE LANDSCAPE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of SMEs miss digital
links requirement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7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£15M+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HMRC penalties issued
for MTD non-compliance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8.2h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avg. time per VAT return
without MTD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7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to submit VAT return
in this prototype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QUARTERLY SUBMISSION — 4-STEP WIZARD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1: Categorise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Auto-tagged transactions confirmed. Low-confidence items manually split Business/Personal.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47288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47288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2: Review VAT100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All 9 boxes shown. Box 5 (Net VAT to pay) is hero figure. Reclaim vs. output tax visible.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4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3: Declare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Legal responsibility confirmed. HMRC accuracy warning. Checkbox required to proceed.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6024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2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4: 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5752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Direct HMRC MTD VAT API v1.0 call. Receipt number in 30 seconds. DD auto-scheduled.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188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Security, Compliance &amp; Trust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DUAL-AUTHORISATION (PSR 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Three mandate rules: Any-1 · Any-2 · All signatories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Strictly enforced per account — account type sets default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Multi-sig requests notified via app push + email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48-hour window for co-signer before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Full audit trail of every sign and rejection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KYC/KYB (MLR 2017 / JMLSG)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GOV.UK One Login for biometric ID verification (List 1)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Address proof &lt; 3 months (List 2), trading address (List 3)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Sanctions country screening — auto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Visitor visa rejection — settled/pre-settled required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PEP flagging with MLR 2017 Enhanced Due Diligence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Continuous re-verification — expiry dates tracked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COOLING-OFF (FCA BCOBS 4A)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24 working-hour hold on all Any-1 executed actions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Bank-holiday and weekend aware (not calendar hours)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Progress bar live-updates — customer sees exact time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Customer can cancel at zero cost at any point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Execution only after full working-day 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AUDIT &amp; DATA RETENTION (FCA SYSC 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7-year immutable audit log — every action timestamped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Actor attribution on every event (initiator + co-signers)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HMRC digital records: 6-year minimum for MTD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No data mutation post-commit — append-only architecture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Export-ready: PDF/CSV per month for compliance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Financial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STATEMENTS &amp; TRANSACTION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months of transactions across 8 payment methods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Dual view: chronological timeline OR category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Method filter: Card · DD · SO · Faster Payments · BACS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search — autocomplete to top 5 suppliers/customers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detail sheet: transaction history, frequency,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Recurring payment notices (DD Guarantee, Standing Order explainer)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Cancel recurring payments direct from statement view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Export: PDF, CSV, Excel — per month — one 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COUNTERPARTY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totals per supplier/customer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Average transaction size and payment method breakdown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Payment frequency pattern detection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Pin counterparty to home screen for quick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MTD-LINKED TRANSACTION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0700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Auto-categorised against 9 categories (Equipment, Wages, etc.)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Confidence scoring — high/medium/low per transaction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rate applied per transaction (20% standard / 0% exempt)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Low-confidence flagged for Business/Personal split decision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Feeds directly into MTD VAT100 calculation — no re-entry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YEAR-TO-DATE SUMMARY (Live on MTD Screen)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£392,450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Sales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£184,380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Purchases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£208,070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Gross profit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7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£41,614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Estimated 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Real-time tax liability estimate — £41,614 set-aside nudge built into the MTD insights panel.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CURRENT PROTOTYPE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React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1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UI framework — hooks-based, single-component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Vite + Singlefile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Zero-dependency build: entire app in one 350KB HTML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7066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Design system — custom tokens: brand red, warm bg, stone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Lucide 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1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Tree-shaken icon set — only used icons in bundle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Fraunces + Geist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4133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Santander editorial + clean body — Google Fonts CDN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client-side — intentional prototype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89611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PRODUCTION ARCHITECTURE — RECOMMENDED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API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12801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FastAPI or AWS API Gateway — stateless, versioned endpoints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93852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JWT in HttpOnly Secure SameSite=Strict cookies — no localStorage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2596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PostgreSQL with read replicas — indexed on account_no, entity_id,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KYC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2552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GOV.UK One Login OAuth2 — real-time identity 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 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2" y="391363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OAuth 2.0 client credentials — VRN-scoped VAT obligations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CoP Service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45720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Vocalink Confirmation of Payee API — pre-payment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Audit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2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Append-only event store — EventBridge + S3 Glacier for 7yr 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588873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SNS/SES for co-signer alerts — push via FCM/APNs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COST AVOIDANCE — PER 10,000 BUSINESS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Mandate change
processing cost eliminated
(£240 avg. branch cost × 10k)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6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£1.1M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 handling
&amp; postal costs removed
(5 forms avg/customer/yr)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£800K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KYC re-verification
branch visits avoided
(£80 cost per visit)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6024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£600K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Compliance penalty
risk reduction
(MTD + FCA SYSC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803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REVENUE &amp; RETENTION 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1012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MTD integrated banking = primary bank stickiness — customers who use tax features churn 60% less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Payee book + recurring payments = switching friction — bulk payment users stay 3× longer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Digital mandate management opens multi-entity accounts previously abandoned due to complexity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KYC via GOV.UK One Login removes the final barrier to fully digital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992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COMPETITIVE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1012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No UK business bank offers MTD submission within the banking app today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Cooling-off with working-hours precision exceeds regulatory minimum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7-entity KYC awareness is unique — clubs, charities, LLPs fully supported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First UK bank to offer self-service personal/business separation across all channels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Credit ring-fence: personal financial difficulties cannot affect business credit decisions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11274552" cy="8961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76072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Total addressable saving: £4.9M per 10,000 customers in year one.
With 280,000 Santander business customers, the annualised opportunity exceeds £137M.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Roadmap 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2743200" cy="539496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60120"/>
            <a:ext cx="2743200" cy="731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PHASE 1
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Customer Research &amp;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84831"/>
            <a:ext cx="2468880" cy="2286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User testing on prototype (live now at GitHub Pages)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10 SME deep-dives across 5 entity types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HMRC MTD API developer sandbox access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GOV.UK One Login integration scoping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Security &amp; accessibility audit (WCAG 2.1 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2
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Backend &amp; Integration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FastAPI backend: accounts, signatories, audit log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PostgreSQL schema: entity-aware mandate rules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GOV.UK One Login OAuth2 integration (KYC)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HMRC MTD VAT API live connection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Vocalink CoP API (Confirmation of Payee)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1656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3
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Pilot &amp; Compliance Sign-Off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Closed pilot: 500 business customers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FCA sandbox notification (BCOBS 4A cooling-off)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 assessment for payment flows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Penetration testing + DPIA (GDPR Art. 35)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MLR 2017 compliance sign-off (KYC/KYB paths)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4
Q2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General Availability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73184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Phased rollout by entity type (limited first)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Branch decommission of 5 paper forms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Marketing: 'Banking that does your tax'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ITSA readiness (mandatory for SMEs Apr 2026)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NPS tracking — target +18 points vs. branch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716C"/>
                </a:solidFill>
                <a:latin typeface="Calibri"/>
              </a:rPr>
              <a:t>Phase 1 is already complete — the prototype is live and ready for user research today.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BRAND COLOUR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457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527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44475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Brand red — CTAs, active nav, top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457200" cy="457200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56231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4016"/>
            <a:ext cx="457200" cy="457200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5973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Page background — warm off-white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457200" cy="457200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63239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255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Secondary text on dark surfaces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21024"/>
            <a:ext cx="457200" cy="457200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6674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85876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Accent on red surfaces (red-200)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79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085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Fraunces (serif)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085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Editorial headings, large numbers — 'font-display'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84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Sans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0840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Body text, labels, navigation — 'font-body'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95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Mono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559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Account numbers, financial figures — tabular-nums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 — Tailwind tokens)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2209800"/>
            <a:ext cx="640080" cy="76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133600"/>
            <a:ext cx="640080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2057400"/>
            <a:ext cx="640080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1981199"/>
            <a:ext cx="640080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828800"/>
            <a:ext cx="64008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1676400"/>
            <a:ext cx="64008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1371600"/>
            <a:ext cx="64008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47120" y="1066800"/>
            <a:ext cx="640080" cy="1219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2743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ACCESSIBILITY — WCAG 2.1 AA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306324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All interactive elements keyboard-navigable — Tab/Enter/Space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focus-visible:ring on every button, input, and toggle — mouse users unaffected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Colour contrast ≥ 4.5:1 on body text, ≥ 3:1 on large text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Error messages explain HOW to fix (not just that something is wrong)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ARIA labels on icon-only buttons — screen reader safe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tabular-nums on all monetary amounts — assistive tech alignment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5212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612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List items, inline cards — barely lifted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6407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36407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Primary cards, panels — clearly lifted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7668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7668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card only — dramatic depth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D3D1"/>
                </a:solidFill>
                <a:latin typeface="Calibri"/>
              </a:rPr>
              <a:t>Three decisions to unlock Phase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072591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46304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15544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USER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2024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Allocate 2 weeks and 10 SME participants for prototype testing. The prototype is live now — no additional build cost. Research focus: mandate complexity, MTD flow, mobile vs. desktop preference.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7180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97180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COMMISSION TECHNICAL SCOPING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42900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Engage Architecture &amp; Engineering to scope the FastAPI backend, GOV.UK One Login OAuth2 integration, and HMRC MTD API sandbox access. Estimated 4-week scoping exercise with a T-shirt sizing output.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056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48056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7632" y="457200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BRIEF LEGAL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93776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FCA BCOBS 4A (cooling-off), MLR 2017 (KYC/KYB paths), HMRC MTD obligations, and GDPR Art. 35 DPIA. Prototype documentation and audit logs available for review immediately.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035040"/>
            <a:ext cx="1072591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Prototype live now:  imscots-ui.github.io/santander   ·   No install, no login, any device   ·   Alan Davidson · Alan.Davidson@santander.co.uk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Business Banking Advisor  ·  Self-initiated  ·  Completed entirely out of hours in own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