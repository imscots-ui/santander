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12680" y="292608"/>
            <a:ext cx="1783080" cy="31089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12680" y="329184"/>
            <a:ext cx="1783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83080"/>
            <a:ext cx="8686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487168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ECACA"/>
                </a:solidFill>
                <a:latin typeface="Calibri"/>
              </a:rPr>
              <a:t>Digital. Personal. Built from within.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090672"/>
            <a:ext cx="7772400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273552"/>
            <a:ext cx="2450592" cy="7498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33101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3429000"/>
            <a:ext cx="1353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features built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36391" y="3273552"/>
            <a:ext cx="2450592" cy="7498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46120" y="33101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23944" y="3429000"/>
            <a:ext cx="1353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paperless workflows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9864" y="3273552"/>
            <a:ext cx="2450592" cy="7498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79592" y="33101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57416" y="3429000"/>
            <a:ext cx="1353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entity types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251960"/>
            <a:ext cx="4754880" cy="38404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288536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LIVE DEMO  →  imscots-ui.github.io/santander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9144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ECACA"/>
                </a:solidFill>
                <a:latin typeface="Calibri"/>
              </a:rPr>
              <a:t>Alan Davidson  ·  Business Banking Advisor  ·  Self-initiated  ·  June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</a:t>
            </a:r>
          </a:p>
        </p:txBody>
      </p:sp>
      <p:pic>
        <p:nvPicPr>
          <p:cNvPr id="24" name="Santander logo" descr="santander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377440" cy="4112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The opportunity is £137M. The prototype is live.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78992"/>
            <a:ext cx="3703320" cy="1920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170432"/>
            <a:ext cx="3520439" cy="111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238451"/>
            <a:ext cx="3520439" cy="691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Annualised opportunity
280,000 SMB customers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52544" y="1078992"/>
            <a:ext cx="3703320" cy="1920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3983" y="1170432"/>
            <a:ext cx="3520439" cy="111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3" y="2238451"/>
            <a:ext cx="3520439" cy="691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Cost saving per 10k
customers in year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66176" y="1078992"/>
            <a:ext cx="3703320" cy="1920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7616" y="1170432"/>
            <a:ext cx="3520439" cy="111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£0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7616" y="2238451"/>
            <a:ext cx="3520439" cy="691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Investment required
to see it working today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3200400"/>
            <a:ext cx="1131112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291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Open it now on any device — no install, no login: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0" y="3273552"/>
            <a:ext cx="6263640" cy="67665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49824" y="3346704"/>
            <a:ext cx="5989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imscots-ui.github.io/santander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4206240"/>
            <a:ext cx="54864" cy="3474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" y="4233672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Only UK business bank with Voice ID across app, phone, and video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" y="4645152"/>
            <a:ext cx="54864" cy="3474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4672583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Only prototype with live Companies House supplier risk on the dashboard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5084064"/>
            <a:ext cx="54864" cy="3474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" y="5111496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Full personal/business data separation at app, call centre, and credit simultaneously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5522975"/>
            <a:ext cx="54864" cy="3474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555040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MTD submission from receipt scan to HMRC in under 60 seconds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" y="5961888"/>
            <a:ext cx="54864" cy="3474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4" y="5989320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Business health score — 5-factor live gauge no UK business bank currently offers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The problem is still paper.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841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D6D3D1"/>
                </a:solidFill>
                <a:latin typeface="Calibri"/>
              </a:rPr>
              <a:t>Four pain points every Business Banking Advisor processes every day: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207008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34416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DA291C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4752" y="1371600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Paper forms for every change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44752" y="1737360"/>
            <a:ext cx="4434840" cy="25603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65376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Mandate updates, new signatories, account closures — all paper. Each form takes 3–7 days and can be lost, mis-signed, or returned.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18504" y="1207008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1384" y="134416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DA291C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24344" y="1371600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Customers call instead of self-serve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24344" y="1737360"/>
            <a:ext cx="4434840" cy="25603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4" y="1865376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Phone queues for tasks that could be completed in 3 taps. Each call costs ~£8 and erodes the relationship.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" y="3785615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922776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DA291C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4752" y="3950207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Competitors are already digital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44752" y="4315968"/>
            <a:ext cx="4434840" cy="25603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4443983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Tide, Starling, and Monzo Business offer instant digital mandates. Santander's SMB customers notice the gap every week.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18504" y="3785615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1384" y="3922776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DA291C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24344" y="3950207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Compliance is manual and invisible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24344" y="4315968"/>
            <a:ext cx="4434840" cy="25603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1384" y="4443983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KYC, audit trails, and cooling-off periods are tracked on spreadsheets and memory. SYSC 9 audit readiness is a quarterly scramble.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280160"/>
            <a:ext cx="999439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We already own the relationship.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2377440"/>
            <a:ext cx="57881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514600"/>
            <a:ext cx="99943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ECACA"/>
                </a:solidFill>
                <a:latin typeface="Calibri"/>
              </a:rPr>
              <a:t>We just need to digitise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337560"/>
            <a:ext cx="99943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FFFF"/>
                </a:solidFill>
                <a:latin typeface="Calibri"/>
              </a:rPr>
              <a:t>Every paper form, replaced.  ·  Every phone call, self-served.  ·  Every signature, digital.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760720"/>
            <a:ext cx="12188952" cy="1097280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Built in React. 7,400 lines. 21 features. Live at imscots-ui.github.io/santander — open it now.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FECACA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21 features. Four categories. One app.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31089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CORE BANKING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335024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335024"/>
            <a:ext cx="45720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3" y="138988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Account management + mandate badges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11680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11680"/>
            <a:ext cx="45720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3" y="206654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Dual-authorisation (Face ID / reject)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" y="2688336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" y="2688336"/>
            <a:ext cx="45720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3" y="2743200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Per-account signing rules (Any-1 / 2 / All)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" y="3364991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12" y="3364991"/>
            <a:ext cx="45720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3" y="3419856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7 entity types — full compliance paths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" y="4041648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8912" y="4041648"/>
            <a:ext cx="45720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3" y="4096512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Cooling-off with working-day countdown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4718304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8912" y="4718304"/>
            <a:ext cx="45720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3" y="477316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Stalled request RM escalation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" y="5394959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" y="5394959"/>
            <a:ext cx="45720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3" y="544982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7-year immutable audit trail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3280" y="1024128"/>
            <a:ext cx="2788920" cy="31089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93008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PAPERLESS WORKFLOWS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1335024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83280" y="1335024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47872" y="138988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Account closure + Confirmation of Payee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2011680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83280" y="2011680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47872" y="206654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 unreachable (4 regulatory paths)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2688336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83280" y="2688336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47872" y="2743200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Mandate changes + KYC / KYB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3364991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383280" y="3364991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47872" y="3419856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Bulk payments / wages + payee book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383280" y="4041648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383280" y="4041648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47872" y="4096512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83280" y="4718304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383280" y="4718304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547872" y="477316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Dormant account reactivation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83280" y="5394959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83280" y="5394959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47872" y="544982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MTD VAT quarterly submission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27648" y="1024128"/>
            <a:ext cx="2788920" cy="31089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37376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INTELLIGENCE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27648" y="1335024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327648" y="1335024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92240" y="138988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Business health score (5-factor gauge)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27648" y="2011680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327648" y="2011680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92240" y="206654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27648" y="2688336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327648" y="2688336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92240" y="2743200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Supplier risk radar (Companies House)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327648" y="3364991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327648" y="3364991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92240" y="3419856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27648" y="4041648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327648" y="4041648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92240" y="4096512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327648" y="4718304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327648" y="4718304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92240" y="477316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27648" y="5394959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27648" y="5394959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492240" y="544982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Financial statements + counterparty search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272016" y="1024128"/>
            <a:ext cx="278892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81744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PRIVACY &amp; SECURITY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272016" y="1335024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272016" y="1335024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436608" y="138988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Personal / business account unlink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272016" y="2011680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272016" y="2011680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436608" y="206654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Call centre channel separation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272016" y="2688336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272016" y="2688336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436608" y="2743200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Credit ring-fence (GDPR Art.5(1)(c))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272016" y="3364991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272016" y="3364991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436608" y="3419856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PSD2 consent audit + one-tap revoke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272016" y="4041648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272016" y="4041648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436608" y="4096512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Voice ID biometric (3-phrase enrolment)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272016" y="4718304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272016" y="4718304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436608" y="477316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272016" y="5394959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9272016" y="5394959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436608" y="544982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Full personal/business separation — across every channel.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App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" y="1417320"/>
            <a:ext cx="2505456" cy="2743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personalLinked = false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Personal accounts removed from the React render tree — not CSS hide, not display:none. JSX conditional. The data is never sent to the browser.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A291C"/>
                </a:solidFill>
                <a:latin typeface="Calibri"/>
              </a:rPr>
              <a:t>GDPR Art.5(1)(c)
Data minimisation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83280" y="1024128"/>
            <a:ext cx="278892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9584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Call Centre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29584" y="1417320"/>
            <a:ext cx="2505456" cy="274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2736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unlinkAllChannels trigger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Toggling unlinkAllChannels fires a CRM back-office update (ref REL-2026-0291). Within 2 working days, CLI inbound lookup excludes personal accounts. The agent cannot see what they are not authorised to see.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29584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02736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CRM back-office
SLA: 2 working days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7648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27648" y="1024128"/>
            <a:ext cx="278892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Credit Decisioning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73952" y="1417320"/>
            <a:ext cx="2505456" cy="274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47104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creditRingfenced = true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Formal written instruction persisted in state. Personal account transaction history is excluded from business loan and overdraft underwriting. Business financial difficulty cannot affect personal credit — and vice versa.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73952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47104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59669"/>
                </a:solidFill>
                <a:latin typeface="Calibri"/>
              </a:rPr>
              <a:t>ICO Legitimate
Interests Assessment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72016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72016" y="1024128"/>
            <a:ext cx="2788920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18320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Open Banking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8320" y="1417320"/>
            <a:ext cx="2505456" cy="2743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91472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PSD2 consent audit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OBSheet shows every active third-party consent scope with expiry date. Flags where a consent (e.g. Funding Circle) includes personal account data. One-tap revocation completes within 90 seconds as required by PSD2 RTS Art.29.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18320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91472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D4ED8"/>
                </a:solidFill>
                <a:latin typeface="Calibri"/>
              </a:rPr>
              <a:t>PSD2 RTS Art.29
90s revocation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Intelligence the dashboard shows before you ask.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Business Health 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Live 0–100 circular SVG gauge computed from 5 weighted factors: liquidity, tax compliance, cash flow headroom, payroll ratio, mandate health. Each factor is a colour-coded progress bar. Grade A–D. No UK business bank currently offers this.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5-factor
live gauge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024128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9584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SVG bar chart projecting 13 weekly balances from known direct debits, payroll cycles, VAT commitments, and income patterns. Amber warning line at £80k. Actionable nudge when headroom tightens — not a report, a prompt.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9584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2736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forecastWeeks
useMemo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7648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7648" y="1024128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Supplier Risk Radar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5 key counterparties shown with Companies House filing status, days overdue, annual spend, and a RAG risk badge. Red = &gt;180 days overdue. You see supply chain risk on the home screen — before the supplier fails.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73952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Companies House
API linked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72016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72016" y="1024128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0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Director Command Centre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Governance grid showing all 4 signatories with KYC status, last-active timestamp, and pending action count. One tap to the approval queue per director. Mandate health is live — you know who is blocking what.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18320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91472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KYC + approval
status per director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55648" y="3547872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55648" y="3547872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901952" y="362102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Smart Payment Sequencer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01952" y="3913632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30-day balance outlook with all scheduled payments. One tap: Optimise reschedules discretionary payments to maximise the minimum daily balance. Tax and rent are locked and never moved.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01952" y="5650992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975104" y="5669280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Optimise button
reschedules safely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00016" y="3547872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700016" y="3547872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46320" y="362102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Voice Memo → MTD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46320" y="3913632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Tap to record an expense — no typing. 1.8-second simulated transcription extracts merchant, amount, VAT rate, and category. One-tap confirm posts to the MTD ledger. Digital link from voice to HMRC.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5650992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19472" y="5669280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Voice → MTD
digital link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44384" y="3547872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44384" y="3547872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90688" y="362102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Voice ID Biometric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90688" y="3913632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3-phrase enrolment with GDPR Art.9 consent gate. Active across app, phone banking, and video call. Anti-spoofing liveness detection. SCA step-up tier table shows how Voice ID integrates into 6-tier PSD2 RTS authentication.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90688" y="5650992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0" y="5669280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PSD2 RTS
Art.4(30) · Art.97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17 workflows. Every paper form, retired.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38912" y="1060704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38912" y="1060704"/>
            <a:ext cx="2148840" cy="5486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85216" y="1188719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85216" y="1664207"/>
            <a:ext cx="713232" cy="21945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85216" y="1956815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FCA BCOBS · 24h cooling-off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734056" y="1060704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734056" y="1060704"/>
            <a:ext cx="2148840" cy="5486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880360" y="1188719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ID Register (KYB)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880360" y="1664207"/>
            <a:ext cx="713232" cy="21945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880360" y="1956815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GOV.UK One Login · KYC lists 1–3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029200" y="1060704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5029200" y="1060704"/>
            <a:ext cx="2148840" cy="5486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175504" y="1188719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175504" y="1664207"/>
            <a:ext cx="713232" cy="21945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6 steps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175504" y="1956815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MLR 2017 · full KYC/KYB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324344" y="1060704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324344" y="1060704"/>
            <a:ext cx="2148840" cy="5486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470648" y="1188719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470648" y="1664207"/>
            <a:ext cx="713232" cy="21945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470648" y="1956815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PSR PS20/1 CoP · CSV · BACS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9619488" y="1060704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619488" y="1060704"/>
            <a:ext cx="2148840" cy="5486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9765792" y="1188719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Business Details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765792" y="1664207"/>
            <a:ext cx="713232" cy="21945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3 steps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765792" y="1956815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Companies House sync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438912" y="2450592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38912" y="2450592"/>
            <a:ext cx="2148840" cy="5486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585216" y="2578608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85216" y="3054096"/>
            <a:ext cx="713232" cy="21945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1 step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85216" y="3346704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FSCS notice · 12-month rule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734056" y="2450592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2734056" y="2450592"/>
            <a:ext cx="2148840" cy="5486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2880360" y="2578608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880360" y="3054096"/>
            <a:ext cx="713232" cy="21945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880360" y="3346704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HMRC MTD API v1.0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5029200" y="2450592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5029200" y="2450592"/>
            <a:ext cx="2148840" cy="5486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175504" y="2578608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Personal / Business Unlink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5175504" y="3054096"/>
            <a:ext cx="713232" cy="21945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175504" y="3346704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GDPR Art.5(1)(c) · CRM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324344" y="2450592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7324344" y="2450592"/>
            <a:ext cx="2148840" cy="5486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470648" y="2578608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470648" y="3054096"/>
            <a:ext cx="713232" cy="21945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2 steps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470648" y="3346704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ICO LIA · purpose limitation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9619488" y="2450592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9619488" y="2450592"/>
            <a:ext cx="2148840" cy="5486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9765792" y="2578608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Pre-Approved Lending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9765792" y="3054096"/>
            <a:ext cx="713232" cy="21945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3 steps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765792" y="3346704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CCA 1974 · cooling-off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438912" y="3840480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38912" y="3840480"/>
            <a:ext cx="2148840" cy="5486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85216" y="3968496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85216" y="4443984"/>
            <a:ext cx="713232" cy="21945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3 steps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85216" y="4736592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MLR 2017 screening · SWIFT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734056" y="3840480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2734056" y="3840480"/>
            <a:ext cx="2148840" cy="5486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2880360" y="3968496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Complaint Handling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2880360" y="4443984"/>
            <a:ext cx="713232" cy="21945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880360" y="4736592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FCA DISP · FOS route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5029200" y="3840480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5029200" y="3840480"/>
            <a:ext cx="2148840" cy="5486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175504" y="3968496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Standing Orders &amp; DDs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175504" y="4443984"/>
            <a:ext cx="713232" cy="21945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up to 3 steps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175504" y="4736592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Direct Debit Guarantee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7324344" y="3840480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7324344" y="3840480"/>
            <a:ext cx="2148840" cy="5486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7470648" y="3968496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Dispute a Payment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7470648" y="4443984"/>
            <a:ext cx="713232" cy="21945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470648" y="4736592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Chargeback · fraud · DDG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9619488" y="3840480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9619488" y="3840480"/>
            <a:ext cx="2148840" cy="5486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9765792" y="3968496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Intl. Beneficiary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9765792" y="4443984"/>
            <a:ext cx="713232" cy="21945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765792" y="4736592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IBAN/SWIFT · sanctions screen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38912" y="5230368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438912" y="5230368"/>
            <a:ext cx="2148840" cy="5486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585216" y="5358383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Balance Certificate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585216" y="5833872"/>
            <a:ext cx="713232" cy="21945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85216" y="6126479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Sealed proof of balance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2734056" y="5230368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2734056" y="5230368"/>
            <a:ext cx="2148840" cy="54864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2880360" y="5358383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Devices &amp; Sessions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2880360" y="5833872"/>
            <a:ext cx="713232" cy="219456"/>
          </a:xfrm>
          <a:prstGeom prst="rect">
            <a:avLst/>
          </a:prstGeom>
          <a:solidFill>
            <a:srgbClr val="DA2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2880360" y="6126479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SCA · remote sign-out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Making Tax Digital — from receipt scan to HMRC in 60 seconds.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27832" y="2084831"/>
            <a:ext cx="155448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1024128"/>
            <a:ext cx="27889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3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01  CAPTURE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3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Transactions auto-categorised from bank feed. Voice memo records expenses by speaking. Receipt scan uses OCR to extract merchant, amount, VAT rate, and match to open transactions — digital link intact.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2084831"/>
            <a:ext cx="155448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024128"/>
            <a:ext cx="27889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02  CATEGORISE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Every transaction reviewed against HMRC categories: Standard-rated, Zero-rated, Exempt, Outside scope. Confidence score shown per item. Low-confidence items flagged for manual review. VAT100 boxes auto-calculated.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16567" y="2084831"/>
            <a:ext cx="155448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7648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27648" y="1024128"/>
            <a:ext cx="27889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03  DECLARE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Four-step quarterly submission wizard. VAT100 form view shows all 9 boxes with running totals. One-tap declaration with legal acknowledgement. ITSA readiness indicator shows quarters ahead of schedule.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72016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72016" y="1024128"/>
            <a:ext cx="27889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36608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04  SUBMIT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36608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Authenticated HMRC MTD API v1.0 call with fraud header compliance (Gov-Client-Device-ID). Receipt: formBundleNumber logged to 7-year immutable audit trail. No manual data re-entry — digital links throughout.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16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6 years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Digital record retention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9584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9 boxes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9584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VAT100 auto-calculated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27648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3952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&lt; 60s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3952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Receipt to HMRC submission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72016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18320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Apr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ITSA mandatory threshold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Built to the regulation — not around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1115568"/>
            <a:ext cx="731520" cy="31089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BCOBS 4A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COOLING-OFF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24 working-hour hold on all Any-1 account actions. Bank-holiday and weekend aware. Customer can cancel at zero cost at any time. Live progress bar refreshes every 30 seconds. Execution blocked server-side until hold expires.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024128"/>
            <a:ext cx="278892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1115568"/>
            <a:ext cx="731520" cy="3108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MLR 2017 / JMLSG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KYC / KYB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9584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GOV.UK One Login: List 1 biometric photo ID. Address proof &lt; 3 months: List 2. Trading address: List 3. Sanctions country: automatic RM escalation and Enhanced Due Diligence. PEP: MLR s.35 enhanced path. Visitor visa rejected.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7648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7648" y="1024128"/>
            <a:ext cx="27889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27648" y="1115568"/>
            <a:ext cx="731520" cy="31089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SYSC 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8896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AUDIT TRAIL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7-year immutable event log. Every action: actor, timestamp, action type, account reference. Append-only — no mutation post-commit. Exportable PDF/CSV per period. FCA on-demand production capability built in.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72016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72016" y="1024128"/>
            <a:ext cx="278892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72016" y="1115568"/>
            <a:ext cx="73152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63456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HMRC MTD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13264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MAKING TAX DIGITAL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VAT mandatory for all VAT-registered businesses. ITSA mandatory April 2026 for SMEs &gt;£50k. Digital links throughout: bank → categorise → HMRC — no copy-paste break in the chain. 6-year digital retention minimum.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912" y="3602736"/>
            <a:ext cx="278892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8912" y="3694176"/>
            <a:ext cx="731520" cy="31089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0352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PSD2 RTS Art.97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0160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STRONG AUTH (SCA)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5216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6-tier dynamic authentication matrix: device passkey → fingerprint biometric → Voice ID → Voice ID + co-signature → Voice ID + cooling-off → all three combined. Contextual step-up based on transaction risk.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83280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83280" y="3602736"/>
            <a:ext cx="2788920" cy="50292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83280" y="3694176"/>
            <a:ext cx="731520" cy="310896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74720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GDPR Art.5(1)(c)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24528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DATA MINIMISATION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9584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Personal account data excluded from business decisioning at three independent layers: app render tree, call-centre CLI lookup, and credit underwriting engine. Each layer independently enforceable and auditable.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27648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27648" y="3602736"/>
            <a:ext cx="2788920" cy="50292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27648" y="3694176"/>
            <a:ext cx="731520" cy="310896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19088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PS22/9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68896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CONSUMER DUTY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73952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Partner unreachable: 4-branch documented escalation. Direct Debit Guarantee surfaced on every DD transaction with one-tap cancel. Cooling-off rights in plain English on every signing screen. No dark patterns.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72016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272016" y="3602736"/>
            <a:ext cx="2788920" cy="50292"/>
          </a:xfrm>
          <a:prstGeom prst="rect">
            <a:avLst/>
          </a:prstGeom>
          <a:solidFill>
            <a:srgbClr val="FECA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272016" y="3694176"/>
            <a:ext cx="731520" cy="310896"/>
          </a:xfrm>
          <a:prstGeom prst="rect">
            <a:avLst/>
          </a:prstGeom>
          <a:solidFill>
            <a:srgbClr val="FECA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63456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SYSC 10A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13264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SESSION SECURITY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18320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New device/location login triggers amber session anomaly banner. Two resolution paths: 'That was me' or 'Review sessions'. All anomalies logged to audit trail with device and location metadata.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Financial intelligence — not just account balances.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3730752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37307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115568"/>
            <a:ext cx="3364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Pre-Approved Lending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481328"/>
            <a:ext cx="3364992" cy="640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517904"/>
            <a:ext cx="3182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£45,000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2176272"/>
            <a:ext cx="3364992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286000"/>
            <a:ext cx="3364992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03C"/>
                </a:solidFill>
                <a:latin typeface="Calibri"/>
              </a:rPr>
              <a:t>Hero card on the home screen — proactive, not application-led. Based on 6-month transaction history, reserve balance, and payment record. 12 / 24 / 36-month terms with live monthly repayment calculator. CCA 1974 regulated. Cooling-off rights displayed. lendingCompleted persists after draw-down.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52544" y="1024128"/>
            <a:ext cx="3730752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52544" y="1024128"/>
            <a:ext cx="37307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5424" y="1115568"/>
            <a:ext cx="3364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35424" y="1481328"/>
            <a:ext cx="3364992" cy="640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6864" y="1517904"/>
            <a:ext cx="3182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6 months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35424" y="2176272"/>
            <a:ext cx="3364992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5424" y="2286000"/>
            <a:ext cx="3364992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03C"/>
                </a:solidFill>
                <a:latin typeface="Calibri"/>
              </a:rPr>
              <a:t>Chronological and category views of every transaction. Full-text counterparty search with instant results. Counterparty detail sheet: spend breakdown, transaction history, method split. PDF / CSV / Excel export. Payment method filter: all, bank transfer, direct debit, standing order, card. Outgoing / incoming colour-coded with tabular-num amounts.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66176" y="1024128"/>
            <a:ext cx="3730752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66176" y="1024128"/>
            <a:ext cx="37307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49056" y="1115568"/>
            <a:ext cx="3364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International FX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49056" y="1481328"/>
            <a:ext cx="3364992" cy="640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40496" y="1517904"/>
            <a:ext cx="3182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 currencies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49056" y="2176272"/>
            <a:ext cx="3364992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49056" y="2286000"/>
            <a:ext cx="3364992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03C"/>
                </a:solidFill>
                <a:latin typeface="Calibri"/>
              </a:rPr>
              <a:t>EUR, USD, CHF, AUD, CAD. Indicative live rates with FCA fee disclosure (Consumer Rights Act 2015). MLR 2017 screening triggered automatically on amounts ≥ £50k. SWIFT reference generated and logged to audit trail. 3-step flow: amount + currency + IBAN → rate + disclosure → biometric confirm.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Today: a live prototype. Next: a production system.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539496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539496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111556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8716C"/>
                </a:solidFill>
                <a:latin typeface="Calibri"/>
              </a:rPr>
              <a:t>TODAY — 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5029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A291C"/>
                </a:solidFill>
                <a:latin typeface="Calibri"/>
              </a:rPr>
              <a:t>Live at github.io/santander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" y="1682496"/>
            <a:ext cx="5047488" cy="56692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73736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React 18 + App.jsx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8064" y="173736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7,400 lines · single component · all state at top level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" y="2276856"/>
            <a:ext cx="504748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33172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Tailwind CSS + inline CSS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8064" y="233172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Brand tokens · glass effects · responsive mobile/desktop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" y="2871216"/>
            <a:ext cx="5047488" cy="56692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92608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Vite + singlefile plugin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8064" y="292608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832KB self-contained HTML · no CDN · runs offline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" y="3465576"/>
            <a:ext cx="504748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52044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GitHub Pages (gh-pages)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98064" y="352044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Deployed · imscots-ui.github.io/santander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" y="4059936"/>
            <a:ext cx="5047488" cy="56692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11480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No backend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98064" y="411480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All data simulated · validates design not engineering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" y="4654296"/>
            <a:ext cx="504748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70916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21 features built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98064" y="470916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Including Voice ID, MTD, FX, lending, forecasting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08192" y="1024128"/>
            <a:ext cx="5641848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08192" y="1024128"/>
            <a:ext cx="5641848" cy="5486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72784" y="111556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8716C"/>
                </a:solidFill>
                <a:latin typeface="Calibri"/>
              </a:rPr>
              <a:t>NEXT — PRODUCTION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72784" y="1371600"/>
            <a:ext cx="5303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18 months  ·  4 phases  ·  approx 32 FTE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72784" y="1700784"/>
            <a:ext cx="5303520" cy="969264"/>
          </a:xfrm>
          <a:prstGeom prst="rect">
            <a:avLst/>
          </a:prstGeom>
          <a:solidFill>
            <a:srgbClr val="ECFDF5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72784" y="1700784"/>
            <a:ext cx="530352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2512" y="1764792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CLIENT TIER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2512" y="2011680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React 18 PWA · mobile + desktop · Add to Home Screen · iOS / Android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72784" y="2779776"/>
            <a:ext cx="5303520" cy="969264"/>
          </a:xfrm>
          <a:prstGeom prst="rect">
            <a:avLst/>
          </a:prstGeom>
          <a:solidFill>
            <a:srgbClr val="EFF6FF"/>
          </a:solidFill>
          <a:ln w="952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72784" y="2779776"/>
            <a:ext cx="53035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82512" y="2843784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API TIER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82512" y="3090672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FastAPI / AWS API Gateway · JWT RS256 · OAuth2 PKCE · rate limiting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72784" y="3858768"/>
            <a:ext cx="5303520" cy="969264"/>
          </a:xfrm>
          <a:prstGeom prst="rect">
            <a:avLst/>
          </a:prstGeom>
          <a:solidFill>
            <a:srgbClr val="D97706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72784" y="3858768"/>
            <a:ext cx="530352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82512" y="3922776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DATA TIER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82512" y="4169664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PostgreSQL · Audit EventBridge → S3 Glacier · Redis · HMRC records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72784" y="4937760"/>
            <a:ext cx="5303520" cy="969264"/>
          </a:xfrm>
          <a:prstGeom prst="rect">
            <a:avLst/>
          </a:prstGeom>
          <a:solidFill>
            <a:srgbClr val="FDF2F8"/>
          </a:solidFill>
          <a:ln w="9525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72784" y="4937760"/>
            <a:ext cx="53035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2512" y="5001768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INTEGRATIONS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82512" y="5248656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GOV.UK One Login · HMRC MTD API · Vocalink CoP · Companies House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The business case.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6400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D6D3D1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07899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9979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Annualised
opportunity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52544" y="107899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43983" y="117043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3983" y="199979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Cost saving / 10k
customers · Year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66176" y="107899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57616" y="117043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7616" y="199979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Features across
4 areas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" y="277063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286207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69143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52544" y="277063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3983" y="286207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3983" y="369143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Paper forms
retired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66176" y="277063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7616" y="286207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6" y="369143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Compliance
frameworks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4553712"/>
            <a:ext cx="11311128" cy="493776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2064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CA04
Mandate change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61488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34640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CA07
Account closure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10912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84064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CA11
Dormancy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0336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33488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P17
Bulk payment auth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09760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82912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DIB
KYC update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5166360"/>
            <a:ext cx="11311128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5230368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    Prototype live · All features functional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" y="5669280"/>
            <a:ext cx="11311128" cy="43891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3504" y="5733288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    Awaiting stakeholder approval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Four phases. Twelve months to production at scale.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27832" y="1847088"/>
            <a:ext cx="155448" cy="54864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84124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3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Q3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3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3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  <a:latin typeface="Calibri"/>
              </a:rPr>
              <a:t>COMPLETE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3" y="2304288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Prototype live and functional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3" y="3182112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All 21 features validated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3" y="4059935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Stakeholder review complete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3" y="4937760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Architecture documented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1847088"/>
            <a:ext cx="155448" cy="54864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83280" y="1024128"/>
            <a:ext cx="2788920" cy="84124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47872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Q4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1C19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47872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API &amp; AUTH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83280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547872" y="2304288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30752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FastAPI backend + PostgreSQL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47872" y="3182112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30752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JWT auth + GOV.UK One Login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47872" y="4059935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30752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HMRC MTD API integration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47872" y="4937760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30752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Internal beta: 50 colleagues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16567" y="1847088"/>
            <a:ext cx="155448" cy="54864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27648" y="1024128"/>
            <a:ext cx="2788920" cy="84124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92240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Q1 2027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27648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92240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A291C"/>
                </a:solidFill>
                <a:latin typeface="Calibri"/>
              </a:rPr>
              <a:t>COMPLIANCE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27648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92240" y="2304288"/>
            <a:ext cx="54864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75120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Vocalink CoP wired live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92240" y="3182112"/>
            <a:ext cx="54864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0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FCA notification submitted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92240" y="4059935"/>
            <a:ext cx="54864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75120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Cooling-off server-enforced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92240" y="4937760"/>
            <a:ext cx="54864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0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500-customer beta pilot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72016" y="1024128"/>
            <a:ext cx="2788920" cy="84124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36608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Q2 2027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36608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272016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436608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D4ED8"/>
                </a:solidFill>
                <a:latin typeface="Calibri"/>
              </a:rPr>
              <a:t>SCALE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72016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436608" y="2304288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19488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App Store + Play Store launch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436608" y="3182112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19488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80% paperless mandate target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436608" y="4059935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19488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Full MLR / SYSC 9 audit-ready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436608" y="4937760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19488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280,000 customer rollout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Design system — built for every customer.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02412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COLOUR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335024"/>
            <a:ext cx="365760" cy="365760"/>
          </a:xfrm>
          <a:prstGeom prst="rect">
            <a:avLst/>
          </a:prstGeom>
          <a:solidFill>
            <a:srgbClr val="DA291C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3502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#C8102E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5179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A291C"/>
                </a:solidFill>
                <a:latin typeface="Calibri"/>
              </a:rPr>
              <a:t>brand-red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138988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CTAs, active nav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1828800"/>
            <a:ext cx="365760" cy="365760"/>
          </a:xfrm>
          <a:prstGeom prst="rect">
            <a:avLst/>
          </a:prstGeom>
          <a:solidFill>
            <a:srgbClr val="1C1917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8288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#1C1917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01168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A291C"/>
                </a:solidFill>
                <a:latin typeface="Calibri"/>
              </a:rPr>
              <a:t>stone-900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188366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Primary text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2322576"/>
            <a:ext cx="365760" cy="365760"/>
          </a:xfrm>
          <a:prstGeom prst="rect">
            <a:avLst/>
          </a:prstGeom>
          <a:solidFill>
            <a:srgbClr val="FAF6E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3225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#FAF6EF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50545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A291C"/>
                </a:solidFill>
                <a:latin typeface="Calibri"/>
              </a:rPr>
              <a:t>warm-bg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23774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Page background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2816352"/>
            <a:ext cx="365760" cy="365760"/>
          </a:xfrm>
          <a:prstGeom prst="rect">
            <a:avLst/>
          </a:prstGeom>
          <a:solidFill>
            <a:srgbClr val="78716C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81635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#78716C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29992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A291C"/>
                </a:solidFill>
                <a:latin typeface="Calibri"/>
              </a:rPr>
              <a:t>stone-500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287121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Secondary text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3310128"/>
            <a:ext cx="365760" cy="365760"/>
          </a:xfrm>
          <a:prstGeom prst="rect">
            <a:avLst/>
          </a:prstGeom>
          <a:solidFill>
            <a:srgbClr val="FECACA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3101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#FECACA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4930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A291C"/>
                </a:solidFill>
                <a:latin typeface="Calibri"/>
              </a:rPr>
              <a:t>red-200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336499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On red surfaces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1024128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TYPOGRAPHY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49039" y="1280160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58768" y="1335024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Fraunces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58768" y="1572768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Serif — large display numbers, editorial headers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49039" y="1938528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58768" y="1993392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Geist Sans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58768" y="2231136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All body text, labels, navigation, buttons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49039" y="2596896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58768" y="2651760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Geist Mono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58768" y="2889503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Account numbers, sort codes, financial data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49039" y="3255264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58768" y="3310128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num-tab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58768" y="3547872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tabular-nums on every monetary amount — alignment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1024128"/>
            <a:ext cx="4114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ACCESSIBILITY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680960" y="128016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680960" y="128016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27264" y="135331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WCAG 2.1 AA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27264" y="16002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focus-visible:ring on all interactive elements — keyboard users fully supported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680960" y="201168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80960" y="201168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27264" y="208483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Contrast ≥4.5:1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27264" y="23317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Every text / background combination tested — no gray-on-gray ever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680960" y="274320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80960" y="274320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27264" y="281635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tabular-nums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27264" y="306324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All monetary amounts use font-variant-numeric: tabular-nums for column alignment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680960" y="347472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0" y="347472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27264" y="354787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Error messages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27264" y="37947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Describe how to fix — not just what went wrong — per WCAG 3.3.1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680960" y="420624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680960" y="420624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827264" y="427939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Screen reader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27264" y="4526279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ARIA labels on all icons — no decoration-only elements lack alt text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680960" y="493776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0960" y="493776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27264" y="501091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BSL relay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27264" y="52578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Accessibility footer on every screen: BSL relay, Relay UK, large print option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8912" y="5650992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SPACING SCALE (4px base)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8912" y="6263640"/>
            <a:ext cx="420624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38912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69264" y="6217920"/>
            <a:ext cx="420624" cy="914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69264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8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99616" y="6172200"/>
            <a:ext cx="420624" cy="1371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499616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12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029967" y="6126480"/>
            <a:ext cx="420624" cy="18288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029967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16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560320" y="6035040"/>
            <a:ext cx="420624" cy="2743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560320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24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90672" y="5943600"/>
            <a:ext cx="420624" cy="3657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90672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32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21023" y="5760720"/>
            <a:ext cx="420624" cy="5486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21023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48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30352"/>
            <a:ext cx="1054303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£137M. Live today. Zero days to readiness.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1170432"/>
            <a:ext cx="7616952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33502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D6D3D1"/>
                </a:solidFill>
                <a:latin typeface="Calibri"/>
              </a:rPr>
              <a:t>Three decisions for senior management: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719072"/>
            <a:ext cx="3730752" cy="457200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1719072"/>
            <a:ext cx="3730752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DA291C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3584" y="182880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Walk through the prototype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2212848"/>
            <a:ext cx="3364992" cy="21945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331720"/>
            <a:ext cx="336499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Spend 30 minutes with the live prototype at imscots-ui.github.io/santander. Test the workflows, the compliance paths, the dual-signature unlock. Form a view based on evidence, not a slide.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992624"/>
            <a:ext cx="3364992" cy="60350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074920"/>
            <a:ext cx="31821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ACTION  →  Open the link. Walk through it today.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52544" y="1719072"/>
            <a:ext cx="3730752" cy="457200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2544" y="1719072"/>
            <a:ext cx="3730752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5424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DA291C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182880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Commission a technical review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424" y="2212848"/>
            <a:ext cx="3364992" cy="21945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35424" y="2331720"/>
            <a:ext cx="336499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Share the Architecture deck with your engineering leads. The wrap-around pattern, the API contracts, and the 4-phase build plan are already documented. The architecture question has an answer.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424" y="4992624"/>
            <a:ext cx="3364992" cy="60350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26864" y="5074920"/>
            <a:ext cx="31821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ACTION  →  Schedule a 1-hour architecture review.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66176" y="1719072"/>
            <a:ext cx="3730752" cy="457200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66176" y="1719072"/>
            <a:ext cx="3730752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49056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DA291C"/>
                </a:solidFill>
                <a:latin typeface="Calibr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0848" y="182880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Decide on Phase 2 scope and timing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49056" y="2212848"/>
            <a:ext cx="3364992" cy="21945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49056" y="2331720"/>
            <a:ext cx="336499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Phase 1 is complete. The prototype exists. The business case is £137M annualised. Phase 2 needs a sponsor, a team, and a timeline. That decision is the only thing between here and production.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49056" y="4992624"/>
            <a:ext cx="3364992" cy="60350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0496" y="5074920"/>
            <a:ext cx="31821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ACTION  →  Assign a sponsor. Set a Q4 2026 start date.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6565392"/>
            <a:ext cx="11311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Live prototype:  imscots-ui.github.io/santander  ·  No install, no login — open it on any device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