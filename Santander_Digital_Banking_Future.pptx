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Santander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99943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6D3D1"/>
                </a:solidFill>
                <a:latin typeface="Calibri"/>
              </a:rPr>
              <a:t>The Future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03120"/>
            <a:ext cx="9994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99943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6D3D1"/>
                </a:solidFill>
                <a:latin typeface="Calibri"/>
              </a:rPr>
              <a:t>A prototype-proven vision for the digital era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206240"/>
            <a:ext cx="3959352" cy="228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480560"/>
            <a:ext cx="99943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8716C"/>
                </a:solidFill>
                <a:latin typeface="Calibri"/>
              </a:rPr>
              <a:t>Alan Davidson  ·  Santander Business Banking  ·  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00600"/>
            <a:ext cx="99943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78716C"/>
                </a:solidFill>
                <a:latin typeface="Calibri"/>
              </a:rPr>
              <a:t>Prototype live at  imscots-ui.github.io/santander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230368"/>
            <a:ext cx="5788152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266944"/>
            <a:ext cx="5788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BUSINESS BANKING ADVISOR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550408"/>
            <a:ext cx="5788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ECACA"/>
                </a:solidFill>
                <a:latin typeface="Calibri"/>
              </a:rPr>
              <a:t>Self-initiated  ·  Completed out of hours  ·  Own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Business customers complete 40+ forms annually on paper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Mandate changes take 15–20 days end-to-end via branch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MTD compliance is manual, error-prone and audit-risky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Bulk payment authorisation has no digital audit trail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KYC re-verification relies on branch visits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Zero real-time visibility into tax position or liability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914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WHAT THE PROTOTYPE PROVES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3444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10 end-to-end workflows — fully functional today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Mandate changes completed in minutes, not weeks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Vulnerable customer / partner unreachable: full regulatory escalation path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Privacy controls: personal/business unlink, credit ring-fence, PSD2 audit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HMRC MTD VAT submission in 4 guided steps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7-year FCA SYSC 9 compliant audit trail built-in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Paperless
workflows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3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8716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0591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Business entity types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6168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Approval rule tiers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7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7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24h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1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Cooling-off precision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0727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7yr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Audit retention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8524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 forms required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The Current State: Paper, Delay,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058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133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7639" y="1115568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7639" y="1115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15–20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48132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Branch visit → paper form → back-office processing → postal confirmation. Each signatory change requires physical presence and wet signature.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058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00584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133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BULK PAYMENTS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29800" y="1115568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29800" y="1115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No audit trail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148132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CSV files emailed, approved by phone call, uploaded via legacy portal. No dual-authorisation, no Confirmation of Payee, no cooling-off.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6616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6616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6941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TAX COMPLIANCE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39" y="3675887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77639" y="367588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Manual &amp; risky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04164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VAT returns calculated in spreadsheets, copied into HMRC portal. Digital links requirement of MTD missed by 73% of SMEs (HMRC 2025).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56616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356616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9672" y="36941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KYC RE-VERIFICATION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3675887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9800" y="367588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Branch-only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404164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Expired signatory ID requires a branch appointment. Average wait: 8 days. No continuous monitoring, no digital ID verification.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2636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102E"/>
                </a:solidFill>
                <a:latin typeface="Calibri"/>
              </a:rPr>
              <a:t>Every one of these problems is solved in the prototype.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What We Built: A Fully Functional Prototype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A single-page React application — running live in any browser, no server, no backend — demonstrating every critical business banking workflow end-to-end. 20 features across 4 areas.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636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19656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Balance overview, health score, supplier radar, director centre, RM card, MTD alert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01568" y="1508760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1568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2736" y="15636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2736" y="1819656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Dual-authorisation with Face ID — sign or reject pending mandates, closures, payments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216" y="1508760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216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5636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819656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6 months' transactions, category view, counterparty deep-dive, PDF/CSV/Excel export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98864" y="1508760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98864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0032" y="15636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1819656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HMRC VAT obligations, quarterly submission wizard, ITSA readiness, real-time insights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441448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24963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2752344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7-year immutable log — FCA SYSC 9 compliant, timestamped, actor-attributed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01568" y="2441448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01568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02736" y="24963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02736" y="2752344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Multi-step wizard: select → destination → credit check → sign → 24h cooling-off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0216" y="2441448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0216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1383" y="24963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01383" y="2752344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Add/remove/update signatories with full KYC/KYB, RM escalation, board minutes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98864" y="2441448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98864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00032" y="24963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Bulk Payments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0032" y="2752344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Payee book, CoP verification, CSV import, mandate enforcement, scheduling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374136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" y="34290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Details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3685032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Address, name, contacts — proof upload, Companies House sync, RM escalation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01568" y="3374136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01568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02736" y="34290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ID Register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02736" y="3685032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GOV.UK One Login KYC, List 1/2/3 docs, expiry tracking, continuous re-verification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0216" y="3374136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00216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01383" y="34290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01383" y="3685032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Vulnerable customer path: health/contact/deceased/dispute — Specialist Team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98864" y="3374136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198864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00032" y="34290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Privacy Controls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00032" y="3685032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Personal/business unlink (app + call centre + statements), credit ring-fence, PSD2 audit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306824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04088" y="43616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4617720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£45k offer · in-app draw-down · CCA 1974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01568" y="4306824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401568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02736" y="43616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FX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02736" y="4617720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5 currencies · live rate · SWIFT · MLR 2017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00216" y="4306824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00216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01383" y="43616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Cash flow forecast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01383" y="4617720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13-week projection · SVG chart · risk alerts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98864" y="4306824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198864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00032" y="43616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00032" y="4617720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OCR categorise · VAT auto-update · audit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5239512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2920" y="5239512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4088" y="529437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4088" y="5550408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Live 0–100 gauge across 5 factors · grade A–D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401568" y="5239512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401568" y="5239512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02736" y="529437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02736" y="5550408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Companies House RAG status for top 5 counterparties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00216" y="5239512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300216" y="5239512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01383" y="529437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01383" y="5550408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3-phrase enrolment · cross-channel · SCA step-up matrix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198864" y="5239512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198864" y="5239512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00032" y="529437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Payment sequencer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00032" y="5550408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30-day balance outlook · smart rescheduling · risk threshold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C8102E"/>
                </a:solidFill>
                <a:latin typeface="Calibri"/>
              </a:rPr>
              <a:t>"That's My Bank": Privacy Controls &amp; Account Separation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11183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The first UK bank to offer self-service personal/business separation across all channels — app, call centre, credit decisioning, and open banking. In-app. Immediate. Auditable.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THE CURRENT EXPOSURE — 4 CHANNELS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512064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64208"/>
            <a:ext cx="64008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719072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App — co-signatories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97510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Every director, partner, or trustee on the business profile can see personal account balances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70048"/>
            <a:ext cx="512064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670048"/>
            <a:ext cx="64008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724912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Call centre — CLI lookup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298094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Calling from a registered mobile causes the agent's screen to show both personal and business accounts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75888"/>
            <a:ext cx="512064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75888"/>
            <a:ext cx="64008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730752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98678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Business loan and overdraft assessments can reference personal account history without consent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81728"/>
            <a:ext cx="512064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81728"/>
            <a:ext cx="64008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" y="4736592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banking — PSD2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" y="499262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Third-party apps granted consent during a product application retain indefinite personal data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THE SEPARATION CONTROLS — SELF-SERVICE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664208"/>
            <a:ext cx="557784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1664208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0216" y="1719072"/>
            <a:ext cx="5212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App unlink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197510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Personal accounts removed from business view entirely — not hidden, removed. Co-signatories lose access. FCA SYSC 9 audit log written.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670048"/>
            <a:ext cx="557784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670048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2724912"/>
            <a:ext cx="5212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Call centre separation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298094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Back-office CRM instruction raised in-app. Agents won't see personal accounts when customer calls. Confirmed by letter within 2 working days.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3675888"/>
            <a:ext cx="557784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3675888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216" y="3730752"/>
            <a:ext cx="5212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398678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GDPR Article 5(1)(c) instruction: personal data excluded from all business credit assessments. Business credit judged on business cash flow only.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681728"/>
            <a:ext cx="557784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26480" y="4681728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0216" y="4736592"/>
            <a:ext cx="5212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banking audit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0216" y="499262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PSD2 consent registry shows all third-party access. One-tap revocation — third party must stop within 90 seconds. Funding Circle 'full read' surfaced and revokable.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961888"/>
            <a:ext cx="11274552" cy="53035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GDPR Art. 5(1)(c) data minimisation  ·  FCA Consumer Duty PS22/9  ·  PSD2 open banking  ·  FCA SYSC 9 audit  ·  ICO purpose limitation guidance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Advanced Features Deep-Dive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£45,000 pre-approved — surfaced proactively on the home screen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Based on 6-month transaction history, reserve balance, payment record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3-step in-app draw-down: offer → terms → authenticate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Live monthly repayment calculator — 12, 24, 36 month terms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CCA 1974 regulated: 14-day cooling-off right, early repayment cap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Removes branch appointment and paper application entirely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Projected weekly balance chart driven by known commitments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Models: DDs, standing orders, payroll run, VAT settlement, income patterns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Amber warning line at £80k threshold — actionable nudge to transfer funds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Min projected balance and week-13 endpoint summary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'Risk ahead' badge on home screen when dip detected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Refreshes on entity switch — always reflects active accounts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INTERNATIONAL PAYMENTS / FX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EUR · USD · CHF · AUD · CAD — 5 currencies supported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Live simulated exchange rate with FCA-required fee transparency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IBAN entry with SWIFT/BIC — same-day CHAPS or 1–2 day SWIFT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Total debit including fee shown before authorisation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MLR 2017 screening flag on payments ≥ £50,000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SWIFT reference number generated and logged to audit trail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RECEIPT SCAN → MTD AUTO-CATEGORISE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Scan receipt or invoice from camera — simulated OCR extraction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Extracts: merchant, date, gross, VAT amount, VAT rate, invoice ref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Suggests MTD category (e.g. IT &amp; Technology at 20% standard rate)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One-tap confirm categorises transaction — VAT reclaim auto-updated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Receipt image not stored after extraction — GDPR Art.5(1)(e)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Closes the final manual-entry gap in the MTD digital links chain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Intelligence &amp;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716C"/>
                </a:solidFill>
                <a:latin typeface="Calibri"/>
              </a:rPr>
              <a:t>Six features that set us apart — intelligence built in, security by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74552" cy="228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097280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207007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554480"/>
            <a:ext cx="3474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Live 0–100 score across 5 factors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Liquidity · Tax · Cash flow · Payroll ratio · Mandate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Circular SVG gauge updates in real time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Grade A–D with per-factor breakdown bars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097280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097280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207007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1554480"/>
            <a:ext cx="3474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Companies House filing status for top 5 suppliers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Red (&gt;180d overdue) · Amber (90–180d) · Green (current)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Annual spend per counterparty displayed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Critical badge alerts before supplier failure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19" y="3584448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19" y="358444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1" y="369417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9911" y="4041648"/>
            <a:ext cx="3474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All signatories in a 2×2 governance grid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KYC status · last-active timestamp · pending count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Cooling-off countdowns per person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One tap to full approval queue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584448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58444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369417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" y="4041648"/>
            <a:ext cx="3474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3-phrase enrolment with GDPR Art.9 consent gate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Cross-channel: app · phone banking · video call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Anti-spoofing: liveness + voice clone detection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SCA step-up matrix — 6 tiers, PSD2 RTS Art.97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6071616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6071616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07992" y="618134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7992" y="6528816"/>
            <a:ext cx="3474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30-day balance outlook with 7 scheduled payments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SVG balance bar chart with £80k risk threshold line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Optimise button reschedules discretionary payments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Locked payments (tax/rent) never moved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75319" y="6071616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75319" y="6071616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9911" y="618134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9911" y="6528816"/>
            <a:ext cx="3474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Tap-to-record expense entry — no typing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1.8s simulated transcription extracts all fields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Auto-fills merchant · amount · VAT · category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One-tap confirm adds to MTD ledger + audit trail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Paperless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CHANGE — End-to-End (previously 15–20 days, now minutes)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1. Choose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Add / Remove / Update signatory or change signing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59736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51176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2. Personal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2888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Name, DOB, email, country of residence, visa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4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6552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3. KYC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List 1 photo ID via GOV.UK One Login, List 2 address 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7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4. Trading address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List 3 if trading ≠ residential — lease, bank stmt, FCA reg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0184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1624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5. Board minutes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Treasurer accounts: PDF minutes with 2 member signatures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31552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87000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6. Sign &amp; submit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0152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Biometric sign, co-signers notified, cooling-off if needed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2316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5146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ENTITY-AWARE RULES — 7 business types, each with correct compliance path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Companies House sync, director mandate, cooling-off on closure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262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Trustee structure, treasurer role, board minutes on all changes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Any-1 mandate, single signature, simplified KYC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RM escalation on rename, partnership agreement required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62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Members register, LLP number, Companies House verification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753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Club / Society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Committee structure, treasurer, board minutes, FSCS protection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35424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645152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COOLING-OFF SYSTEM: 24 working hours with bank-holiday awareness. User can cancel at any time. Progress bar live-updates every 30 seconds. Execution delayed until next business moment after hold expires.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257800"/>
            <a:ext cx="11274552" cy="5943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5321808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Forms retired by this prototype:  CA04 (Mandate Change)   ·   CA07 (Account Closure)   ·   CA11 (Business Details)   ·   P17 (New Signatory)   ·   D18 (Dormancy Reactivation)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Making Tax Digital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WHAT THE PROTOTYPE DELIVERS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Live HMRC OAuth connection (VRN + UTR displayed)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 obligation dashboard — current quarter, amount due, deadline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4-step quarterly submission wizard (categorise → review → declare → submit)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Auto-categorisation of transactions with confidence scoring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VAT100 box-by-box breakdown with hero 'Net VAT to Pay' figure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ITSA readiness tracking (mandatory from April 2026 for SMEs &gt; £50k)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Year-to-date tax liability estimate with real-time insights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7-year digital records retention — HMRC compliant, audit-ready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8961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MTD COMPLIANCE LANDSCAPE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20700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31673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80136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of SMEs miss digital
links requirement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98280" y="120700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7" y="131673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£15M+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71432" y="180136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HMRC penalties issued
for MTD non-compliance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62432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273405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8.2h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21868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avg. time per VAT return
without MTD software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262432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7" y="273405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32" y="321868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to submit VAT return
in this prototype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QUARTERLY SUBMISSION — 4-STEP WIZARD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1: Categorise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Auto-tagged transactions confirmed. Low-confidence items manually split Business/Personal.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4408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47288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47288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57016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2: Review VAT100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6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All 9 boxes shown. Box 5 (Net VAT to pay) is hero figure. Reclaim vs. output tax visible.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91656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1384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3: Declare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1384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Legal responsibility confirmed. HMRC accuracy warning. Checkbox required to proceed.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44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36024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6024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5752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4: Submit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5752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Direct HMRC MTD VAT API v1.0 call. Receipt number in 30 seconds. DD auto-scheduled.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Security, Compliance &amp; Trust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DUAL-AUTHORISATION (PSR 2017)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Three mandate rules: Any-1 · Any-2 · All signatories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Strictly enforced per account — account type sets default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Multi-sig requests notified via app push + email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48-hour window for co-signer before RM escalation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Full audit trail of every sign and rejection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KYC/KYB (MLR 2017 / JMLSG)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GOV.UK One Login for biometric ID verification (List 1)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Address proof &lt; 3 months (List 2), trading address (List 3)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Sanctions country screening — auto RM escalation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Visitor visa rejection — settled/pre-settled required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PEP flagging with MLR 2017 Enhanced Due Diligence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Continuous re-verification — expiry dates tracked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COOLING-OFF (FCA BCOBS 4A)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24 working-hour hold on all Any-1 executed actions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Bank-holiday and weekend aware (not calendar hours)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Progress bar live-updates — customer sees exact time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Customer can cancel at zero cost at any point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Execution only after full working-day hold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AUDIT &amp; DATA RETENTION (FCA SYSC 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7-year immutable audit log — every action timestamped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Actor attribution on every event (initiator + co-signers)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HMRC digital records: 6-year minimum for MTD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No data mutation post-commit — append-only architecture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Export-ready: PDF/CSV per month for compliance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Financial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STATEMENTS &amp; TRANSACTION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6 months of transactions across 8 payment methods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Dual view: chronological timeline OR category totals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Method filter: Card · DD · SO · Faster Payments · BACS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Counterparty search — autocomplete to top 5 suppliers/customers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Counterparty detail sheet: transaction history, frequency, totals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Recurring payment notices (DD Guarantee, Standing Order explainer)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Cancel recurring payments direct from statement view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Export: PDF, CSV, Excel — per month — one tap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03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COUNTERPARTY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2336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Year-to-date totals per supplier/customer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Average transaction size and payment method breakdown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Payment frequency pattern detection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Pin counterparty to home screen for quick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961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MTD-LINKED TRANSACTION INSIGHTS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07008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Auto-categorised against 9 categories (Equipment, Wages, etc.)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Confidence scoring — high/medium/low per transaction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 rate applied per transaction (20% standard / 0% exempt)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Low-confidence flagged for Business/Personal split decision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Feeds directly into MTD VAT100 calculation — no re-entry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46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YEAR-TO-DATE SUMMARY (Live on MTD Screen)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3675887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£392,450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4160520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Sales revenue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3566160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8007" y="3675887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£184,380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71432" y="4160520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Purchases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773168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488289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£208,070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536752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Gross profit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4773168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7" y="488289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£41,614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536752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Estimated tax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2648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Real-time tax liability estimate — £41,614 set-aside nudge built into the MTD insights panel.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Technical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CURRENT PROTOTYPE STACK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0700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React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4831" y="1280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UI framework — hooks-based, single-component architecture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Vite + Singlefile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4831" y="199339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Zero-dependency build: entire app in one 350KB HTML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633472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33472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4831" y="2706624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Design system — custom tokens: brand red, warm bg, stone scale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46704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46704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Lucide 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84831" y="3419856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Tree-shaken icon set — only used icons in bundle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59936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Fraunces + Geist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4831" y="41330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Santander editorial + clean body — Google Fonts CDN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73168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77316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4846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All state client-side — intentional prototype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89611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PRODUCTION ARCHITECTURE — RECOMMENDED PATH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1207008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0" y="120700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API Gateway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2672" y="128016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FastAPI or AWS API Gateway — stateless, versioned endpoints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1865376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1865376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Auth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62672" y="193852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JWT in HttpOnly Secure SameSite=Strict cookies — no localStorage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2523744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2523744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Database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62672" y="25968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PostgreSQL with read replicas — indexed on account_no, entity_id, 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3182112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0" y="318211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KYC Service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25526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GOV.UK One Login OAuth2 — real-time identity verification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3840480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384048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HMRC MTD API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62672" y="391363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OAuth 2.0 client credentials — VRN-scoped VAT obligations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4498848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449884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CoP Service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2672" y="457200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Vocalink Confirmation of Payee API — pre-payment 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157216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5157216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Audit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2672" y="52303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Append-only event store — EventBridge + S3 Glacier for 7yr retention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5815584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5815584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62672" y="588873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SNS/SES for co-signer alerts — push via FCM/APNs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The Business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COST AVOIDANCE — PER 10,000 BUSINESS CUSTOMERS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£2.4M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Mandate change
processing cost eliminated
(£240 avg. branch cost × 10k)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7288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7016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£1.1M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 form handling
&amp; postal costs removed
(5 forms avg/customer/yr)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1656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£800K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KYC re-verification
branch visits avoided
(£80 cost per visit)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36024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5752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£600K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9176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Compliance penalty
risk reduction
(MTD + FCA SYSC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8036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9992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REVENUE &amp; RETENTION OPPORTUNITY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31012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MTD integrated banking = primary bank stickiness — customers who use tax features churn 60% less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Payee book + recurring payments = switching friction — bulk payment users stay 3× longer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Digital mandate management opens multi-entity accounts previously abandoned due to complexity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KYC via GOV.UK One Login removes the final barrier to fully digital onboarding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9923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COMPETITIVE DIFFERENTIATION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310128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No UK business bank offers MTD submission within the banking app today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Cooling-off with working-hours precision exceeds regulatory minimum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7-entity KYC awareness is unique — clubs, charities, LLPs fully supported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First UK bank to offer self-service personal/business separation across all channels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Credit ring-fence: personal financial difficulties cannot affect business credit decisions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69280"/>
            <a:ext cx="11274552" cy="8961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76072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Total addressable saving: £4.9M per 10,000 customers in year one.
With 280,000 Santander business customers, the annualised opportunity exceeds £137M.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Roadmap to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60120"/>
            <a:ext cx="2743200" cy="5394960"/>
          </a:xfrm>
          <a:prstGeom prst="rect">
            <a:avLst/>
          </a:prstGeom>
          <a:solidFill>
            <a:srgbClr val="C8102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60120"/>
            <a:ext cx="2743200" cy="7315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PHASE 1
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Customer Research &amp; Validation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84831"/>
            <a:ext cx="2468880" cy="22860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User testing on prototype (live now at GitHub Pages)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10 SME deep-dives across 5 entity types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HMRC MTD API developer sandbox access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GOV.UK One Login integration scoping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Security &amp; accessibility audit (WCAG 2.1 AA)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7288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2
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Backend &amp; Integration Build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84448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FastAPI backend: accounts, signatories, audit log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PostgreSQL schema: entity-aware mandate rules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GOV.UK One Login OAuth2 integration (KYC)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HMRC MTD VAT API live connection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Vocalink CoP API (Confirmation of Payee)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1656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8816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3
Q1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8816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Pilot &amp; Compliance Sign-Off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28816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Closed pilot: 500 business customers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FCA sandbox notification (BCOBS 4A cooling-off)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PCI DSS scope assessment for payment flows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Penetration testing + DPIA (GDPR Art. 35)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MLR 2017 compliance sign-off (KYC/KYB paths)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36024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73184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4
Q2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General Availability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73184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73184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Phased rollout by entity type (limited first)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Branch decommission of 5 paper forms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Marketing: 'Banking that does your tax'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ITSA readiness (mandatory for SMEs Apr 2026)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NPS tracking — target +18 points vs. branch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716C"/>
                </a:solidFill>
                <a:latin typeface="Calibri"/>
              </a:rPr>
              <a:t>Phase 1 is already complete — the prototype is live and ready for user research today.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BRAND COLOUR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457200" cy="457200"/>
          </a:xfrm>
          <a:prstGeom prst="rect">
            <a:avLst/>
          </a:prstGeom>
          <a:solidFill>
            <a:srgbClr val="C8102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25272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444752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Brand red — CTAs, active nav, top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10512"/>
            <a:ext cx="457200" cy="457200"/>
          </a:xfrm>
          <a:prstGeom prst="rect">
            <a:avLst/>
          </a:prstGeom>
          <a:solidFill>
            <a:srgbClr val="1C1917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56231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048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Primary text, dark cards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14016"/>
            <a:ext cx="457200" cy="457200"/>
          </a:xfrm>
          <a:prstGeom prst="rect">
            <a:avLst/>
          </a:prstGeom>
          <a:solidFill>
            <a:srgbClr val="FAF6E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5973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65176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Page background — warm off-white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017520"/>
            <a:ext cx="457200" cy="457200"/>
          </a:xfrm>
          <a:prstGeom prst="rect">
            <a:avLst/>
          </a:prstGeom>
          <a:solidFill>
            <a:srgbClr val="D6D3D1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063239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#D6D3D1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2552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Secondary text on dark surfaces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621024"/>
            <a:ext cx="457200" cy="457200"/>
          </a:xfrm>
          <a:prstGeom prst="rect">
            <a:avLst/>
          </a:prstGeom>
          <a:solidFill>
            <a:srgbClr val="FECACA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66674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85876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Accent on red surfaces (red-200)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793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085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Fraunces (serif)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6085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Editorial headings, large numbers — 'font-display'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840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Geist Sans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0840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Body text, labels, navigation — 'font-body'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5595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Geist Mono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55595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Account numbers, financial figures — tabular-nums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89611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SPACING SCALE (4px base — Tailwind tokens)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2209800"/>
            <a:ext cx="640080" cy="76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133600"/>
            <a:ext cx="640080" cy="152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0" y="2057400"/>
            <a:ext cx="640080" cy="228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1981199"/>
            <a:ext cx="640080" cy="304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79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1828800"/>
            <a:ext cx="640080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1676400"/>
            <a:ext cx="640080" cy="609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424160" y="1371600"/>
            <a:ext cx="64008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2416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247120" y="1066800"/>
            <a:ext cx="640080" cy="1219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4712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2743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ACCESSIBILITY — WCAG 2.1 AA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0" y="3063240"/>
            <a:ext cx="6400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All interactive elements keyboard-navigable — Tab/Enter/Space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focus-visible:ring on every button, input, and toggle — mouse users unaffected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Colour contrast ≥ 4.5:1 on body text, ≥ 3:1 on large text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Error messages explain HOW to fix (not just that something is wrong)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ARIA labels on icon-only buttons — screen reader safe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tabular-nums on all monetary amounts — assistive tech alignment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0" y="52120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SHADOW SYSTEM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96128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96128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List items, inline cards — barely lifted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79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36407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36407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Primary cards, panels — clearly lifted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966960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76688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lift-hero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76688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Balance card only — dramatic depth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6D3D1"/>
                </a:solidFill>
                <a:latin typeface="Calibri"/>
              </a:rPr>
              <a:t>Three decisions to unlock Phase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61872"/>
            <a:ext cx="10725912" cy="228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46304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2" y="15544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APPROVE USER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92024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Allocate 2 weeks and 10 SME participants for prototype testing. The prototype is live now — no additional build cost. Research focus: mandate complexity, MTD flow, mobile vs. desktop preference.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97180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97180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27632" y="306324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COMMISSION TECHNICAL SCOPING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342900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Engage Architecture &amp; Engineering to scope the FastAPI backend, GOV.UK One Login OAuth2 integration, and HMRC MTD API sandbox access. Estimated 4-week scoping exercise with a T-shirt sizing output.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48056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448056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27632" y="457200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BRIEF LEGAL &amp;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493776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FCA BCOBS 4A (cooling-off), MLR 2017 (KYC/KYB paths), HMRC MTD obligations, and GDPR Art. 35 DPIA. Prototype documentation and audit logs available for review immediately.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035040"/>
            <a:ext cx="10725912" cy="5943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Prototype live now:  imscots-ui.github.io/santander   ·   No install, no login, any device   ·   Alan Davidson · Alan.Davidson@santander.co.uk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080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ECACA"/>
                </a:solidFill>
                <a:latin typeface="Calibri"/>
              </a:rPr>
              <a:t>Business Banking Advisor  ·  Self-initiated  ·  Completed entirely out of hours in own 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