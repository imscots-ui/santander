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EC0000"/>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pic>
        <p:nvPicPr>
          <p:cNvPr id="12" name="Santander logo" descr="santander-logo-white.png"/>
          <p:cNvPicPr>
            <a:picLocks noChangeAspect="1"/>
          </p:cNvPicPr>
          <p:nvPr/>
        </p:nvPicPr>
        <p:blipFill>
          <a:blip r:embed="rId2"/>
          <a:stretch>
            <a:fillRect/>
          </a:stretch>
        </p:blipFill>
        <p:spPr>
          <a:xfrm>
            <a:off x="502920" y="457200"/>
            <a:ext cx="2377440" cy="4112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~7,400 lines) and deployed on GitHub Pages.</a:t>
            </a:r>
          </a:p>
          <a:p>
            <a:pPr>
              <a:spcBef>
                <a:spcPts val="400"/>
              </a:spcBef>
            </a:pPr>
          </a:p>
          <a:p>
            <a:pPr>
              <a:spcBef>
                <a:spcPts val="800"/>
              </a:spcBef>
            </a:pPr>
            <a:r>
              <a:rPr sz="1400" b="1">
                <a:solidFill>
                  <a:srgbClr val="EC0000"/>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EC0000"/>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EC0000"/>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EC0000"/>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EC0000"/>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EC0000"/>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EC0000"/>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EC0000"/>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EC0000"/>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EC0000"/>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EC0000"/>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EC0000"/>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EC0000"/>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EC0000"/>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EC0000"/>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EC0000"/>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EC0000"/>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EC0000"/>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EC0000"/>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EC0000"/>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EC0000"/>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accordion of all 17 workflows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display headline (Santander Text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EC0000"/>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EC0000"/>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EC0000"/>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EC0000"/>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EC0000"/>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EC0000"/>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EC0000"/>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EC0000"/>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EC0000"/>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EC0000"/>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EC0000"/>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EC0000"/>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EC0000"/>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EC0000"/>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EC0000"/>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EC0000"/>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EC0000"/>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EC0000"/>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EC0000"/>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EC0000"/>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17 paperless journeys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lnSpc>
                <a:spcPct val="100000"/>
              </a:lnSpc>
              <a:spcBef>
                <a:spcPts val="0"/>
              </a:spcBef>
              <a:spcAft>
                <a:spcPts val="100"/>
              </a:spcAft>
            </a:pPr>
            <a:r>
              <a:rPr sz="1100" b="1">
                <a:solidFill>
                  <a:srgbClr val="EC0000"/>
                </a:solidFill>
                <a:latin typeface="Calibri"/>
              </a:rPr>
              <a:t>Mechanics</a:t>
            </a:r>
          </a:p>
          <a:p>
            <a:pPr lvl="1">
              <a:lnSpc>
                <a:spcPct val="100000"/>
              </a:lnSpc>
              <a:spcBef>
                <a:spcPts val="0"/>
              </a:spcBef>
              <a:spcAft>
                <a:spcPts val="100"/>
              </a:spcAft>
            </a:pPr>
            <a:r>
              <a:rPr sz="950">
                <a:solidFill>
                  <a:srgbClr val="1C1917"/>
                </a:solidFill>
                <a:latin typeface="Calibri"/>
              </a:rPr>
              <a:t>•  — Tapping an action tile or forecast card opens a full-screen workflow overlay.</a:t>
            </a:r>
          </a:p>
          <a:p>
            <a:pPr lvl="1">
              <a:lnSpc>
                <a:spcPct val="100000"/>
              </a:lnSpc>
              <a:spcBef>
                <a:spcPts val="0"/>
              </a:spcBef>
              <a:spcAft>
                <a:spcPts val="100"/>
              </a:spcAft>
            </a:pPr>
            <a:r>
              <a:rPr sz="950">
                <a:solidFill>
                  <a:srgbClr val="1C1917"/>
                </a:solidFill>
                <a:latin typeface="Calibri"/>
              </a:rPr>
              <a:t>•  — Each workflow is step-based (0-indexed). Progress dots across the top.</a:t>
            </a:r>
          </a:p>
          <a:p>
            <a:pPr lvl="1">
              <a:lnSpc>
                <a:spcPct val="100000"/>
              </a:lnSpc>
              <a:spcBef>
                <a:spcPts val="0"/>
              </a:spcBef>
              <a:spcAft>
                <a:spcPts val="100"/>
              </a:spcAft>
            </a:pPr>
            <a:r>
              <a:rPr sz="950">
                <a:solidFill>
                  <a:srgbClr val="1C1917"/>
                </a:solidFill>
                <a:latin typeface="Calibri"/>
              </a:rPr>
              <a:t>•  — Back button: goes to previous step. At step 0, closes the workflow entirely.</a:t>
            </a:r>
          </a:p>
          <a:p>
            <a:pPr lvl="1">
              <a:lnSpc>
                <a:spcPct val="100000"/>
              </a:lnSpc>
              <a:spcBef>
                <a:spcPts val="0"/>
              </a:spcBef>
              <a:spcAft>
                <a:spcPts val="100"/>
              </a:spcAft>
            </a:pPr>
            <a:r>
              <a:rPr sz="950">
                <a:solidFill>
                  <a:srgbClr val="1C1917"/>
                </a:solidFill>
                <a:latin typeface="Calibri"/>
              </a:rPr>
              <a:t>•  — 'Replaces' footer: shows which paper form or manual process this replaces.</a:t>
            </a:r>
          </a:p>
          <a:p>
            <a:pPr>
              <a:lnSpc>
                <a:spcPct val="100000"/>
              </a:lnSpc>
              <a:spcBef>
                <a:spcPts val="0"/>
              </a:spcBef>
              <a:spcAft>
                <a:spcPts val="100"/>
              </a:spcAft>
            </a:pPr>
          </a:p>
          <a:p>
            <a:pPr>
              <a:lnSpc>
                <a:spcPct val="100000"/>
              </a:lnSpc>
              <a:spcBef>
                <a:spcPts val="0"/>
              </a:spcBef>
              <a:spcAft>
                <a:spcPts val="100"/>
              </a:spcAft>
            </a:pPr>
            <a:r>
              <a:rPr sz="1100" b="1">
                <a:solidFill>
                  <a:srgbClr val="EC0000"/>
                </a:solidFill>
                <a:latin typeface="Calibri"/>
              </a:rPr>
              <a:t>The 17 workflows</a:t>
            </a:r>
          </a:p>
          <a:p>
            <a:pPr lvl="1">
              <a:lnSpc>
                <a:spcPct val="100000"/>
              </a:lnSpc>
              <a:spcBef>
                <a:spcPts val="0"/>
              </a:spcBef>
              <a:spcAft>
                <a:spcPts val="100"/>
              </a:spcAft>
            </a:pPr>
            <a:r>
              <a:rPr sz="950">
                <a:solidFill>
                  <a:srgbClr val="1C1917"/>
                </a:solidFill>
                <a:latin typeface="Calibri"/>
              </a:rPr>
              <a:t>•  1.  Account closure        — Form ANB9 0370 · 4 steps · 24h cooling-off</a:t>
            </a:r>
          </a:p>
          <a:p>
            <a:pPr lvl="1">
              <a:lnSpc>
                <a:spcPct val="100000"/>
              </a:lnSpc>
              <a:spcBef>
                <a:spcPts val="0"/>
              </a:spcBef>
              <a:spcAft>
                <a:spcPts val="100"/>
              </a:spcAft>
            </a:pPr>
            <a:r>
              <a:rPr sz="950">
                <a:solidFill>
                  <a:srgbClr val="1C1917"/>
                </a:solidFill>
                <a:latin typeface="Calibri"/>
              </a:rPr>
              <a:t>•  2.  Business details (Biz) — Name, address, authorised contact · 4 steps</a:t>
            </a:r>
          </a:p>
          <a:p>
            <a:pPr lvl="1">
              <a:lnSpc>
                <a:spcPct val="100000"/>
              </a:lnSpc>
              <a:spcBef>
                <a:spcPts val="0"/>
              </a:spcBef>
              <a:spcAft>
                <a:spcPts val="100"/>
              </a:spcAft>
            </a:pPr>
            <a:r>
              <a:rPr sz="950">
                <a:solidFill>
                  <a:srgbClr val="1C1917"/>
                </a:solidFill>
                <a:latin typeface="Calibri"/>
              </a:rPr>
              <a:t>•  3.  Mandate change         — Add/remove signatories, change signing rule · 5 steps</a:t>
            </a:r>
          </a:p>
          <a:p>
            <a:pPr lvl="1">
              <a:lnSpc>
                <a:spcPct val="100000"/>
              </a:lnSpc>
              <a:spcBef>
                <a:spcPts val="0"/>
              </a:spcBef>
              <a:spcAft>
                <a:spcPts val="100"/>
              </a:spcAft>
            </a:pPr>
            <a:r>
              <a:rPr sz="950">
                <a:solidFill>
                  <a:srgbClr val="1C1917"/>
                </a:solidFill>
                <a:latin typeface="Calibri"/>
              </a:rPr>
              <a:t>•  4.  Bulk payments (Wages)  — Persistent payee book, CSV upload, BACS · 4 steps</a:t>
            </a:r>
          </a:p>
          <a:p>
            <a:pPr lvl="1">
              <a:lnSpc>
                <a:spcPct val="100000"/>
              </a:lnSpc>
              <a:spcBef>
                <a:spcPts val="0"/>
              </a:spcBef>
              <a:spcAft>
                <a:spcPts val="100"/>
              </a:spcAft>
            </a:pPr>
            <a:r>
              <a:rPr sz="950">
                <a:solidFill>
                  <a:srgbClr val="1C1917"/>
                </a:solidFill>
                <a:latin typeface="Calibri"/>
              </a:rPr>
              <a:t>•  5.  Lending draw-down      — Pre-approved offer, term selector · 4 steps</a:t>
            </a:r>
          </a:p>
          <a:p>
            <a:pPr lvl="1">
              <a:lnSpc>
                <a:spcPct val="100000"/>
              </a:lnSpc>
              <a:spcBef>
                <a:spcPts val="0"/>
              </a:spcBef>
              <a:spcAft>
                <a:spcPts val="100"/>
              </a:spcAft>
            </a:pPr>
            <a:r>
              <a:rPr sz="950">
                <a:solidFill>
                  <a:srgbClr val="1C1917"/>
                </a:solidFill>
                <a:latin typeface="Calibri"/>
              </a:rPr>
              <a:t>•  6.  FX / International     — SWIFT/SEPA, rate lock, counterparty · 4 steps</a:t>
            </a:r>
          </a:p>
          <a:p>
            <a:pPr lvl="1">
              <a:lnSpc>
                <a:spcPct val="100000"/>
              </a:lnSpc>
              <a:spcBef>
                <a:spcPts val="0"/>
              </a:spcBef>
              <a:spcAft>
                <a:spcPts val="100"/>
              </a:spcAft>
            </a:pPr>
            <a:r>
              <a:rPr sz="950">
                <a:solidFill>
                  <a:srgbClr val="1C1917"/>
                </a:solidFill>
                <a:latin typeface="Calibri"/>
              </a:rPr>
              <a:t>•  7.  Dormancy management    — Reactivate or close dormant accounts · 3 steps</a:t>
            </a:r>
          </a:p>
          <a:p>
            <a:pPr lvl="1">
              <a:lnSpc>
                <a:spcPct val="100000"/>
              </a:lnSpc>
              <a:spcBef>
                <a:spcPts val="0"/>
              </a:spcBef>
              <a:spcAft>
                <a:spcPts val="100"/>
              </a:spcAft>
            </a:pPr>
            <a:r>
              <a:rPr sz="950">
                <a:solidFill>
                  <a:srgbClr val="1C1917"/>
                </a:solidFill>
                <a:latin typeface="Calibri"/>
              </a:rPr>
              <a:t>•  8.  Account unlinking      — Separate personal from business data · 3 steps</a:t>
            </a:r>
          </a:p>
          <a:p>
            <a:pPr lvl="1">
              <a:lnSpc>
                <a:spcPct val="100000"/>
              </a:lnSpc>
              <a:spcBef>
                <a:spcPts val="0"/>
              </a:spcBef>
              <a:spcAft>
                <a:spcPts val="100"/>
              </a:spcAft>
            </a:pPr>
            <a:r>
              <a:rPr sz="950">
                <a:solidFill>
                  <a:srgbClr val="1C1917"/>
                </a:solidFill>
                <a:latin typeface="Calibri"/>
              </a:rPr>
              <a:t>•  9.  Credit ring-fence      — Exclude personal data from credit decisions · 3 steps</a:t>
            </a:r>
          </a:p>
          <a:p>
            <a:pPr>
              <a:lnSpc>
                <a:spcPct val="100000"/>
              </a:lnSpc>
              <a:spcBef>
                <a:spcPts val="0"/>
              </a:spcBef>
              <a:spcAft>
                <a:spcPts val="100"/>
              </a:spcAft>
            </a:pPr>
            <a:r>
              <a:rPr sz="1000" b="0">
                <a:solidFill>
                  <a:srgbClr val="1C1917"/>
                </a:solidFill>
                <a:latin typeface="Calibri"/>
              </a:rPr>
              <a:t>•  10.  ID register (KYB)      — KYC lists 1, 2 &amp; 3 per signatory · 4 steps</a:t>
            </a:r>
          </a:p>
          <a:p>
            <a:pPr>
              <a:lnSpc>
                <a:spcPct val="100000"/>
              </a:lnSpc>
              <a:spcBef>
                <a:spcPts val="0"/>
              </a:spcBef>
              <a:spcAft>
                <a:spcPts val="100"/>
              </a:spcAft>
            </a:pPr>
            <a:r>
              <a:rPr sz="1000" b="0">
                <a:solidFill>
                  <a:srgbClr val="1C1917"/>
                </a:solidFill>
                <a:latin typeface="Calibri"/>
              </a:rPr>
              <a:t>•  11.  MTD VAT submission     — Transaction review, categorise, declare · 4 steps</a:t>
            </a:r>
          </a:p>
          <a:p>
            <a:pPr lvl="1">
              <a:lnSpc>
                <a:spcPct val="100000"/>
              </a:lnSpc>
              <a:spcBef>
                <a:spcPts val="0"/>
              </a:spcBef>
              <a:spcAft>
                <a:spcPts val="100"/>
              </a:spcAft>
            </a:pPr>
            <a:r>
              <a:rPr sz="950">
                <a:solidFill>
                  <a:srgbClr val="1C1917"/>
                </a:solidFill>
                <a:latin typeface="Calibri"/>
              </a:rPr>
              <a:t>•  12.  Complaint handling     — Intake, triage, denial, FOS · FCA DISP · 4 steps</a:t>
            </a:r>
          </a:p>
          <a:p>
            <a:pPr lvl="1">
              <a:lnSpc>
                <a:spcPct val="100000"/>
              </a:lnSpc>
              <a:spcBef>
                <a:spcPts val="0"/>
              </a:spcBef>
              <a:spcAft>
                <a:spcPts val="100"/>
              </a:spcAft>
            </a:pPr>
            <a:r>
              <a:rPr sz="950">
                <a:solidFill>
                  <a:srgbClr val="1C1917"/>
                </a:solidFill>
                <a:latin typeface="Calibri"/>
              </a:rPr>
              <a:t>•  13.  Standing orders &amp; DDs  — Set up / cancel · DD Guarantee · up to 3 steps</a:t>
            </a:r>
          </a:p>
          <a:p>
            <a:pPr lvl="1">
              <a:lnSpc>
                <a:spcPct val="100000"/>
              </a:lnSpc>
              <a:spcBef>
                <a:spcPts val="0"/>
              </a:spcBef>
              <a:spcAft>
                <a:spcPts val="100"/>
              </a:spcAft>
            </a:pPr>
            <a:r>
              <a:rPr sz="950">
                <a:solidFill>
                  <a:srgbClr val="1C1917"/>
                </a:solidFill>
                <a:latin typeface="Calibri"/>
              </a:rPr>
              <a:t>•  14.  Dispute a payment      — Chargeback / fraud / DD Guarantee · 4 steps</a:t>
            </a:r>
          </a:p>
          <a:p>
            <a:pPr lvl="1">
              <a:lnSpc>
                <a:spcPct val="100000"/>
              </a:lnSpc>
              <a:spcBef>
                <a:spcPts val="0"/>
              </a:spcBef>
              <a:spcAft>
                <a:spcPts val="100"/>
              </a:spcAft>
            </a:pPr>
            <a:r>
              <a:rPr sz="950">
                <a:solidFill>
                  <a:srgbClr val="1C1917"/>
                </a:solidFill>
                <a:latin typeface="Calibri"/>
              </a:rPr>
              <a:t>•  15.  Intl. beneficiary      — IBAN/SWIFT · sanctions screening · 4 steps</a:t>
            </a:r>
          </a:p>
          <a:p>
            <a:pPr lvl="1">
              <a:lnSpc>
                <a:spcPct val="100000"/>
              </a:lnSpc>
              <a:spcBef>
                <a:spcPts val="0"/>
              </a:spcBef>
              <a:spcAft>
                <a:spcPts val="100"/>
              </a:spcAft>
            </a:pPr>
            <a:r>
              <a:rPr sz="950">
                <a:solidFill>
                  <a:srgbClr val="1C1917"/>
                </a:solidFill>
                <a:latin typeface="Calibri"/>
              </a:rPr>
              <a:t>•  16.  Balance certificate    — Sealed proof of balance · 4 steps</a:t>
            </a:r>
          </a:p>
          <a:p>
            <a:pPr lvl="1">
              <a:lnSpc>
                <a:spcPct val="100000"/>
              </a:lnSpc>
              <a:spcBef>
                <a:spcPts val="0"/>
              </a:spcBef>
              <a:spcAft>
                <a:spcPts val="100"/>
              </a:spcAft>
            </a:pPr>
            <a:r>
              <a:rPr sz="950">
                <a:solidFill>
                  <a:srgbClr val="1C1917"/>
                </a:solidFill>
                <a:latin typeface="Calibri"/>
              </a:rPr>
              <a:t>•  17.  Devices &amp; sessions     — Review logins, sign out, SCA · 4 steps</a:t>
            </a:r>
          </a:p>
          <a:p>
            <a:pPr>
              <a:lnSpc>
                <a:spcPct val="100000"/>
              </a:lnSpc>
              <a:spcBef>
                <a:spcPts val="0"/>
              </a:spcBef>
              <a:spcAft>
                <a:spcPts val="100"/>
              </a:spcAft>
            </a:pPr>
          </a:p>
          <a:p>
            <a:pPr>
              <a:lnSpc>
                <a:spcPct val="100000"/>
              </a:lnSpc>
              <a:spcBef>
                <a:spcPts val="0"/>
              </a:spcBef>
              <a:spcAft>
                <a:spcPts val="100"/>
              </a:spcAft>
            </a:pPr>
            <a:r>
              <a:rPr sz="1100" b="1">
                <a:solidFill>
                  <a:srgbClr val="EC0000"/>
                </a:solidFill>
                <a:latin typeface="Calibri"/>
              </a:rPr>
              <a:t>Mandate logic</a:t>
            </a:r>
          </a:p>
          <a:p>
            <a:pPr lvl="1">
              <a:lnSpc>
                <a:spcPct val="100000"/>
              </a:lnSpc>
              <a:spcBef>
                <a:spcPts val="0"/>
              </a:spcBef>
              <a:spcAft>
                <a:spcPts val="100"/>
              </a:spcAft>
            </a:pPr>
            <a:r>
              <a:rPr sz="950">
                <a:solidFill>
                  <a:srgbClr val="1C1917"/>
                </a:solidFill>
                <a:latin typeface="Calibri"/>
              </a:rPr>
              <a:t>•  — getMandateFor() picks the strictest rule across selected accounts.</a:t>
            </a:r>
          </a:p>
          <a:p>
            <a:pPr lvl="1">
              <a:lnSpc>
                <a:spcPct val="100000"/>
              </a:lnSpc>
              <a:spcBef>
                <a:spcPts val="0"/>
              </a:spcBef>
              <a:spcAft>
                <a:spcPts val="100"/>
              </a:spcAft>
            </a:pPr>
            <a:r>
              <a:rPr sz="95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EC0000"/>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EC0000"/>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EC0000"/>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EC0000"/>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EC0000"/>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EC0000"/>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EC0000"/>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EC0000"/>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EC0000"/>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EC0000"/>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EC0000"/>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EC0000"/>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EC0000"/>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EC0000"/>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EC0000"/>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BF1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EC0000"/>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EC0000"/>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EC0000"/>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EC0000"/>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