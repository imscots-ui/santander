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nothing here is connected to any live Santander system. All data is fabricated for demo purposes.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48272"/>
            <a:ext cx="12188952" cy="109728"/>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012680" y="274320"/>
            <a:ext cx="1783080" cy="310896"/>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12680" y="310896"/>
            <a:ext cx="1783080" cy="237744"/>
          </a:xfrm>
          <a:prstGeom prst="rect">
            <a:avLst/>
          </a:prstGeom>
          <a:noFill/>
        </p:spPr>
        <p:txBody>
          <a:bodyPr wrap="square">
            <a:spAutoFit/>
          </a:bodyPr>
          <a:lstStyle/>
          <a:p>
            <a:pPr algn="ctr"/>
            <a:r>
              <a:rPr sz="750" b="1" i="0">
                <a:solidFill>
                  <a:srgbClr val="FFFFFF"/>
                </a:solidFill>
                <a:latin typeface="Calibri"/>
              </a:rPr>
              <a:t>INTERNAL · CONFIDENTIAL</a:t>
            </a:r>
          </a:p>
        </p:txBody>
      </p:sp>
      <p:sp>
        <p:nvSpPr>
          <p:cNvPr id="8" name="TextBox 7"/>
          <p:cNvSpPr txBox="1"/>
          <p:nvPr/>
        </p:nvSpPr>
        <p:spPr>
          <a:xfrm>
            <a:off x="457200" y="1645920"/>
            <a:ext cx="9144000" cy="2011680"/>
          </a:xfrm>
          <a:prstGeom prst="rect">
            <a:avLst/>
          </a:prstGeom>
          <a:noFill/>
        </p:spPr>
        <p:txBody>
          <a:bodyPr wrap="square">
            <a:spAutoFit/>
          </a:bodyPr>
          <a:lstStyle/>
          <a:p>
            <a:pPr algn="l"/>
            <a:r>
              <a:rPr sz="5200" b="1">
                <a:solidFill>
                  <a:srgbClr val="FFFFFF"/>
                </a:solidFill>
                <a:latin typeface="Calibri"/>
              </a:rPr>
              <a:t>Limited Company
Walkthrough</a:t>
            </a:r>
          </a:p>
        </p:txBody>
      </p:sp>
      <p:sp>
        <p:nvSpPr>
          <p:cNvPr id="9" name="TextBox 8"/>
          <p:cNvSpPr txBox="1"/>
          <p:nvPr/>
        </p:nvSpPr>
        <p:spPr>
          <a:xfrm>
            <a:off x="457200" y="3840480"/>
            <a:ext cx="8229600" cy="548640"/>
          </a:xfrm>
          <a:prstGeom prst="rect">
            <a:avLst/>
          </a:prstGeom>
          <a:noFill/>
        </p:spPr>
        <p:txBody>
          <a:bodyPr wrap="square">
            <a:spAutoFit/>
          </a:bodyPr>
          <a:lstStyle/>
          <a:p>
            <a:pPr algn="l"/>
            <a:r>
              <a:rPr sz="1800" b="1" i="0">
                <a:solidFill>
                  <a:srgbClr val="EC0000"/>
                </a:solidFill>
                <a:latin typeface="Calibri"/>
              </a:rPr>
              <a:t>Santander Business Banking · Concept Prototype</a:t>
            </a:r>
          </a:p>
        </p:txBody>
      </p:sp>
      <p:sp>
        <p:nvSpPr>
          <p:cNvPr id="10" name="TextBox 9"/>
          <p:cNvSpPr txBox="1"/>
          <p:nvPr/>
        </p:nvSpPr>
        <p:spPr>
          <a:xfrm>
            <a:off x="457200" y="4526280"/>
            <a:ext cx="5486400" cy="365760"/>
          </a:xfrm>
          <a:prstGeom prst="rect">
            <a:avLst/>
          </a:prstGeom>
          <a:noFill/>
        </p:spPr>
        <p:txBody>
          <a:bodyPr wrap="square">
            <a:spAutoFit/>
          </a:bodyPr>
          <a:lstStyle/>
          <a:p>
            <a:pPr algn="l"/>
            <a:r>
              <a:rPr sz="1300" b="0" i="0">
                <a:solidFill>
                  <a:srgbClr val="A8A299"/>
                </a:solidFill>
                <a:latin typeface="Calibri"/>
              </a:rPr>
              <a:t>July 2026  ·  Created by Alan Davidson</a:t>
            </a:r>
          </a:p>
        </p:txBody>
      </p:sp>
      <p:sp>
        <p:nvSpPr>
          <p:cNvPr id="11" name="TextBox 10"/>
          <p:cNvSpPr txBox="1"/>
          <p:nvPr/>
        </p:nvSpPr>
        <p:spPr>
          <a:xfrm>
            <a:off x="7772400" y="6217920"/>
            <a:ext cx="4114800" cy="365760"/>
          </a:xfrm>
          <a:prstGeom prst="rect">
            <a:avLst/>
          </a:prstGeom>
          <a:noFill/>
        </p:spPr>
        <p:txBody>
          <a:bodyPr wrap="square">
            <a:spAutoFit/>
          </a:bodyPr>
          <a:lstStyle/>
          <a:p>
            <a:pPr algn="r"/>
            <a:r>
              <a:rPr sz="1100" b="0" i="0">
                <a:solidFill>
                  <a:srgbClr val="787169"/>
                </a:solidFill>
                <a:latin typeface="Calibri"/>
              </a:rPr>
              <a:t>imscots-ui.github.io/santander</a:t>
            </a:r>
          </a:p>
        </p:txBody>
      </p:sp>
      <p:pic>
        <p:nvPicPr>
          <p:cNvPr id="12" name="Santander logo" descr="santander-logo-white.png"/>
          <p:cNvPicPr>
            <a:picLocks noChangeAspect="1"/>
          </p:cNvPicPr>
          <p:nvPr/>
        </p:nvPicPr>
        <p:blipFill>
          <a:blip r:embed="rId2"/>
          <a:stretch>
            <a:fillRect/>
          </a:stretch>
        </p:blipFill>
        <p:spPr>
          <a:xfrm>
            <a:off x="502920" y="457200"/>
            <a:ext cx="2377440" cy="41129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6748272"/>
            <a:ext cx="12024360" cy="109728"/>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0"/>
            <a:ext cx="10972800" cy="457200"/>
          </a:xfrm>
          <a:prstGeom prst="rect">
            <a:avLst/>
          </a:prstGeom>
          <a:noFill/>
        </p:spPr>
        <p:txBody>
          <a:bodyPr wrap="square">
            <a:spAutoFit/>
          </a:bodyPr>
          <a:lstStyle/>
          <a:p>
            <a:pPr algn="l"/>
            <a:r>
              <a:rPr sz="1100" b="1" i="0">
                <a:solidFill>
                  <a:srgbClr val="EC0000"/>
                </a:solidFill>
                <a:latin typeface="Calibri"/>
              </a:rPr>
              <a:t>Section A  ·  Slides 2–4</a:t>
            </a:r>
          </a:p>
        </p:txBody>
      </p:sp>
      <p:sp>
        <p:nvSpPr>
          <p:cNvPr id="6" name="TextBox 5"/>
          <p:cNvSpPr txBox="1"/>
          <p:nvPr/>
        </p:nvSpPr>
        <p:spPr>
          <a:xfrm>
            <a:off x="457200" y="2560320"/>
            <a:ext cx="10058400" cy="1280160"/>
          </a:xfrm>
          <a:prstGeom prst="rect">
            <a:avLst/>
          </a:prstGeom>
          <a:noFill/>
        </p:spPr>
        <p:txBody>
          <a:bodyPr wrap="square">
            <a:spAutoFit/>
          </a:bodyPr>
          <a:lstStyle/>
          <a:p>
            <a:pPr algn="l"/>
            <a:r>
              <a:rPr sz="4000" b="1" i="0">
                <a:solidFill>
                  <a:srgbClr val="FFFFFF"/>
                </a:solidFill>
                <a:latin typeface="Calibri"/>
              </a:rPr>
              <a:t>About &amp; Access</a:t>
            </a:r>
          </a:p>
        </p:txBody>
      </p:sp>
      <p:sp>
        <p:nvSpPr>
          <p:cNvPr id="7" name="TextBox 6"/>
          <p:cNvSpPr txBox="1"/>
          <p:nvPr/>
        </p:nvSpPr>
        <p:spPr>
          <a:xfrm>
            <a:off x="457200" y="4114800"/>
            <a:ext cx="9144000" cy="548640"/>
          </a:xfrm>
          <a:prstGeom prst="rect">
            <a:avLst/>
          </a:prstGeom>
          <a:noFill/>
        </p:spPr>
        <p:txBody>
          <a:bodyPr wrap="square">
            <a:spAutoFit/>
          </a:bodyPr>
          <a:lstStyle/>
          <a:p>
            <a:pPr algn="l"/>
            <a:r>
              <a:rPr sz="1600" b="0" i="0">
                <a:solidFill>
                  <a:srgbClr val="A8A299"/>
                </a:solidFill>
                <a:latin typeface="Calibri"/>
              </a:rPr>
              <a:t>What the prototype is, who it's for, and how to open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A  ·  ABOUT &amp; ACCESS</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What this prototype is</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400"/>
              </a:spcBef>
            </a:pPr>
            <a:r>
              <a:rPr sz="1300" b="0">
                <a:solidFill>
                  <a:srgbClr val="1C1917"/>
                </a:solidFill>
                <a:latin typeface="Calibri"/>
              </a:rPr>
              <a:t>• A self-initiated concept piece exploring paperless workflows for Santander Business Banking.</a:t>
            </a:r>
          </a:p>
          <a:p>
            <a:pPr>
              <a:spcBef>
                <a:spcPts val="400"/>
              </a:spcBef>
            </a:pPr>
            <a:r>
              <a:rPr sz="1300" b="0">
                <a:solidFill>
                  <a:srgbClr val="1C1917"/>
                </a:solidFill>
                <a:latin typeface="Calibri"/>
              </a:rPr>
              <a:t>• Front-end only — no backend, no live data, no real system connections.</a:t>
            </a:r>
          </a:p>
          <a:p>
            <a:pPr>
              <a:spcBef>
                <a:spcPts val="400"/>
              </a:spcBef>
            </a:pPr>
            <a:r>
              <a:rPr sz="1300" b="0">
                <a:solidFill>
                  <a:srgbClr val="1C1917"/>
                </a:solidFill>
                <a:latin typeface="Calibri"/>
              </a:rPr>
              <a:t>• Built in React (single App.jsx, ~7,400 lines) and deployed on GitHub Pages.</a:t>
            </a:r>
          </a:p>
          <a:p>
            <a:pPr>
              <a:spcBef>
                <a:spcPts val="400"/>
              </a:spcBef>
            </a:pPr>
          </a:p>
          <a:p>
            <a:pPr>
              <a:spcBef>
                <a:spcPts val="800"/>
              </a:spcBef>
            </a:pPr>
            <a:r>
              <a:rPr sz="1400" b="1">
                <a:solidFill>
                  <a:srgbClr val="EC0000"/>
                </a:solidFill>
                <a:latin typeface="Calibri"/>
              </a:rPr>
              <a:t>Who it is for</a:t>
            </a:r>
          </a:p>
          <a:p>
            <a:pPr>
              <a:spcBef>
                <a:spcPts val="400"/>
              </a:spcBef>
            </a:pPr>
            <a:r>
              <a:rPr sz="1300" b="0">
                <a:solidFill>
                  <a:srgbClr val="1C1917"/>
                </a:solidFill>
                <a:latin typeface="Calibri"/>
              </a:rPr>
              <a:t>• Internal product and design teams — exploring what a modern business banking experience could look like.</a:t>
            </a:r>
          </a:p>
          <a:p>
            <a:pPr>
              <a:spcBef>
                <a:spcPts val="400"/>
              </a:spcBef>
            </a:pPr>
            <a:r>
              <a:rPr sz="1300" b="0">
                <a:solidFill>
                  <a:srgbClr val="1C1917"/>
                </a:solidFill>
                <a:latin typeface="Calibri"/>
              </a:rPr>
              <a:t>• Customer research sessions — showing participants realistic flows without touching live systems.</a:t>
            </a:r>
          </a:p>
          <a:p>
            <a:pPr>
              <a:spcBef>
                <a:spcPts val="400"/>
              </a:spcBef>
            </a:pPr>
            <a:r>
              <a:rPr sz="1300" b="0">
                <a:solidFill>
                  <a:srgbClr val="1C1917"/>
                </a:solidFill>
                <a:latin typeface="Calibri"/>
              </a:rPr>
              <a:t>• Presentations to senior stakeholders — demonstrating the art of the possible.</a:t>
            </a:r>
          </a:p>
          <a:p>
            <a:pPr>
              <a:spcBef>
                <a:spcPts val="400"/>
              </a:spcBef>
            </a:pPr>
          </a:p>
          <a:p>
            <a:pPr>
              <a:spcBef>
                <a:spcPts val="800"/>
              </a:spcBef>
            </a:pPr>
            <a:r>
              <a:rPr sz="1400" b="1">
                <a:solidFill>
                  <a:srgbClr val="EC0000"/>
                </a:solidFill>
                <a:latin typeface="Calibri"/>
              </a:rPr>
              <a:t>What it demonstrates</a:t>
            </a:r>
          </a:p>
          <a:p>
            <a:pPr>
              <a:spcBef>
                <a:spcPts val="400"/>
              </a:spcBef>
            </a:pPr>
            <a:r>
              <a:rPr sz="1300" b="0">
                <a:solidFill>
                  <a:srgbClr val="1C1917"/>
                </a:solidFill>
                <a:latin typeface="Calibri"/>
              </a:rPr>
              <a:t>• Paperless mandate changes, bulk wages payments, KYC/KYB verification</a:t>
            </a:r>
          </a:p>
          <a:p>
            <a:pPr>
              <a:spcBef>
                <a:spcPts val="400"/>
              </a:spcBef>
            </a:pPr>
            <a:r>
              <a:rPr sz="1300" b="0">
                <a:solidFill>
                  <a:srgbClr val="1C1917"/>
                </a:solidFill>
                <a:latin typeface="Calibri"/>
              </a:rPr>
              <a:t>• MTD / HMRC VAT submissions, account closures, FX international payments</a:t>
            </a:r>
          </a:p>
          <a:p>
            <a:pPr>
              <a:spcBef>
                <a:spcPts val="400"/>
              </a:spcBef>
            </a:pPr>
            <a:r>
              <a:rPr sz="1300" b="0">
                <a:solidFill>
                  <a:srgbClr val="1C1917"/>
                </a:solidFill>
                <a:latin typeface="Calibri"/>
              </a:rPr>
              <a:t>• Account unlinking, credit ring-fencing, dormancy management, and lending draw-down</a:t>
            </a:r>
          </a:p>
          <a:p>
            <a:pPr>
              <a:spcBef>
                <a:spcPts val="400"/>
              </a:spcBef>
            </a:pPr>
            <a:r>
              <a:rPr sz="1300" b="0">
                <a:solidFill>
                  <a:srgbClr val="1C1917"/>
                </a:solidFill>
                <a:latin typeface="Calibri"/>
              </a:rPr>
              <a:t>• A 'Command Centre' home screen that surfaces proactive insight across all accounts</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A  ·  ABOUT &amp; ACCESS</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How to access the prototype</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800"/>
              </a:spcBef>
            </a:pPr>
            <a:r>
              <a:rPr sz="1400" b="1">
                <a:solidFill>
                  <a:srgbClr val="EC0000"/>
                </a:solidFill>
                <a:latin typeface="Calibri"/>
              </a:rPr>
              <a:t>URL</a:t>
            </a:r>
          </a:p>
          <a:p>
            <a:pPr>
              <a:spcBef>
                <a:spcPts val="400"/>
              </a:spcBef>
            </a:pPr>
            <a:r>
              <a:rPr sz="1300" b="0">
                <a:solidFill>
                  <a:srgbClr val="1C1917"/>
                </a:solidFill>
                <a:latin typeface="Calibri"/>
              </a:rPr>
              <a:t>• https://imscots-ui.github.io/santander</a:t>
            </a:r>
          </a:p>
          <a:p>
            <a:pPr lvl="1">
              <a:spcBef>
                <a:spcPts val="200"/>
              </a:spcBef>
            </a:pPr>
            <a:r>
              <a:rPr sz="1200">
                <a:solidFill>
                  <a:srgbClr val="1C1917"/>
                </a:solidFill>
                <a:latin typeface="Calibri"/>
              </a:rPr>
              <a:t>•  — Works in any modern browser. No login required.</a:t>
            </a:r>
          </a:p>
          <a:p>
            <a:pPr>
              <a:spcBef>
                <a:spcPts val="400"/>
              </a:spcBef>
            </a:pPr>
          </a:p>
          <a:p>
            <a:pPr>
              <a:spcBef>
                <a:spcPts val="800"/>
              </a:spcBef>
            </a:pPr>
            <a:r>
              <a:rPr sz="1400" b="1">
                <a:solidFill>
                  <a:srgbClr val="EC0000"/>
                </a:solidFill>
                <a:latin typeface="Calibri"/>
              </a:rPr>
              <a:t>Recommended setup</a:t>
            </a:r>
          </a:p>
          <a:p>
            <a:pPr>
              <a:spcBef>
                <a:spcPts val="400"/>
              </a:spcBef>
            </a:pPr>
            <a:r>
              <a:rPr sz="1300" b="0">
                <a:solidFill>
                  <a:srgbClr val="1C1917"/>
                </a:solidFill>
                <a:latin typeface="Calibri"/>
              </a:rPr>
              <a:t>• Mobile browser (Chrome / Safari) — the default view is a phone shell at 390 px wide.</a:t>
            </a:r>
          </a:p>
          <a:p>
            <a:pPr>
              <a:spcBef>
                <a:spcPts val="400"/>
              </a:spcBef>
            </a:pPr>
            <a:r>
              <a:rPr sz="1300" b="0">
                <a:solidFill>
                  <a:srgbClr val="1C1917"/>
                </a:solidFill>
                <a:latin typeface="Calibri"/>
              </a:rPr>
              <a:t>• For a laptop demo, open on a phone or use Chrome DevTools device emulation (iPhone 14 Pro).</a:t>
            </a:r>
          </a:p>
          <a:p>
            <a:pPr>
              <a:spcBef>
                <a:spcPts val="400"/>
              </a:spcBef>
            </a:pPr>
            <a:r>
              <a:rPr sz="1300" b="0">
                <a:solidFill>
                  <a:srgbClr val="1C1917"/>
                </a:solidFill>
                <a:latin typeface="Calibri"/>
              </a:rPr>
              <a:t>• A Desktop mode toggle in the header switches to a full sidebar layout for larger screens.</a:t>
            </a:r>
          </a:p>
          <a:p>
            <a:pPr>
              <a:spcBef>
                <a:spcPts val="400"/>
              </a:spcBef>
            </a:pPr>
          </a:p>
          <a:p>
            <a:pPr>
              <a:spcBef>
                <a:spcPts val="800"/>
              </a:spcBef>
            </a:pPr>
            <a:r>
              <a:rPr sz="1400" b="1">
                <a:solidFill>
                  <a:srgbClr val="EC0000"/>
                </a:solidFill>
                <a:latin typeface="Calibri"/>
              </a:rPr>
              <a:t>Troubleshooting</a:t>
            </a:r>
          </a:p>
          <a:p>
            <a:pPr>
              <a:spcBef>
                <a:spcPts val="400"/>
              </a:spcBef>
            </a:pPr>
            <a:r>
              <a:rPr sz="1300" b="0">
                <a:solidFill>
                  <a:srgbClr val="1C1917"/>
                </a:solidFill>
                <a:latin typeface="Calibri"/>
              </a:rPr>
              <a:t>• Hard-refresh (Cmd+Shift+R / Ctrl+Shift+R) if the screen looks blank or stale.</a:t>
            </a:r>
          </a:p>
          <a:p>
            <a:pPr>
              <a:spcBef>
                <a:spcPts val="400"/>
              </a:spcBef>
            </a:pPr>
            <a:r>
              <a:rPr sz="1300" b="0">
                <a:solidFill>
                  <a:srgbClr val="1C1917"/>
                </a:solidFill>
                <a:latin typeface="Calibri"/>
              </a:rPr>
              <a:t>• Use an Incognito / Private window to clear any cached state.</a:t>
            </a:r>
          </a:p>
          <a:p>
            <a:pPr>
              <a:spcBef>
                <a:spcPts val="400"/>
              </a:spcBef>
            </a:pPr>
            <a:r>
              <a:rPr sz="1300" b="0">
                <a:solidFill>
                  <a:srgbClr val="1C1917"/>
                </a:solidFill>
                <a:latin typeface="Calibri"/>
              </a:rPr>
              <a:t>• The prototype is stateless — refresh resets everything to the opening defaults.</a:t>
            </a:r>
          </a:p>
          <a:p>
            <a:pPr>
              <a:spcBef>
                <a:spcPts val="400"/>
              </a:spcBef>
            </a:pPr>
          </a:p>
          <a:p>
            <a:pPr>
              <a:spcBef>
                <a:spcPts val="800"/>
              </a:spcBef>
            </a:pPr>
            <a:r>
              <a:rPr sz="1400" b="1">
                <a:solidFill>
                  <a:srgbClr val="EC0000"/>
                </a:solidFill>
                <a:latin typeface="Calibri"/>
              </a:rPr>
              <a:t>No installation needed</a:t>
            </a:r>
          </a:p>
          <a:p>
            <a:pPr>
              <a:spcBef>
                <a:spcPts val="400"/>
              </a:spcBef>
            </a:pPr>
            <a:r>
              <a:rPr sz="1300" b="0">
                <a:solidFill>
                  <a:srgbClr val="1C1917"/>
                </a:solidFill>
                <a:latin typeface="Calibri"/>
              </a:rPr>
              <a:t>• Public GitHub Pages URL — no VPN, no internal network, no credentials.</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6748272"/>
            <a:ext cx="12024360" cy="109728"/>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0"/>
            <a:ext cx="10972800" cy="457200"/>
          </a:xfrm>
          <a:prstGeom prst="rect">
            <a:avLst/>
          </a:prstGeom>
          <a:noFill/>
        </p:spPr>
        <p:txBody>
          <a:bodyPr wrap="square">
            <a:spAutoFit/>
          </a:bodyPr>
          <a:lstStyle/>
          <a:p>
            <a:pPr algn="l"/>
            <a:r>
              <a:rPr sz="1100" b="1" i="0">
                <a:solidFill>
                  <a:srgbClr val="EC0000"/>
                </a:solidFill>
                <a:latin typeface="Calibri"/>
              </a:rPr>
              <a:t>Section B  ·  Slides 5–8</a:t>
            </a:r>
          </a:p>
        </p:txBody>
      </p:sp>
      <p:sp>
        <p:nvSpPr>
          <p:cNvPr id="6" name="TextBox 5"/>
          <p:cNvSpPr txBox="1"/>
          <p:nvPr/>
        </p:nvSpPr>
        <p:spPr>
          <a:xfrm>
            <a:off x="457200" y="2560320"/>
            <a:ext cx="10058400" cy="1280160"/>
          </a:xfrm>
          <a:prstGeom prst="rect">
            <a:avLst/>
          </a:prstGeom>
          <a:noFill/>
        </p:spPr>
        <p:txBody>
          <a:bodyPr wrap="square">
            <a:spAutoFit/>
          </a:bodyPr>
          <a:lstStyle/>
          <a:p>
            <a:pPr algn="l"/>
            <a:r>
              <a:rPr sz="4000" b="1" i="0">
                <a:solidFill>
                  <a:srgbClr val="FFFFFF"/>
                </a:solidFill>
                <a:latin typeface="Calibri"/>
              </a:rPr>
              <a:t>Navigation Guide</a:t>
            </a:r>
          </a:p>
        </p:txBody>
      </p:sp>
      <p:sp>
        <p:nvSpPr>
          <p:cNvPr id="7" name="TextBox 6"/>
          <p:cNvSpPr txBox="1"/>
          <p:nvPr/>
        </p:nvSpPr>
        <p:spPr>
          <a:xfrm>
            <a:off x="457200" y="4114800"/>
            <a:ext cx="9144000" cy="548640"/>
          </a:xfrm>
          <a:prstGeom prst="rect">
            <a:avLst/>
          </a:prstGeom>
          <a:noFill/>
        </p:spPr>
        <p:txBody>
          <a:bodyPr wrap="square">
            <a:spAutoFit/>
          </a:bodyPr>
          <a:lstStyle/>
          <a:p>
            <a:pPr algn="l"/>
            <a:r>
              <a:rPr sz="1600" b="0" i="0">
                <a:solidFill>
                  <a:srgbClr val="A8A299"/>
                </a:solidFill>
                <a:latin typeface="Calibri"/>
              </a:rPr>
              <a:t>The mobile shell, desktop mode, demo controls, and tab overview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B  ·  NAVIGATION GUIDE</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The mobile shell — five tabs</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400"/>
              </a:spcBef>
            </a:pPr>
            <a:r>
              <a:rPr sz="1300" b="0">
                <a:solidFill>
                  <a:srgbClr val="1C1917"/>
                </a:solidFill>
                <a:latin typeface="Calibri"/>
              </a:rPr>
              <a:t>The prototype opens as a mobile phone shell with a bottom navigation bar. Five tabs:</a:t>
            </a:r>
          </a:p>
          <a:p>
            <a:pPr>
              <a:spcBef>
                <a:spcPts val="400"/>
              </a:spcBef>
            </a:pPr>
            <a:r>
              <a:rPr sz="1400" b="1">
                <a:solidFill>
                  <a:srgbClr val="EC0000"/>
                </a:solidFill>
                <a:latin typeface="Calibri"/>
              </a:rPr>
              <a:t>Home — Command Centre</a:t>
            </a:r>
          </a:p>
          <a:p>
            <a:pPr lvl="1">
              <a:spcBef>
                <a:spcPts val="200"/>
              </a:spcBef>
            </a:pPr>
            <a:r>
              <a:rPr sz="1200">
                <a:solidFill>
                  <a:srgbClr val="1C1917"/>
                </a:solidFill>
                <a:latin typeface="Calibri"/>
              </a:rPr>
              <a:t>•  • The main screen. 15+ cards covering balances, forecasts, approvals, and actions.</a:t>
            </a:r>
          </a:p>
          <a:p>
            <a:pPr lvl="1">
              <a:spcBef>
                <a:spcPts val="200"/>
              </a:spcBef>
            </a:pPr>
            <a:r>
              <a:rPr sz="1200">
                <a:solidFill>
                  <a:srgbClr val="1C1917"/>
                </a:solidFill>
                <a:latin typeface="Calibri"/>
              </a:rPr>
              <a:t>•  • This is the headline feature — everything about the business on one screen.</a:t>
            </a:r>
          </a:p>
          <a:p>
            <a:pPr>
              <a:spcBef>
                <a:spcPts val="1100"/>
              </a:spcBef>
            </a:pPr>
            <a:r>
              <a:rPr sz="1400" b="1">
                <a:solidFill>
                  <a:srgbClr val="EC0000"/>
                </a:solidFill>
                <a:latin typeface="Calibri"/>
              </a:rPr>
              <a:t>Approve</a:t>
            </a:r>
          </a:p>
          <a:p>
            <a:pPr lvl="1">
              <a:spcBef>
                <a:spcPts val="200"/>
              </a:spcBef>
            </a:pPr>
            <a:r>
              <a:rPr sz="1200">
                <a:solidFill>
                  <a:srgbClr val="1C1917"/>
                </a:solidFill>
                <a:latin typeface="Calibri"/>
              </a:rPr>
              <a:t>•  • Pending signature queue. Items waiting for the logged-in director to countersign.</a:t>
            </a:r>
          </a:p>
          <a:p>
            <a:pPr lvl="1">
              <a:spcBef>
                <a:spcPts val="200"/>
              </a:spcBef>
            </a:pPr>
            <a:r>
              <a:rPr sz="1200">
                <a:solidFill>
                  <a:srgbClr val="1C1917"/>
                </a:solidFill>
                <a:latin typeface="Calibri"/>
              </a:rPr>
              <a:t>•  • OTP or biometric confirmation. Shows expiry countdown per request.</a:t>
            </a:r>
          </a:p>
          <a:p>
            <a:pPr>
              <a:spcBef>
                <a:spcPts val="1100"/>
              </a:spcBef>
            </a:pPr>
            <a:r>
              <a:rPr sz="1400" b="1">
                <a:solidFill>
                  <a:srgbClr val="EC0000"/>
                </a:solidFill>
                <a:latin typeface="Calibri"/>
              </a:rPr>
              <a:t>Audit</a:t>
            </a:r>
          </a:p>
          <a:p>
            <a:pPr lvl="1">
              <a:spcBef>
                <a:spcPts val="200"/>
              </a:spcBef>
            </a:pPr>
            <a:r>
              <a:rPr sz="1200">
                <a:solidFill>
                  <a:srgbClr val="1C1917"/>
                </a:solidFill>
                <a:latin typeface="Calibri"/>
              </a:rPr>
              <a:t>•  • Immutable log of every action taken in the system.</a:t>
            </a:r>
          </a:p>
          <a:p>
            <a:pPr lvl="1">
              <a:spcBef>
                <a:spcPts val="200"/>
              </a:spcBef>
            </a:pPr>
            <a:r>
              <a:rPr sz="1200">
                <a:solidFill>
                  <a:srgbClr val="1C1917"/>
                </a:solidFill>
                <a:latin typeface="Calibri"/>
              </a:rPr>
              <a:t>•  • Export options for compliance, auditors, and accountants.</a:t>
            </a:r>
          </a:p>
          <a:p>
            <a:pPr>
              <a:spcBef>
                <a:spcPts val="1100"/>
              </a:spcBef>
            </a:pPr>
            <a:r>
              <a:rPr sz="1400" b="1">
                <a:solidFill>
                  <a:srgbClr val="EC0000"/>
                </a:solidFill>
                <a:latin typeface="Calibri"/>
              </a:rPr>
              <a:t>Tax (MTD)</a:t>
            </a:r>
          </a:p>
          <a:p>
            <a:pPr lvl="1">
              <a:spcBef>
                <a:spcPts val="200"/>
              </a:spcBef>
            </a:pPr>
            <a:r>
              <a:rPr sz="1200">
                <a:solidFill>
                  <a:srgbClr val="1C1917"/>
                </a:solidFill>
                <a:latin typeface="Calibri"/>
              </a:rPr>
              <a:t>•  • Making Tax Digital hub. VAT obligations, ITSA, and HMRC submission workflow.</a:t>
            </a:r>
          </a:p>
          <a:p>
            <a:pPr lvl="1">
              <a:spcBef>
                <a:spcPts val="200"/>
              </a:spcBef>
            </a:pPr>
            <a:r>
              <a:rPr sz="1200">
                <a:solidFill>
                  <a:srgbClr val="1C1917"/>
                </a:solidFill>
                <a:latin typeface="Calibri"/>
              </a:rPr>
              <a:t>•  • Live countdown to the next VAT deadline. One-tap direct submission to HMRC.</a:t>
            </a:r>
          </a:p>
          <a:p>
            <a:pPr>
              <a:spcBef>
                <a:spcPts val="1100"/>
              </a:spcBef>
            </a:pPr>
            <a:r>
              <a:rPr sz="1400" b="1">
                <a:solidFill>
                  <a:srgbClr val="EC0000"/>
                </a:solidFill>
                <a:latin typeface="Calibri"/>
              </a:rPr>
              <a:t>Statements</a:t>
            </a:r>
          </a:p>
          <a:p>
            <a:pPr lvl="1">
              <a:spcBef>
                <a:spcPts val="200"/>
              </a:spcBef>
            </a:pPr>
            <a:r>
              <a:rPr sz="1200">
                <a:solidFill>
                  <a:srgbClr val="1C1917"/>
                </a:solidFill>
                <a:latin typeface="Calibri"/>
              </a:rPr>
              <a:t>•  • Full transaction history. Filter by date, category, counterparty, and payment method.</a:t>
            </a:r>
          </a:p>
          <a:p>
            <a:pPr lvl="1">
              <a:spcBef>
                <a:spcPts val="200"/>
              </a:spcBef>
            </a:pPr>
            <a:r>
              <a:rPr sz="1200">
                <a:solidFill>
                  <a:srgbClr val="1C1917"/>
                </a:solidFill>
                <a:latin typeface="Calibri"/>
              </a:rPr>
              <a:t>•  • Tabular-figure monetary amounts. Export as CSV or PDF.</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B  ·  NAVIGATION GUIDE</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Desktop mode — sidebar layout</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400"/>
              </a:spcBef>
            </a:pPr>
            <a:r>
              <a:rPr sz="1300" b="0">
                <a:solidFill>
                  <a:srgbClr val="1C1917"/>
                </a:solidFill>
                <a:latin typeface="Calibri"/>
              </a:rPr>
              <a:t>• A 'Desktop' pill toggle sits in the top header bar (visible in both views).</a:t>
            </a:r>
          </a:p>
          <a:p>
            <a:pPr>
              <a:spcBef>
                <a:spcPts val="400"/>
              </a:spcBef>
            </a:pPr>
            <a:r>
              <a:rPr sz="1300" b="0">
                <a:solidFill>
                  <a:srgbClr val="1C1917"/>
                </a:solidFill>
                <a:latin typeface="Calibri"/>
              </a:rPr>
              <a:t>• Tapping it switches from the mobile phone shell to a full-width sidebar layout.</a:t>
            </a:r>
          </a:p>
          <a:p>
            <a:pPr>
              <a:spcBef>
                <a:spcPts val="400"/>
              </a:spcBef>
            </a:pPr>
          </a:p>
          <a:p>
            <a:pPr>
              <a:spcBef>
                <a:spcPts val="800"/>
              </a:spcBef>
            </a:pPr>
            <a:r>
              <a:rPr sz="1400" b="1">
                <a:solidFill>
                  <a:srgbClr val="EC0000"/>
                </a:solidFill>
                <a:latin typeface="Calibri"/>
              </a:rPr>
              <a:t>What changes</a:t>
            </a:r>
          </a:p>
          <a:p>
            <a:pPr lvl="1">
              <a:spcBef>
                <a:spcPts val="200"/>
              </a:spcBef>
            </a:pPr>
            <a:r>
              <a:rPr sz="1200">
                <a:solidFill>
                  <a:srgbClr val="1C1917"/>
                </a:solidFill>
                <a:latin typeface="Calibri"/>
              </a:rPr>
              <a:t>•  — Navigation moves from a bottom bar to a left sidebar.</a:t>
            </a:r>
          </a:p>
          <a:p>
            <a:pPr lvl="1">
              <a:spcBef>
                <a:spcPts val="200"/>
              </a:spcBef>
            </a:pPr>
            <a:r>
              <a:rPr sz="1200">
                <a:solidFill>
                  <a:srgbClr val="1C1917"/>
                </a:solidFill>
                <a:latin typeface="Calibri"/>
              </a:rPr>
              <a:t>•  — Content columns widen to use the full viewport.</a:t>
            </a:r>
          </a:p>
          <a:p>
            <a:pPr lvl="1">
              <a:spcBef>
                <a:spcPts val="200"/>
              </a:spcBef>
            </a:pPr>
            <a:r>
              <a:rPr sz="1200">
                <a:solidFill>
                  <a:srgbClr val="1C1917"/>
                </a:solidFill>
                <a:latin typeface="Calibri"/>
              </a:rPr>
              <a:t>•  — The same state is shared — switching mid-demo preserves any workflow in progress.</a:t>
            </a:r>
          </a:p>
          <a:p>
            <a:pPr lvl="1">
              <a:spcBef>
                <a:spcPts val="200"/>
              </a:spcBef>
            </a:pPr>
            <a:r>
              <a:rPr sz="1200">
                <a:solidFill>
                  <a:srgbClr val="1C1917"/>
                </a:solidFill>
                <a:latin typeface="Calibri"/>
              </a:rPr>
              <a:t>•  — Useful for presenting on a laptop or projector without device emulation.</a:t>
            </a:r>
          </a:p>
          <a:p>
            <a:pPr>
              <a:spcBef>
                <a:spcPts val="400"/>
              </a:spcBef>
            </a:pPr>
          </a:p>
          <a:p>
            <a:pPr>
              <a:spcBef>
                <a:spcPts val="800"/>
              </a:spcBef>
            </a:pPr>
            <a:r>
              <a:rPr sz="1400" b="1">
                <a:solidFill>
                  <a:srgbClr val="EC0000"/>
                </a:solidFill>
                <a:latin typeface="Calibri"/>
              </a:rPr>
              <a:t>What stays the same</a:t>
            </a:r>
          </a:p>
          <a:p>
            <a:pPr lvl="1">
              <a:spcBef>
                <a:spcPts val="200"/>
              </a:spcBef>
            </a:pPr>
            <a:r>
              <a:rPr sz="1200">
                <a:solidFill>
                  <a:srgbClr val="1C1917"/>
                </a:solidFill>
                <a:latin typeface="Calibri"/>
              </a:rPr>
              <a:t>•  — All 15 Command Centre components are identical.</a:t>
            </a:r>
          </a:p>
          <a:p>
            <a:pPr lvl="1">
              <a:spcBef>
                <a:spcPts val="200"/>
              </a:spcBef>
            </a:pPr>
            <a:r>
              <a:rPr sz="1200">
                <a:solidFill>
                  <a:srgbClr val="1C1917"/>
                </a:solidFill>
                <a:latin typeface="Calibri"/>
              </a:rPr>
              <a:t>•  — All workflows are identical — step count, logic, and data.</a:t>
            </a:r>
          </a:p>
          <a:p>
            <a:pPr lvl="1">
              <a:spcBef>
                <a:spcPts val="200"/>
              </a:spcBef>
            </a:pPr>
            <a:r>
              <a:rPr sz="1200">
                <a:solidFill>
                  <a:srgbClr val="1C1917"/>
                </a:solidFill>
                <a:latin typeface="Calibri"/>
              </a:rPr>
              <a:t>•  — Entity switcher and demo controls remain accessible.</a:t>
            </a:r>
          </a:p>
          <a:p>
            <a:pPr>
              <a:spcBef>
                <a:spcPts val="400"/>
              </a:spcBef>
            </a:pPr>
          </a:p>
          <a:p>
            <a:pPr>
              <a:spcBef>
                <a:spcPts val="800"/>
              </a:spcBef>
            </a:pPr>
            <a:r>
              <a:rPr sz="1400" b="1">
                <a:solidFill>
                  <a:srgbClr val="EC0000"/>
                </a:solidFill>
                <a:latin typeface="Calibri"/>
              </a:rPr>
              <a:t>Presenter tip</a:t>
            </a:r>
          </a:p>
          <a:p>
            <a:pPr lvl="1">
              <a:spcBef>
                <a:spcPts val="200"/>
              </a:spcBef>
            </a:pPr>
            <a:r>
              <a:rPr sz="1200">
                <a:solidFill>
                  <a:srgbClr val="1C1917"/>
                </a:solidFill>
                <a:latin typeface="Calibri"/>
              </a:rPr>
              <a:t>•  — Start on mobile to show the customer experience, then toggle to desktop</a:t>
            </a:r>
          </a:p>
          <a:p>
            <a:pPr lvl="1">
              <a:spcBef>
                <a:spcPts val="100"/>
              </a:spcBef>
            </a:pPr>
            <a:r>
              <a:rPr sz="1100">
                <a:solidFill>
                  <a:srgbClr val="787169"/>
                </a:solidFill>
                <a:latin typeface="Calibri"/>
              </a:rPr>
              <a:t>—  to show a business banking manager's view on the same data.</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B  ·  NAVIGATION GUIDE</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Demo controls — three pills on the Home screen</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400"/>
              </a:spcBef>
            </a:pPr>
            <a:r>
              <a:rPr sz="1300" b="0">
                <a:solidFill>
                  <a:srgbClr val="1C1917"/>
                </a:solidFill>
                <a:latin typeface="Calibri"/>
              </a:rPr>
              <a:t>Three small control pills appear near the top of the Home screen (Command Centre).</a:t>
            </a:r>
          </a:p>
          <a:p>
            <a:pPr>
              <a:spcBef>
                <a:spcPts val="400"/>
              </a:spcBef>
            </a:pPr>
            <a:r>
              <a:rPr sz="1300" b="0">
                <a:solidFill>
                  <a:srgbClr val="1C1917"/>
                </a:solidFill>
                <a:latin typeface="Calibri"/>
              </a:rPr>
              <a:t>These are for demo and research use — they would not appear in a production app.</a:t>
            </a:r>
          </a:p>
          <a:p>
            <a:pPr>
              <a:spcBef>
                <a:spcPts val="400"/>
              </a:spcBef>
            </a:pPr>
          </a:p>
          <a:p>
            <a:pPr>
              <a:spcBef>
                <a:spcPts val="800"/>
              </a:spcBef>
            </a:pPr>
            <a:r>
              <a:rPr sz="1400" b="1">
                <a:solidFill>
                  <a:srgbClr val="EC0000"/>
                </a:solidFill>
                <a:latin typeface="Calibri"/>
              </a:rPr>
              <a:t>1. Entity switcher  [Limited Company ›]</a:t>
            </a:r>
          </a:p>
          <a:p>
            <a:pPr lvl="1">
              <a:spcBef>
                <a:spcPts val="200"/>
              </a:spcBef>
            </a:pPr>
            <a:r>
              <a:rPr sz="1200">
                <a:solidFill>
                  <a:srgbClr val="1C1917"/>
                </a:solidFill>
                <a:latin typeface="Calibri"/>
              </a:rPr>
              <a:t>•  — Cycles through all 7 entity types: Limited Company, Sole Trader,</a:t>
            </a:r>
          </a:p>
          <a:p>
            <a:pPr lvl="1">
              <a:spcBef>
                <a:spcPts val="100"/>
              </a:spcBef>
            </a:pPr>
            <a:r>
              <a:rPr sz="1100">
                <a:solidFill>
                  <a:srgbClr val="787169"/>
                </a:solidFill>
                <a:latin typeface="Calibri"/>
              </a:rPr>
              <a:t>—  Partnership, LLP, Charity, Club, Society.</a:t>
            </a:r>
          </a:p>
          <a:p>
            <a:pPr lvl="1">
              <a:spcBef>
                <a:spcPts val="200"/>
              </a:spcBef>
            </a:pPr>
            <a:r>
              <a:rPr sz="1200">
                <a:solidFill>
                  <a:srgbClr val="1C1917"/>
                </a:solidFill>
                <a:latin typeface="Calibri"/>
              </a:rPr>
              <a:t>•  — Instantly updates: greeting, entity name, account list, mandate rules,</a:t>
            </a:r>
          </a:p>
          <a:p>
            <a:pPr lvl="1">
              <a:spcBef>
                <a:spcPts val="100"/>
              </a:spcBef>
            </a:pPr>
            <a:r>
              <a:rPr sz="1100">
                <a:solidFill>
                  <a:srgbClr val="787169"/>
                </a:solidFill>
                <a:latin typeface="Calibri"/>
              </a:rPr>
              <a:t>—  signatory labels (director / partner / trustee / member), and all copy.</a:t>
            </a:r>
          </a:p>
          <a:p>
            <a:pPr lvl="1">
              <a:spcBef>
                <a:spcPts val="200"/>
              </a:spcBef>
            </a:pPr>
            <a:r>
              <a:rPr sz="1200">
                <a:solidFill>
                  <a:srgbClr val="1C1917"/>
                </a:solidFill>
                <a:latin typeface="Calibri"/>
              </a:rPr>
              <a:t>•  — Companies House number shown for Limited and LLP. Charity Commission</a:t>
            </a:r>
          </a:p>
          <a:p>
            <a:pPr lvl="1">
              <a:spcBef>
                <a:spcPts val="100"/>
              </a:spcBef>
            </a:pPr>
            <a:r>
              <a:rPr sz="1100">
                <a:solidFill>
                  <a:srgbClr val="787169"/>
                </a:solidFill>
                <a:latin typeface="Calibri"/>
              </a:rPr>
              <a:t>—  number shown for registered charities.</a:t>
            </a:r>
          </a:p>
          <a:p>
            <a:pPr>
              <a:spcBef>
                <a:spcPts val="400"/>
              </a:spcBef>
            </a:pPr>
          </a:p>
          <a:p>
            <a:pPr>
              <a:spcBef>
                <a:spcPts val="800"/>
              </a:spcBef>
            </a:pPr>
            <a:r>
              <a:rPr sz="1400" b="1">
                <a:solidFill>
                  <a:srgbClr val="EC0000"/>
                </a:solidFill>
                <a:latin typeface="Calibri"/>
              </a:rPr>
              <a:t>2. Demo cooling-off</a:t>
            </a:r>
          </a:p>
          <a:p>
            <a:pPr lvl="1">
              <a:spcBef>
                <a:spcPts val="200"/>
              </a:spcBef>
            </a:pPr>
            <a:r>
              <a:rPr sz="1200">
                <a:solidFill>
                  <a:srgbClr val="1C1917"/>
                </a:solidFill>
                <a:latin typeface="Calibri"/>
              </a:rPr>
              <a:t>•  — Injects a mock 24-hour cooling-off request into the Command Centre.</a:t>
            </a:r>
          </a:p>
          <a:p>
            <a:pPr lvl="1">
              <a:spcBef>
                <a:spcPts val="200"/>
              </a:spcBef>
            </a:pPr>
            <a:r>
              <a:rPr sz="1200">
                <a:solidFill>
                  <a:srgbClr val="1C1917"/>
                </a:solidFill>
                <a:latin typeface="Calibri"/>
              </a:rPr>
              <a:t>•  — Shows the amber countdown card with live progress bar, Cancel, and 'Do it now'.</a:t>
            </a:r>
          </a:p>
          <a:p>
            <a:pPr lvl="1">
              <a:spcBef>
                <a:spcPts val="200"/>
              </a:spcBef>
            </a:pPr>
            <a:r>
              <a:rPr sz="1200">
                <a:solidFill>
                  <a:srgbClr val="1C1917"/>
                </a:solidFill>
                <a:latin typeface="Calibri"/>
              </a:rPr>
              <a:t>•  — Useful for demonstrating the regulatory 24h delay without running a full workflow.</a:t>
            </a:r>
          </a:p>
          <a:p>
            <a:pPr>
              <a:spcBef>
                <a:spcPts val="400"/>
              </a:spcBef>
            </a:pPr>
          </a:p>
          <a:p>
            <a:pPr>
              <a:spcBef>
                <a:spcPts val="800"/>
              </a:spcBef>
            </a:pPr>
            <a:r>
              <a:rPr sz="1400" b="1">
                <a:solidFill>
                  <a:srgbClr val="EC0000"/>
                </a:solidFill>
                <a:latin typeface="Calibri"/>
              </a:rPr>
              <a:t>3. Simulate timeout</a:t>
            </a:r>
          </a:p>
          <a:p>
            <a:pPr lvl="1">
              <a:spcBef>
                <a:spcPts val="200"/>
              </a:spcBef>
            </a:pPr>
            <a:r>
              <a:rPr sz="1200">
                <a:solidFill>
                  <a:srgbClr val="1C1917"/>
                </a:solidFill>
                <a:latin typeface="Calibri"/>
              </a:rPr>
              <a:t>•  — Injects a stalled co-signer request ('Priya's on it' card).</a:t>
            </a:r>
          </a:p>
          <a:p>
            <a:pPr lvl="1">
              <a:spcBef>
                <a:spcPts val="200"/>
              </a:spcBef>
            </a:pPr>
            <a:r>
              <a:rPr sz="1200">
                <a:solidFill>
                  <a:srgbClr val="1C1917"/>
                </a:solidFill>
                <a:latin typeface="Calibri"/>
              </a:rPr>
              <a:t>•  — Demonstrates what happens when a co-signer misses their approval window.</a:t>
            </a:r>
          </a:p>
          <a:p>
            <a:pPr lvl="1">
              <a:spcBef>
                <a:spcPts val="200"/>
              </a:spcBef>
            </a:pPr>
            <a:r>
              <a:rPr sz="1200">
                <a:solidFill>
                  <a:srgbClr val="1C1917"/>
                </a:solidFill>
                <a:latin typeface="Calibri"/>
              </a:rPr>
              <a:t>•  — Shows the RM escalation path: Priya saw this within 2 minutes, 'Call Priya' button.</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B  ·  NAVIGATION GUIDE</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What each tab contains — at a glance</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400"/>
              </a:spcBef>
            </a:pPr>
            <a:r>
              <a:rPr sz="1400" b="1">
                <a:solidFill>
                  <a:srgbClr val="EC0000"/>
                </a:solidFill>
                <a:latin typeface="Calibri"/>
              </a:rPr>
              <a:t>Home (Command Centre)</a:t>
            </a:r>
          </a:p>
          <a:p>
            <a:pPr lvl="1">
              <a:spcBef>
                <a:spcPts val="200"/>
              </a:spcBef>
            </a:pPr>
            <a:r>
              <a:rPr sz="1200">
                <a:solidFill>
                  <a:srgbClr val="1C1917"/>
                </a:solidFill>
                <a:latin typeface="Calibri"/>
              </a:rPr>
              <a:t>•  — 15 components. Use for: opening demos, showing the breadth of insight,</a:t>
            </a:r>
          </a:p>
          <a:p>
            <a:pPr lvl="1">
              <a:spcBef>
                <a:spcPts val="100"/>
              </a:spcBef>
            </a:pPr>
            <a:r>
              <a:rPr sz="1100">
                <a:solidFill>
                  <a:srgbClr val="787169"/>
                </a:solidFill>
                <a:latin typeface="Calibri"/>
              </a:rPr>
              <a:t>—  launching any workflow, switching entity type mid-session.</a:t>
            </a:r>
          </a:p>
          <a:p>
            <a:pPr>
              <a:spcBef>
                <a:spcPts val="1100"/>
              </a:spcBef>
            </a:pPr>
            <a:r>
              <a:rPr sz="1400" b="1">
                <a:solidFill>
                  <a:srgbClr val="EC0000"/>
                </a:solidFill>
                <a:latin typeface="Calibri"/>
              </a:rPr>
              <a:t>Approve</a:t>
            </a:r>
          </a:p>
          <a:p>
            <a:pPr lvl="1">
              <a:spcBef>
                <a:spcPts val="200"/>
              </a:spcBef>
            </a:pPr>
            <a:r>
              <a:rPr sz="1200">
                <a:solidFill>
                  <a:srgbClr val="1C1917"/>
                </a:solidFill>
                <a:latin typeface="Calibri"/>
              </a:rPr>
              <a:t>•  — Pending items awaiting the director's signature.</a:t>
            </a:r>
          </a:p>
          <a:p>
            <a:pPr lvl="1">
              <a:spcBef>
                <a:spcPts val="200"/>
              </a:spcBef>
            </a:pPr>
            <a:r>
              <a:rPr sz="1200">
                <a:solidFill>
                  <a:srgbClr val="1C1917"/>
                </a:solidFill>
                <a:latin typeface="Calibri"/>
              </a:rPr>
              <a:t>•  — Three demo items: Bulk Payment (October Wages £183k), Mandate Change</a:t>
            </a:r>
          </a:p>
          <a:p>
            <a:pPr lvl="1">
              <a:spcBef>
                <a:spcPts val="100"/>
              </a:spcBef>
            </a:pPr>
            <a:r>
              <a:rPr sz="1100">
                <a:solidFill>
                  <a:srgbClr val="787169"/>
                </a:solidFill>
                <a:latin typeface="Calibri"/>
              </a:rPr>
              <a:t>—  (Add Mark Patel), Account Closure (Legacy Trading ····4422).</a:t>
            </a:r>
          </a:p>
          <a:p>
            <a:pPr lvl="1">
              <a:spcBef>
                <a:spcPts val="200"/>
              </a:spcBef>
            </a:pPr>
            <a:r>
              <a:rPr sz="1200">
                <a:solidFill>
                  <a:srgbClr val="1C1917"/>
                </a:solidFill>
                <a:latin typeface="Calibri"/>
              </a:rPr>
              <a:t>•  — Use for: demonstrating dual-authorisation, OTP flow, biometric sign-off.</a:t>
            </a:r>
          </a:p>
          <a:p>
            <a:pPr>
              <a:spcBef>
                <a:spcPts val="1100"/>
              </a:spcBef>
            </a:pPr>
            <a:r>
              <a:rPr sz="1400" b="1">
                <a:solidFill>
                  <a:srgbClr val="EC0000"/>
                </a:solidFill>
                <a:latin typeface="Calibri"/>
              </a:rPr>
              <a:t>Audit</a:t>
            </a:r>
          </a:p>
          <a:p>
            <a:pPr lvl="1">
              <a:spcBef>
                <a:spcPts val="200"/>
              </a:spcBef>
            </a:pPr>
            <a:r>
              <a:rPr sz="1200">
                <a:solidFill>
                  <a:srgbClr val="1C1917"/>
                </a:solidFill>
                <a:latin typeface="Calibri"/>
              </a:rPr>
              <a:t>•  — Chronological log of all events. Tamper-evident by design.</a:t>
            </a:r>
          </a:p>
          <a:p>
            <a:pPr lvl="1">
              <a:spcBef>
                <a:spcPts val="200"/>
              </a:spcBef>
            </a:pPr>
            <a:r>
              <a:rPr sz="1200">
                <a:solidFill>
                  <a:srgbClr val="1C1917"/>
                </a:solidFill>
                <a:latin typeface="Calibri"/>
              </a:rPr>
              <a:t>•  — Use for: compliance conversations, showing auditability of paperless workflows.</a:t>
            </a:r>
          </a:p>
          <a:p>
            <a:pPr>
              <a:spcBef>
                <a:spcPts val="1100"/>
              </a:spcBef>
            </a:pPr>
            <a:r>
              <a:rPr sz="1400" b="1">
                <a:solidFill>
                  <a:srgbClr val="EC0000"/>
                </a:solidFill>
                <a:latin typeface="Calibri"/>
              </a:rPr>
              <a:t>Tax (MTD)</a:t>
            </a:r>
          </a:p>
          <a:p>
            <a:pPr lvl="1">
              <a:spcBef>
                <a:spcPts val="200"/>
              </a:spcBef>
            </a:pPr>
            <a:r>
              <a:rPr sz="1200">
                <a:solidFill>
                  <a:srgbClr val="1C1917"/>
                </a:solidFill>
                <a:latin typeface="Calibri"/>
              </a:rPr>
              <a:t>•  — VAT obligations: Q3 Jul–Sep 2026 (open, £18,472 due), Q2 submitted.</a:t>
            </a:r>
          </a:p>
          <a:p>
            <a:pPr lvl="1">
              <a:spcBef>
                <a:spcPts val="200"/>
              </a:spcBef>
            </a:pPr>
            <a:r>
              <a:rPr sz="1200">
                <a:solidFill>
                  <a:srgbClr val="1C1917"/>
                </a:solidFill>
                <a:latin typeface="Calibri"/>
              </a:rPr>
              <a:t>•  — HMRC MTD VAT API v1.0. 247 transactions to review.</a:t>
            </a:r>
          </a:p>
          <a:p>
            <a:pPr lvl="1">
              <a:spcBef>
                <a:spcPts val="200"/>
              </a:spcBef>
            </a:pPr>
            <a:r>
              <a:rPr sz="1200">
                <a:solidFill>
                  <a:srgbClr val="1C1917"/>
                </a:solidFill>
                <a:latin typeface="Calibri"/>
              </a:rPr>
              <a:t>•  — Use for: accountant demos, MTD readiness conversations, VAT submission flow.</a:t>
            </a:r>
          </a:p>
          <a:p>
            <a:pPr>
              <a:spcBef>
                <a:spcPts val="1100"/>
              </a:spcBef>
            </a:pPr>
            <a:r>
              <a:rPr sz="1400" b="1">
                <a:solidFill>
                  <a:srgbClr val="EC0000"/>
                </a:solidFill>
                <a:latin typeface="Calibri"/>
              </a:rPr>
              <a:t>Statements</a:t>
            </a:r>
          </a:p>
          <a:p>
            <a:pPr lvl="1">
              <a:spcBef>
                <a:spcPts val="200"/>
              </a:spcBef>
            </a:pPr>
            <a:r>
              <a:rPr sz="1200">
                <a:solidFill>
                  <a:srgbClr val="1C1917"/>
                </a:solidFill>
                <a:latin typeface="Calibri"/>
              </a:rPr>
              <a:t>•  — Transaction history with full filtering: date range, category, counterparty,</a:t>
            </a:r>
          </a:p>
          <a:p>
            <a:pPr lvl="1">
              <a:spcBef>
                <a:spcPts val="100"/>
              </a:spcBef>
            </a:pPr>
            <a:r>
              <a:rPr sz="1100">
                <a:solidFill>
                  <a:srgbClr val="787169"/>
                </a:solidFill>
                <a:latin typeface="Calibri"/>
              </a:rPr>
              <a:t>—  payment method (card / DD / SO / FP / BACS).</a:t>
            </a:r>
          </a:p>
          <a:p>
            <a:pPr lvl="1">
              <a:spcBef>
                <a:spcPts val="200"/>
              </a:spcBef>
            </a:pPr>
            <a:r>
              <a:rPr sz="1200">
                <a:solidFill>
                  <a:srgbClr val="1C1917"/>
                </a:solidFill>
                <a:latin typeface="Calibri"/>
              </a:rPr>
              <a:t>•  — Counterparty deep-dive with spend summary and transaction list.</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6748272"/>
            <a:ext cx="12024360" cy="109728"/>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0"/>
            <a:ext cx="10972800" cy="457200"/>
          </a:xfrm>
          <a:prstGeom prst="rect">
            <a:avLst/>
          </a:prstGeom>
          <a:noFill/>
        </p:spPr>
        <p:txBody>
          <a:bodyPr wrap="square">
            <a:spAutoFit/>
          </a:bodyPr>
          <a:lstStyle/>
          <a:p>
            <a:pPr algn="l"/>
            <a:r>
              <a:rPr sz="1100" b="1" i="0">
                <a:solidFill>
                  <a:srgbClr val="EC0000"/>
                </a:solidFill>
                <a:latin typeface="Calibri"/>
              </a:rPr>
              <a:t>Section C  ·  Slides 10–18</a:t>
            </a:r>
          </a:p>
        </p:txBody>
      </p:sp>
      <p:sp>
        <p:nvSpPr>
          <p:cNvPr id="6" name="TextBox 5"/>
          <p:cNvSpPr txBox="1"/>
          <p:nvPr/>
        </p:nvSpPr>
        <p:spPr>
          <a:xfrm>
            <a:off x="457200" y="2560320"/>
            <a:ext cx="10058400" cy="1280160"/>
          </a:xfrm>
          <a:prstGeom prst="rect">
            <a:avLst/>
          </a:prstGeom>
          <a:noFill/>
        </p:spPr>
        <p:txBody>
          <a:bodyPr wrap="square">
            <a:spAutoFit/>
          </a:bodyPr>
          <a:lstStyle/>
          <a:p>
            <a:pPr algn="l"/>
            <a:r>
              <a:rPr sz="4000" b="1" i="0">
                <a:solidFill>
                  <a:srgbClr val="FFFFFF"/>
                </a:solidFill>
                <a:latin typeface="Calibri"/>
              </a:rPr>
              <a:t>Command Centre
Deep-Dive</a:t>
            </a:r>
          </a:p>
        </p:txBody>
      </p:sp>
      <p:sp>
        <p:nvSpPr>
          <p:cNvPr id="7" name="TextBox 6"/>
          <p:cNvSpPr txBox="1"/>
          <p:nvPr/>
        </p:nvSpPr>
        <p:spPr>
          <a:xfrm>
            <a:off x="457200" y="4114800"/>
            <a:ext cx="9144000" cy="548640"/>
          </a:xfrm>
          <a:prstGeom prst="rect">
            <a:avLst/>
          </a:prstGeom>
          <a:noFill/>
        </p:spPr>
        <p:txBody>
          <a:bodyPr wrap="square">
            <a:spAutoFit/>
          </a:bodyPr>
          <a:lstStyle/>
          <a:p>
            <a:pPr algn="l"/>
            <a:r>
              <a:rPr sz="1600" b="0" i="0">
                <a:solidFill>
                  <a:srgbClr val="A8A299"/>
                </a:solidFill>
                <a:latin typeface="Calibri"/>
              </a:rPr>
              <a:t>The Home screen — 15 components, one screen that knows your business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C  ·  COMMAND CENTRE</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Command Centre — philosophy and components</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400"/>
              </a:spcBef>
            </a:pPr>
            <a:r>
              <a:rPr sz="1300" b="0">
                <a:solidFill>
                  <a:srgbClr val="1C1917"/>
                </a:solidFill>
                <a:latin typeface="Calibri"/>
              </a:rPr>
              <a:t>The Home screen is called the 'Command Centre'. Its design principle:</a:t>
            </a:r>
          </a:p>
          <a:p>
            <a:pPr>
              <a:spcBef>
                <a:spcPts val="400"/>
              </a:spcBef>
            </a:pPr>
            <a:r>
              <a:rPr sz="1300" b="0">
                <a:solidFill>
                  <a:srgbClr val="1C1917"/>
                </a:solidFill>
                <a:latin typeface="Calibri"/>
              </a:rPr>
              <a:t>"One screen that knows everything about your business — before you ask."</a:t>
            </a:r>
          </a:p>
          <a:p>
            <a:pPr>
              <a:spcBef>
                <a:spcPts val="400"/>
              </a:spcBef>
            </a:pPr>
          </a:p>
          <a:p>
            <a:pPr>
              <a:spcBef>
                <a:spcPts val="800"/>
              </a:spcBef>
            </a:pPr>
            <a:r>
              <a:rPr sz="1400" b="1">
                <a:solidFill>
                  <a:srgbClr val="EC0000"/>
                </a:solidFill>
                <a:latin typeface="Calibri"/>
              </a:rPr>
              <a:t>The 15 components (top to bottom)</a:t>
            </a:r>
          </a:p>
          <a:p>
            <a:pPr>
              <a:spcBef>
                <a:spcPts val="400"/>
              </a:spcBef>
            </a:pPr>
            <a:r>
              <a:rPr sz="1300" b="0">
                <a:solidFill>
                  <a:srgbClr val="1C1917"/>
                </a:solidFill>
                <a:latin typeface="Calibri"/>
              </a:rPr>
              <a:t>•  1.  Editorial greeting + date</a:t>
            </a:r>
          </a:p>
          <a:p>
            <a:pPr>
              <a:spcBef>
                <a:spcPts val="400"/>
              </a:spcBef>
            </a:pPr>
            <a:r>
              <a:rPr sz="1300" b="0">
                <a:solidFill>
                  <a:srgbClr val="1C1917"/>
                </a:solidFill>
                <a:latin typeface="Calibri"/>
              </a:rPr>
              <a:t>•  2.  Total Balance hero card (dark, with Santander red floating orb)</a:t>
            </a:r>
          </a:p>
          <a:p>
            <a:pPr>
              <a:spcBef>
                <a:spcPts val="400"/>
              </a:spcBef>
            </a:pPr>
            <a:r>
              <a:rPr sz="1300" b="0">
                <a:solidFill>
                  <a:srgbClr val="1C1917"/>
                </a:solidFill>
                <a:latin typeface="Calibri"/>
              </a:rPr>
              <a:t>•  3.  Proactive Forecast strip — 3 colour-coded nudge cards</a:t>
            </a:r>
          </a:p>
          <a:p>
            <a:pPr>
              <a:spcBef>
                <a:spcPts val="400"/>
              </a:spcBef>
            </a:pPr>
            <a:r>
              <a:rPr sz="1300" b="0">
                <a:solidFill>
                  <a:srgbClr val="1C1917"/>
                </a:solidFill>
                <a:latin typeface="Calibri"/>
              </a:rPr>
              <a:t>•  4.  Demo controls (entity switcher, cooling-off, simulate timeout)</a:t>
            </a:r>
          </a:p>
          <a:p>
            <a:pPr>
              <a:spcBef>
                <a:spcPts val="400"/>
              </a:spcBef>
            </a:pPr>
            <a:r>
              <a:rPr sz="1300" b="0">
                <a:solidFill>
                  <a:srgbClr val="1C1917"/>
                </a:solidFill>
                <a:latin typeface="Calibri"/>
              </a:rPr>
              <a:t>•  5.  Session anomaly alert (new sign-in detected — Edinburgh · new device)</a:t>
            </a:r>
          </a:p>
          <a:p>
            <a:pPr>
              <a:spcBef>
                <a:spcPts val="400"/>
              </a:spcBef>
            </a:pPr>
            <a:r>
              <a:rPr sz="1300" b="0">
                <a:solidFill>
                  <a:srgbClr val="1C1917"/>
                </a:solidFill>
                <a:latin typeface="Calibri"/>
              </a:rPr>
              <a:t>•  6.  Pre-approved lending offer — £45,000 at 6.2% APR (or active loan card)</a:t>
            </a:r>
          </a:p>
          <a:p>
            <a:pPr>
              <a:spcBef>
                <a:spcPts val="400"/>
              </a:spcBef>
            </a:pPr>
            <a:r>
              <a:rPr sz="1300" b="0">
                <a:solidFill>
                  <a:srgbClr val="1C1917"/>
                </a:solidFill>
                <a:latin typeface="Calibri"/>
              </a:rPr>
              <a:t>•  7.  Business Health Score card</a:t>
            </a:r>
          </a:p>
          <a:p>
            <a:pPr>
              <a:spcBef>
                <a:spcPts val="400"/>
              </a:spcBef>
            </a:pPr>
            <a:r>
              <a:rPr sz="1300" b="0">
                <a:solidFill>
                  <a:srgbClr val="1C1917"/>
                </a:solidFill>
                <a:latin typeface="Calibri"/>
              </a:rPr>
              <a:t>•  8.  Cooling-off cards — live progress bar, cancel or 'Do it now'</a:t>
            </a:r>
          </a:p>
          <a:p>
            <a:pPr>
              <a:spcBef>
                <a:spcPts val="400"/>
              </a:spcBef>
            </a:pPr>
            <a:r>
              <a:rPr sz="1300" b="0">
                <a:solidFill>
                  <a:srgbClr val="1C1917"/>
                </a:solidFill>
                <a:latin typeface="Calibri"/>
              </a:rPr>
              <a:t>•  9.  Stalled requests — 'Priya's on it' RM escalation</a:t>
            </a:r>
          </a:p>
          <a:p>
            <a:pPr>
              <a:spcBef>
                <a:spcPts val="400"/>
              </a:spcBef>
            </a:pPr>
            <a:r>
              <a:rPr sz="1300" b="0">
                <a:solidFill>
                  <a:srgbClr val="1C1917"/>
                </a:solidFill>
                <a:latin typeface="Calibri"/>
              </a:rPr>
              <a:t>• 10.  MTD VAT teaser — amount owed, days to deadline, transactions to review</a:t>
            </a:r>
          </a:p>
          <a:p>
            <a:pPr>
              <a:spcBef>
                <a:spcPts val="400"/>
              </a:spcBef>
            </a:pPr>
            <a:r>
              <a:rPr sz="1300" b="0">
                <a:solidFill>
                  <a:srgbClr val="1C1917"/>
                </a:solidFill>
                <a:latin typeface="Calibri"/>
              </a:rPr>
              <a:t>• 11.  Paperless banner — '3 paper forms retired · No more posting to Sunderland'</a:t>
            </a:r>
          </a:p>
          <a:p>
            <a:pPr>
              <a:spcBef>
                <a:spcPts val="400"/>
              </a:spcBef>
            </a:pPr>
            <a:r>
              <a:rPr sz="1300" b="0">
                <a:solidFill>
                  <a:srgbClr val="1C1917"/>
                </a:solidFill>
                <a:latin typeface="Calibri"/>
              </a:rPr>
              <a:t>• 12.  Pending approvals — items with expiry countdown</a:t>
            </a:r>
          </a:p>
          <a:p>
            <a:pPr>
              <a:spcBef>
                <a:spcPts val="400"/>
              </a:spcBef>
            </a:pPr>
            <a:r>
              <a:rPr sz="1300" b="0">
                <a:solidFill>
                  <a:srgbClr val="1C1917"/>
                </a:solidFill>
                <a:latin typeface="Calibri"/>
              </a:rPr>
              <a:t>• 13.  Paperless actions grid — accordion of all 17 workflows</a:t>
            </a:r>
          </a:p>
          <a:p>
            <a:pPr>
              <a:spcBef>
                <a:spcPts val="400"/>
              </a:spcBef>
            </a:pPr>
            <a:r>
              <a:rPr sz="1300" b="0">
                <a:solidFill>
                  <a:srgbClr val="1C1917"/>
                </a:solidFill>
                <a:latin typeface="Calibri"/>
              </a:rPr>
              <a:t>• 14.  Accounts list — balances, sort codes, mandate badges</a:t>
            </a:r>
          </a:p>
          <a:p>
            <a:pPr>
              <a:spcBef>
                <a:spcPts val="400"/>
              </a:spcBef>
            </a:pPr>
            <a:r>
              <a:rPr sz="1300" b="0">
                <a:solidFill>
                  <a:srgbClr val="1C1917"/>
                </a:solidFill>
                <a:latin typeface="Calibri"/>
              </a:rPr>
              <a:t>• 15.  Supplier Radar, 13-week forecast chart, Director Centre, Cards, Privacy controls</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C  ·  COMMAND CENTRE</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Editorial greeting + Total Balance hero card</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800"/>
              </a:spcBef>
            </a:pPr>
            <a:r>
              <a:rPr sz="1400" b="1">
                <a:solidFill>
                  <a:srgbClr val="EC0000"/>
                </a:solidFill>
                <a:latin typeface="Calibri"/>
              </a:rPr>
              <a:t>Editorial greeting</a:t>
            </a:r>
          </a:p>
          <a:p>
            <a:pPr lvl="1">
              <a:spcBef>
                <a:spcPts val="200"/>
              </a:spcBef>
            </a:pPr>
            <a:r>
              <a:rPr sz="1200">
                <a:solidFill>
                  <a:srgbClr val="1C1917"/>
                </a:solidFill>
                <a:latin typeface="Calibri"/>
              </a:rPr>
              <a:t>•  — Date line in small caps with a horizontal rule: 'Monday, 23 June'.</a:t>
            </a:r>
          </a:p>
          <a:p>
            <a:pPr lvl="1">
              <a:spcBef>
                <a:spcPts val="200"/>
              </a:spcBef>
            </a:pPr>
            <a:r>
              <a:rPr sz="1200">
                <a:solidFill>
                  <a:srgbClr val="1C1917"/>
                </a:solidFill>
                <a:latin typeface="Calibri"/>
              </a:rPr>
              <a:t>•  — Large display headline (Santander Text typeface): 'Good morning, James.' (or Treasurer</a:t>
            </a:r>
          </a:p>
          <a:p>
            <a:pPr lvl="1">
              <a:spcBef>
                <a:spcPts val="100"/>
              </a:spcBef>
            </a:pPr>
            <a:r>
              <a:rPr sz="1100">
                <a:solidFill>
                  <a:srgbClr val="787169"/>
                </a:solidFill>
                <a:latin typeface="Calibri"/>
              </a:rPr>
              <a:t>—  when the entity type is a charity, club, or society).</a:t>
            </a:r>
          </a:p>
          <a:p>
            <a:pPr lvl="1">
              <a:spcBef>
                <a:spcPts val="200"/>
              </a:spcBef>
            </a:pPr>
            <a:r>
              <a:rPr sz="1200">
                <a:solidFill>
                  <a:srgbClr val="1C1917"/>
                </a:solidFill>
                <a:latin typeface="Calibri"/>
              </a:rPr>
              <a:t>•  — Context sentence: 'Everything's running normally today. 3 things need your</a:t>
            </a:r>
          </a:p>
          <a:p>
            <a:pPr lvl="1">
              <a:spcBef>
                <a:spcPts val="100"/>
              </a:spcBef>
            </a:pPr>
            <a:r>
              <a:rPr sz="1100">
                <a:solidFill>
                  <a:srgbClr val="787169"/>
                </a:solidFill>
                <a:latin typeface="Calibri"/>
              </a:rPr>
              <a:t>—  signature — they're below.'</a:t>
            </a:r>
          </a:p>
          <a:p>
            <a:pPr>
              <a:spcBef>
                <a:spcPts val="400"/>
              </a:spcBef>
            </a:pPr>
          </a:p>
          <a:p>
            <a:pPr>
              <a:spcBef>
                <a:spcPts val="800"/>
              </a:spcBef>
            </a:pPr>
            <a:r>
              <a:rPr sz="1400" b="1">
                <a:solidFill>
                  <a:srgbClr val="EC0000"/>
                </a:solidFill>
                <a:latin typeface="Calibri"/>
              </a:rPr>
              <a:t>Total Balance hero card</a:t>
            </a:r>
          </a:p>
          <a:p>
            <a:pPr lvl="1">
              <a:spcBef>
                <a:spcPts val="200"/>
              </a:spcBef>
            </a:pPr>
            <a:r>
              <a:rPr sz="1200">
                <a:solidFill>
                  <a:srgbClr val="1C1917"/>
                </a:solidFill>
                <a:latin typeface="Calibri"/>
              </a:rPr>
              <a:t>•  — Dark (stone-900 #1c1917) rounded card with a Santander red (#c8102e) glowing</a:t>
            </a:r>
          </a:p>
          <a:p>
            <a:pPr lvl="1">
              <a:spcBef>
                <a:spcPts val="100"/>
              </a:spcBef>
            </a:pPr>
            <a:r>
              <a:rPr sz="1100">
                <a:solidFill>
                  <a:srgbClr val="787169"/>
                </a:solidFill>
                <a:latin typeface="Calibri"/>
              </a:rPr>
              <a:t>—  orb in the top-right corner and a subtle grain texture overlay.</a:t>
            </a:r>
          </a:p>
          <a:p>
            <a:pPr lvl="1">
              <a:spcBef>
                <a:spcPts val="200"/>
              </a:spcBef>
            </a:pPr>
            <a:r>
              <a:rPr sz="1200">
                <a:solidFill>
                  <a:srgbClr val="1C1917"/>
                </a:solidFill>
                <a:latin typeface="Calibri"/>
              </a:rPr>
              <a:t>•  — Displays: 'Total balance' label, entity name, account count, sort code.</a:t>
            </a:r>
          </a:p>
          <a:p>
            <a:pPr lvl="1">
              <a:spcBef>
                <a:spcPts val="200"/>
              </a:spcBef>
            </a:pPr>
            <a:r>
              <a:rPr sz="1200">
                <a:solidFill>
                  <a:srgbClr val="1C1917"/>
                </a:solidFill>
                <a:latin typeface="Calibri"/>
              </a:rPr>
              <a:t>•  — Total across all accounts for the current entity. For a limited company:</a:t>
            </a:r>
          </a:p>
          <a:p>
            <a:pPr lvl="1">
              <a:spcBef>
                <a:spcPts val="100"/>
              </a:spcBef>
            </a:pPr>
            <a:r>
              <a:rPr sz="1100">
                <a:solidFill>
                  <a:srgbClr val="787169"/>
                </a:solidFill>
                <a:latin typeface="Calibri"/>
              </a:rPr>
              <a:t>—  Operating (£284,750) + Reserve (£1,240,500) + Payroll (£195,830) = £1,721,080.</a:t>
            </a:r>
          </a:p>
          <a:p>
            <a:pPr lvl="1">
              <a:spcBef>
                <a:spcPts val="200"/>
              </a:spcBef>
            </a:pPr>
            <a:r>
              <a:rPr sz="1200">
                <a:solidFill>
                  <a:srgbClr val="1C1917"/>
                </a:solidFill>
                <a:latin typeface="Calibri"/>
              </a:rPr>
              <a:t>•  — Three badge pills: entity type label, mandate rule, FSCS Protected.</a:t>
            </a:r>
          </a:p>
          <a:p>
            <a:pPr lvl="1">
              <a:spcBef>
                <a:spcPts val="200"/>
              </a:spcBef>
            </a:pPr>
            <a:r>
              <a:rPr sz="1200">
                <a:solidFill>
                  <a:srgbClr val="1C1917"/>
                </a:solidFill>
                <a:latin typeface="Calibri"/>
              </a:rPr>
              <a:t>•  — If credit ring-fencing is active: a fourth 'Credit ring-fenced' emerald badge.</a:t>
            </a:r>
          </a:p>
          <a:p>
            <a:pPr lvl="1">
              <a:spcBef>
                <a:spcPts val="200"/>
              </a:spcBef>
            </a:pPr>
            <a:r>
              <a:rPr sz="1200">
                <a:solidFill>
                  <a:srgbClr val="1C1917"/>
                </a:solidFill>
                <a:latin typeface="Calibri"/>
              </a:rPr>
              <a:t>•  — The balance figure uses tabular figures (num-tab class) for digit alignment.</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C  ·  COMMAND CENTRE</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Proactive Forecast strip — Predict, Explain, Act</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400"/>
              </a:spcBef>
            </a:pPr>
            <a:r>
              <a:rPr sz="1300" b="0">
                <a:solidFill>
                  <a:srgbClr val="1C1917"/>
                </a:solidFill>
                <a:latin typeface="Calibri"/>
              </a:rPr>
              <a:t>Three horizontally scrolling nudge cards. Design principle: Predict → Explain → Act.</a:t>
            </a:r>
          </a:p>
          <a:p>
            <a:pPr>
              <a:spcBef>
                <a:spcPts val="400"/>
              </a:spcBef>
            </a:pPr>
            <a:r>
              <a:rPr sz="1300" b="0">
                <a:solidFill>
                  <a:srgbClr val="1C1917"/>
                </a:solidFill>
                <a:latin typeface="Calibri"/>
              </a:rPr>
              <a:t>Each card names the event, tells the user why it matters, and links to the exact workflow.</a:t>
            </a:r>
          </a:p>
          <a:p>
            <a:pPr>
              <a:spcBef>
                <a:spcPts val="400"/>
              </a:spcBef>
            </a:pPr>
            <a:r>
              <a:rPr sz="1400" b="1">
                <a:solidFill>
                  <a:srgbClr val="EC0000"/>
                </a:solidFill>
                <a:latin typeface="Calibri"/>
              </a:rPr>
              <a:t>Card 1 — Payroll run (amber border)</a:t>
            </a:r>
          </a:p>
          <a:p>
            <a:pPr lvl="1">
              <a:spcBef>
                <a:spcPts val="200"/>
              </a:spcBef>
            </a:pPr>
            <a:r>
              <a:rPr sz="1200">
                <a:solidFill>
                  <a:srgbClr val="1C1917"/>
                </a:solidFill>
                <a:latin typeface="Calibri"/>
              </a:rPr>
              <a:t>•  — 'In 3 days'  ·  'Payroll run · £42,180'</a:t>
            </a:r>
          </a:p>
          <a:p>
            <a:pPr lvl="1">
              <a:spcBef>
                <a:spcPts val="200"/>
              </a:spcBef>
            </a:pPr>
            <a:r>
              <a:rPr sz="1200">
                <a:solidFill>
                  <a:srgbClr val="1C1917"/>
                </a:solidFill>
                <a:latin typeface="Calibri"/>
              </a:rPr>
              <a:t>•  — 'Balance covers it — review if payees changed'</a:t>
            </a:r>
          </a:p>
          <a:p>
            <a:pPr lvl="1">
              <a:spcBef>
                <a:spcPts val="200"/>
              </a:spcBef>
            </a:pPr>
            <a:r>
              <a:rPr sz="1200">
                <a:solidFill>
                  <a:srgbClr val="1C1917"/>
                </a:solidFill>
                <a:latin typeface="Calibri"/>
              </a:rPr>
              <a:t>•  — Taps directly into the Bulk Payments (Wages) workflow.</a:t>
            </a:r>
          </a:p>
          <a:p>
            <a:pPr>
              <a:spcBef>
                <a:spcPts val="1100"/>
              </a:spcBef>
            </a:pPr>
            <a:r>
              <a:rPr sz="1400" b="1">
                <a:solidFill>
                  <a:srgbClr val="EC0000"/>
                </a:solidFill>
                <a:latin typeface="Calibri"/>
              </a:rPr>
              <a:t>Card 2 — VAT return due (red border)</a:t>
            </a:r>
          </a:p>
          <a:p>
            <a:pPr lvl="1">
              <a:spcBef>
                <a:spcPts val="200"/>
              </a:spcBef>
            </a:pPr>
            <a:r>
              <a:rPr sz="1200">
                <a:solidFill>
                  <a:srgbClr val="1C1917"/>
                </a:solidFill>
                <a:latin typeface="Calibri"/>
              </a:rPr>
              <a:t>•  — '22 days'  ·  'VAT return due 7 Aug'</a:t>
            </a:r>
          </a:p>
          <a:p>
            <a:pPr lvl="1">
              <a:spcBef>
                <a:spcPts val="200"/>
              </a:spcBef>
            </a:pPr>
            <a:r>
              <a:rPr sz="1200">
                <a:solidFill>
                  <a:srgbClr val="1C1917"/>
                </a:solidFill>
                <a:latin typeface="Calibri"/>
              </a:rPr>
              <a:t>•  — 'Q3 Making Tax Digital · HMRC submission'</a:t>
            </a:r>
          </a:p>
          <a:p>
            <a:pPr lvl="1">
              <a:spcBef>
                <a:spcPts val="200"/>
              </a:spcBef>
            </a:pPr>
            <a:r>
              <a:rPr sz="1200">
                <a:solidFill>
                  <a:srgbClr val="1C1917"/>
                </a:solidFill>
                <a:latin typeface="Calibri"/>
              </a:rPr>
              <a:t>•  — Taps directly into the MTD/Tax tab.</a:t>
            </a:r>
          </a:p>
          <a:p>
            <a:pPr>
              <a:spcBef>
                <a:spcPts val="1100"/>
              </a:spcBef>
            </a:pPr>
            <a:r>
              <a:rPr sz="1400" b="1">
                <a:solidFill>
                  <a:srgbClr val="EC0000"/>
                </a:solidFill>
                <a:latin typeface="Calibri"/>
              </a:rPr>
              <a:t>Card 3 — Companies House (blue border)</a:t>
            </a:r>
          </a:p>
          <a:p>
            <a:pPr lvl="1">
              <a:spcBef>
                <a:spcPts val="200"/>
              </a:spcBef>
            </a:pPr>
            <a:r>
              <a:rPr sz="1200">
                <a:solidFill>
                  <a:srgbClr val="1C1917"/>
                </a:solidFill>
                <a:latin typeface="Calibri"/>
              </a:rPr>
              <a:t>•  — '14 days'  ·  'Annual confirmation due'</a:t>
            </a:r>
          </a:p>
          <a:p>
            <a:pPr lvl="1">
              <a:spcBef>
                <a:spcPts val="200"/>
              </a:spcBef>
            </a:pPr>
            <a:r>
              <a:rPr sz="1200">
                <a:solidFill>
                  <a:srgbClr val="1C1917"/>
                </a:solidFill>
                <a:latin typeface="Calibri"/>
              </a:rPr>
              <a:t>•  — 'Companies House · Whitfield Holdings Ltd'</a:t>
            </a:r>
          </a:p>
          <a:p>
            <a:pPr lvl="1">
              <a:spcBef>
                <a:spcPts val="200"/>
              </a:spcBef>
            </a:pPr>
            <a:r>
              <a:rPr sz="1200">
                <a:solidFill>
                  <a:srgbClr val="1C1917"/>
                </a:solidFill>
                <a:latin typeface="Calibri"/>
              </a:rPr>
              <a:t>•  — Taps directly into the KYB / ID register workflow.</a:t>
            </a:r>
          </a:p>
          <a:p>
            <a:pPr>
              <a:spcBef>
                <a:spcPts val="1100"/>
              </a:spcBef>
            </a:pPr>
            <a:r>
              <a:rPr sz="1400" b="1">
                <a:solidFill>
                  <a:srgbClr val="EC0000"/>
                </a:solidFill>
                <a:latin typeface="Calibri"/>
              </a:rPr>
              <a:t>Why this matters</a:t>
            </a:r>
          </a:p>
          <a:p>
            <a:pPr lvl="1">
              <a:spcBef>
                <a:spcPts val="200"/>
              </a:spcBef>
            </a:pPr>
            <a:r>
              <a:rPr sz="1200">
                <a:solidFill>
                  <a:srgbClr val="1C1917"/>
                </a:solidFill>
                <a:latin typeface="Calibri"/>
              </a:rPr>
              <a:t>•  — No hunting through menus. The app surfaces what needs doing without being asked.</a:t>
            </a:r>
          </a:p>
          <a:p>
            <a:pPr lvl="1">
              <a:spcBef>
                <a:spcPts val="200"/>
              </a:spcBef>
            </a:pPr>
            <a:r>
              <a:rPr sz="1200">
                <a:solidFill>
                  <a:srgbClr val="1C1917"/>
                </a:solidFill>
                <a:latin typeface="Calibri"/>
              </a:rPr>
              <a:t>•  — Colour-coding (amber / red / blue) communicates urgency at a glance.</a:t>
            </a:r>
          </a:p>
          <a:p>
            <a:pPr lvl="1">
              <a:spcBef>
                <a:spcPts val="200"/>
              </a:spcBef>
            </a:pPr>
            <a:r>
              <a:rPr sz="1200">
                <a:solidFill>
                  <a:srgbClr val="1C1917"/>
                </a:solidFill>
                <a:latin typeface="Calibri"/>
              </a:rPr>
              <a:t>•  — Each card is fully interactive — tapping starts the right workflow immediately.</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C  ·  COMMAND CENTRE</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Pre-approved lending offer — contextual, not interruptive</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800"/>
              </a:spcBef>
            </a:pPr>
            <a:r>
              <a:rPr sz="1400" b="1">
                <a:solidFill>
                  <a:srgbClr val="EC0000"/>
                </a:solidFill>
                <a:latin typeface="Calibri"/>
              </a:rPr>
              <a:t>The offer card</a:t>
            </a:r>
          </a:p>
          <a:p>
            <a:pPr lvl="1">
              <a:spcBef>
                <a:spcPts val="200"/>
              </a:spcBef>
            </a:pPr>
            <a:r>
              <a:rPr sz="1200">
                <a:solidFill>
                  <a:srgbClr val="1C1917"/>
                </a:solidFill>
                <a:latin typeface="Calibri"/>
              </a:rPr>
              <a:t>•  — Dark hero card (same style as the Total Balance card) with subtle circular overlays.</a:t>
            </a:r>
          </a:p>
          <a:p>
            <a:pPr lvl="1">
              <a:spcBef>
                <a:spcPts val="200"/>
              </a:spcBef>
            </a:pPr>
            <a:r>
              <a:rPr sz="1200">
                <a:solidFill>
                  <a:srgbClr val="1C1917"/>
                </a:solidFill>
                <a:latin typeface="Calibri"/>
              </a:rPr>
              <a:t>•  — Badge: 'Pre-approved offer · valid until 30 Sep 2026'.</a:t>
            </a:r>
          </a:p>
          <a:p>
            <a:pPr lvl="1">
              <a:spcBef>
                <a:spcPts val="200"/>
              </a:spcBef>
            </a:pPr>
            <a:r>
              <a:rPr sz="1200">
                <a:solidFill>
                  <a:srgbClr val="1C1917"/>
                </a:solidFill>
                <a:latin typeface="Calibri"/>
              </a:rPr>
              <a:t>•  — Large figure: £45,000.</a:t>
            </a:r>
          </a:p>
          <a:p>
            <a:pPr lvl="1">
              <a:spcBef>
                <a:spcPts val="200"/>
              </a:spcBef>
            </a:pPr>
            <a:r>
              <a:rPr sz="1200">
                <a:solidFill>
                  <a:srgbClr val="1C1917"/>
                </a:solidFill>
                <a:latin typeface="Calibri"/>
              </a:rPr>
              <a:t>•  — 'From 6.2% APR · Based on your 6-month trading history'.</a:t>
            </a:r>
          </a:p>
          <a:p>
            <a:pPr lvl="1">
              <a:spcBef>
                <a:spcPts val="200"/>
              </a:spcBef>
            </a:pPr>
            <a:r>
              <a:rPr sz="1200">
                <a:solidFill>
                  <a:srgbClr val="1C1917"/>
                </a:solidFill>
                <a:latin typeface="Calibri"/>
              </a:rPr>
              <a:t>•  — 'View offer &amp; draw down' — one tap opens the lending workflow.</a:t>
            </a:r>
          </a:p>
          <a:p>
            <a:pPr>
              <a:spcBef>
                <a:spcPts val="400"/>
              </a:spcBef>
            </a:pPr>
          </a:p>
          <a:p>
            <a:pPr>
              <a:spcBef>
                <a:spcPts val="800"/>
              </a:spcBef>
            </a:pPr>
            <a:r>
              <a:rPr sz="1400" b="1">
                <a:solidFill>
                  <a:srgbClr val="EC0000"/>
                </a:solidFill>
                <a:latin typeface="Calibri"/>
              </a:rPr>
              <a:t>Inside the lending workflow (4 steps)</a:t>
            </a:r>
          </a:p>
          <a:p>
            <a:pPr lvl="1">
              <a:spcBef>
                <a:spcPts val="200"/>
              </a:spcBef>
            </a:pPr>
            <a:r>
              <a:rPr sz="1200">
                <a:solidFill>
                  <a:srgbClr val="1C1917"/>
                </a:solidFill>
                <a:latin typeface="Calibri"/>
              </a:rPr>
              <a:t>•  — Step 0: Offer details, rate, representative example.</a:t>
            </a:r>
          </a:p>
          <a:p>
            <a:pPr lvl="1">
              <a:spcBef>
                <a:spcPts val="200"/>
              </a:spcBef>
            </a:pPr>
            <a:r>
              <a:rPr sz="1200">
                <a:solidFill>
                  <a:srgbClr val="1C1917"/>
                </a:solidFill>
                <a:latin typeface="Calibri"/>
              </a:rPr>
              <a:t>•  — Step 1: Choose repayment term (12, 24, or 36 months). Monthly cost updates live.</a:t>
            </a:r>
          </a:p>
          <a:p>
            <a:pPr lvl="1">
              <a:spcBef>
                <a:spcPts val="200"/>
              </a:spcBef>
            </a:pPr>
            <a:r>
              <a:rPr sz="1200">
                <a:solidFill>
                  <a:srgbClr val="1C1917"/>
                </a:solidFill>
                <a:latin typeface="Calibri"/>
              </a:rPr>
              <a:t>•  — Step 2: Confirm purpose of funds.</a:t>
            </a:r>
          </a:p>
          <a:p>
            <a:pPr lvl="1">
              <a:spcBef>
                <a:spcPts val="200"/>
              </a:spcBef>
            </a:pPr>
            <a:r>
              <a:rPr sz="1200">
                <a:solidFill>
                  <a:srgbClr val="1C1917"/>
                </a:solidFill>
                <a:latin typeface="Calibri"/>
              </a:rPr>
              <a:t>•  — Step 3: Sign &amp; draw down. OTP confirmation.</a:t>
            </a:r>
          </a:p>
          <a:p>
            <a:pPr>
              <a:spcBef>
                <a:spcPts val="400"/>
              </a:spcBef>
            </a:pPr>
          </a:p>
          <a:p>
            <a:pPr>
              <a:spcBef>
                <a:spcPts val="800"/>
              </a:spcBef>
            </a:pPr>
            <a:r>
              <a:rPr sz="1400" b="1">
                <a:solidFill>
                  <a:srgbClr val="EC0000"/>
                </a:solidFill>
                <a:latin typeface="Calibri"/>
              </a:rPr>
              <a:t>After acceptance</a:t>
            </a:r>
          </a:p>
          <a:p>
            <a:pPr lvl="1">
              <a:spcBef>
                <a:spcPts val="200"/>
              </a:spcBef>
            </a:pPr>
            <a:r>
              <a:rPr sz="1200">
                <a:solidFill>
                  <a:srgbClr val="1C1917"/>
                </a:solidFill>
                <a:latin typeface="Calibri"/>
              </a:rPr>
              <a:t>•  — The offer card is replaced by a 'Business loan active · £45,000 drawn' confirmation</a:t>
            </a:r>
          </a:p>
          <a:p>
            <a:pPr lvl="1">
              <a:spcBef>
                <a:spcPts val="100"/>
              </a:spcBef>
            </a:pPr>
            <a:r>
              <a:rPr sz="1100">
                <a:solidFill>
                  <a:srgbClr val="787169"/>
                </a:solidFill>
                <a:latin typeface="Calibri"/>
              </a:rPr>
              <a:t>—  in emerald green. First repayment date shown. Repayment term badge.</a:t>
            </a:r>
          </a:p>
          <a:p>
            <a:pPr lvl="1">
              <a:spcBef>
                <a:spcPts val="200"/>
              </a:spcBef>
            </a:pPr>
            <a:r>
              <a:rPr sz="1200">
                <a:solidFill>
                  <a:srgbClr val="1C1917"/>
                </a:solidFill>
                <a:latin typeface="Calibri"/>
              </a:rPr>
              <a:t>•  — State persists for the session — switching entity type or tabs doesn't reset it.</a:t>
            </a:r>
          </a:p>
          <a:p>
            <a:pPr>
              <a:spcBef>
                <a:spcPts val="400"/>
              </a:spcBef>
            </a:pPr>
          </a:p>
          <a:p>
            <a:pPr>
              <a:spcBef>
                <a:spcPts val="800"/>
              </a:spcBef>
            </a:pPr>
            <a:r>
              <a:rPr sz="1400" b="1">
                <a:solidFill>
                  <a:srgbClr val="EC0000"/>
                </a:solidFill>
                <a:latin typeface="Calibri"/>
              </a:rPr>
              <a:t>Design principle</a:t>
            </a:r>
          </a:p>
          <a:p>
            <a:pPr lvl="1">
              <a:spcBef>
                <a:spcPts val="200"/>
              </a:spcBef>
            </a:pPr>
            <a:r>
              <a:rPr sz="1200">
                <a:solidFill>
                  <a:srgbClr val="1C1917"/>
                </a:solidFill>
                <a:latin typeface="Calibri"/>
              </a:rPr>
              <a:t>•  — The offer appears in context, not as a pop-up or interstitial.</a:t>
            </a:r>
          </a:p>
          <a:p>
            <a:pPr lvl="1">
              <a:spcBef>
                <a:spcPts val="200"/>
              </a:spcBef>
            </a:pPr>
            <a:r>
              <a:rPr sz="1200">
                <a:solidFill>
                  <a:srgbClr val="1C1917"/>
                </a:solidFill>
                <a:latin typeface="Calibri"/>
              </a:rPr>
              <a:t>•  — Based on demonstrated trading data — not a cold credit offer.</a:t>
            </a:r>
          </a:p>
          <a:p>
            <a:pPr lvl="1">
              <a:spcBef>
                <a:spcPts val="200"/>
              </a:spcBef>
            </a:pPr>
            <a:r>
              <a:rPr sz="1200">
                <a:solidFill>
                  <a:srgbClr val="1C1917"/>
                </a:solidFill>
                <a:latin typeface="Calibri"/>
              </a:rPr>
              <a:t>•  — One tap to accept, not a branch visit or paper form.</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C  ·  COMMAND CENTRE</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Business Health Score + Cooling-off cards</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800"/>
              </a:spcBef>
            </a:pPr>
            <a:r>
              <a:rPr sz="1400" b="1">
                <a:solidFill>
                  <a:srgbClr val="EC0000"/>
                </a:solidFill>
                <a:latin typeface="Calibri"/>
              </a:rPr>
              <a:t>Business Health Score</a:t>
            </a:r>
          </a:p>
          <a:p>
            <a:pPr lvl="1">
              <a:spcBef>
                <a:spcPts val="200"/>
              </a:spcBef>
            </a:pPr>
            <a:r>
              <a:rPr sz="1200">
                <a:solidFill>
                  <a:srgbClr val="1C1917"/>
                </a:solidFill>
                <a:latin typeface="Calibri"/>
              </a:rPr>
              <a:t>•  — A composite score card covering: payment history, signatory compliance,</a:t>
            </a:r>
          </a:p>
          <a:p>
            <a:pPr lvl="1">
              <a:spcBef>
                <a:spcPts val="100"/>
              </a:spcBef>
            </a:pPr>
            <a:r>
              <a:rPr sz="1100">
                <a:solidFill>
                  <a:srgbClr val="787169"/>
                </a:solidFill>
                <a:latin typeface="Calibri"/>
              </a:rPr>
              <a:t>—  MTD submission status, document freshness, and account activity.</a:t>
            </a:r>
          </a:p>
          <a:p>
            <a:pPr lvl="1">
              <a:spcBef>
                <a:spcPts val="200"/>
              </a:spcBef>
            </a:pPr>
            <a:r>
              <a:rPr sz="1200">
                <a:solidFill>
                  <a:srgbClr val="1C1917"/>
                </a:solidFill>
                <a:latin typeface="Calibri"/>
              </a:rPr>
              <a:t>•  — Visual gauge or score band. Tappable for a breakdown.</a:t>
            </a:r>
          </a:p>
          <a:p>
            <a:pPr lvl="1">
              <a:spcBef>
                <a:spcPts val="200"/>
              </a:spcBef>
            </a:pPr>
            <a:r>
              <a:rPr sz="1200">
                <a:solidFill>
                  <a:srgbClr val="1C1917"/>
                </a:solidFill>
                <a:latin typeface="Calibri"/>
              </a:rPr>
              <a:t>•  — Helps a director understand their overall compliance health at a glance.</a:t>
            </a:r>
          </a:p>
          <a:p>
            <a:pPr>
              <a:spcBef>
                <a:spcPts val="400"/>
              </a:spcBef>
            </a:pPr>
          </a:p>
          <a:p>
            <a:pPr>
              <a:spcBef>
                <a:spcPts val="800"/>
              </a:spcBef>
            </a:pPr>
            <a:r>
              <a:rPr sz="1400" b="1">
                <a:solidFill>
                  <a:srgbClr val="EC0000"/>
                </a:solidFill>
                <a:latin typeface="Calibri"/>
              </a:rPr>
              <a:t>Cooling-off cards</a:t>
            </a:r>
          </a:p>
          <a:p>
            <a:pPr lvl="1">
              <a:spcBef>
                <a:spcPts val="200"/>
              </a:spcBef>
            </a:pPr>
            <a:r>
              <a:rPr sz="1200">
                <a:solidFill>
                  <a:srgbClr val="1C1917"/>
                </a:solidFill>
                <a:latin typeface="Calibri"/>
              </a:rPr>
              <a:t>•  — Regulatory requirement: high-risk changes (closures, mandate changes) have a</a:t>
            </a:r>
          </a:p>
          <a:p>
            <a:pPr lvl="1">
              <a:spcBef>
                <a:spcPts val="100"/>
              </a:spcBef>
            </a:pPr>
            <a:r>
              <a:rPr sz="1100">
                <a:solidFill>
                  <a:srgbClr val="787169"/>
                </a:solidFill>
                <a:latin typeface="Calibri"/>
              </a:rPr>
              <a:t>—  mandatory 24-hour delay before execution.</a:t>
            </a:r>
          </a:p>
          <a:p>
            <a:pPr lvl="1">
              <a:spcBef>
                <a:spcPts val="200"/>
              </a:spcBef>
            </a:pPr>
            <a:r>
              <a:rPr sz="1200">
                <a:solidFill>
                  <a:srgbClr val="1C1917"/>
                </a:solidFill>
                <a:latin typeface="Calibri"/>
              </a:rPr>
              <a:t>•  — Pauses on weekends and bank holidays (working days only).</a:t>
            </a:r>
          </a:p>
          <a:p>
            <a:pPr lvl="1">
              <a:spcBef>
                <a:spcPts val="200"/>
              </a:spcBef>
            </a:pPr>
            <a:r>
              <a:rPr sz="1200">
                <a:solidFill>
                  <a:srgbClr val="1C1917"/>
                </a:solidFill>
                <a:latin typeface="Calibri"/>
              </a:rPr>
              <a:t>•  — Each card shows: request type, description, execution time in plain English</a:t>
            </a:r>
          </a:p>
          <a:p>
            <a:pPr lvl="1">
              <a:spcBef>
                <a:spcPts val="100"/>
              </a:spcBef>
            </a:pPr>
            <a:r>
              <a:rPr sz="1100">
                <a:solidFill>
                  <a:srgbClr val="787169"/>
                </a:solidFill>
                <a:latin typeface="Calibri"/>
              </a:rPr>
              <a:t>—  ('We'll do this tomorrow afternoon').</a:t>
            </a:r>
          </a:p>
          <a:p>
            <a:pPr lvl="1">
              <a:spcBef>
                <a:spcPts val="200"/>
              </a:spcBef>
            </a:pPr>
            <a:r>
              <a:rPr sz="1200">
                <a:solidFill>
                  <a:srgbClr val="1C1917"/>
                </a:solidFill>
                <a:latin typeface="Calibri"/>
              </a:rPr>
              <a:t>•  — Live amber progress bar — width updates every 30 seconds via a tick state.</a:t>
            </a:r>
          </a:p>
          <a:p>
            <a:pPr lvl="1">
              <a:spcBef>
                <a:spcPts val="200"/>
              </a:spcBef>
            </a:pPr>
            <a:r>
              <a:rPr sz="1200">
                <a:solidFill>
                  <a:srgbClr val="1C1917"/>
                </a:solidFill>
                <a:latin typeface="Calibri"/>
              </a:rPr>
              <a:t>•  — Two buttons: Cancel (with confirmation sheet) and 'Do it now' (bypasses delay).</a:t>
            </a:r>
          </a:p>
          <a:p>
            <a:pPr>
              <a:spcBef>
                <a:spcPts val="400"/>
              </a:spcBef>
            </a:pPr>
          </a:p>
          <a:p>
            <a:pPr>
              <a:spcBef>
                <a:spcPts val="800"/>
              </a:spcBef>
            </a:pPr>
            <a:r>
              <a:rPr sz="1400" b="1">
                <a:solidFill>
                  <a:srgbClr val="EC0000"/>
                </a:solidFill>
                <a:latin typeface="Calibri"/>
              </a:rPr>
              <a:t>Demo cooling-off</a:t>
            </a:r>
          </a:p>
          <a:p>
            <a:pPr lvl="1">
              <a:spcBef>
                <a:spcPts val="200"/>
              </a:spcBef>
            </a:pPr>
            <a:r>
              <a:rPr sz="1200">
                <a:solidFill>
                  <a:srgbClr val="1C1917"/>
                </a:solidFill>
                <a:latin typeface="Calibri"/>
              </a:rPr>
              <a:t>•  — Tap the 'Demo cooling-off' pill to inject a mock cooling-off card instantly.</a:t>
            </a:r>
          </a:p>
          <a:p>
            <a:pPr lvl="1">
              <a:spcBef>
                <a:spcPts val="200"/>
              </a:spcBef>
            </a:pPr>
            <a:r>
              <a:rPr sz="1200">
                <a:solidFill>
                  <a:srgbClr val="1C1917"/>
                </a:solidFill>
                <a:latin typeface="Calibri"/>
              </a:rPr>
              <a:t>•  — The progress bar starts at 0% and grows in real time.</a:t>
            </a:r>
          </a:p>
          <a:p>
            <a:pPr lvl="1">
              <a:spcBef>
                <a:spcPts val="200"/>
              </a:spcBef>
            </a:pPr>
            <a:r>
              <a:rPr sz="1200">
                <a:solidFill>
                  <a:srgbClr val="1C1917"/>
                </a:solidFill>
                <a:latin typeface="Calibri"/>
              </a:rPr>
              <a:t>•  — 'Do it now' fires a toast and dismisses the card immediately.</a:t>
            </a:r>
          </a:p>
          <a:p>
            <a:pPr lvl="1">
              <a:spcBef>
                <a:spcPts val="200"/>
              </a:spcBef>
            </a:pPr>
            <a:r>
              <a:rPr sz="1200">
                <a:solidFill>
                  <a:srgbClr val="1C1917"/>
                </a:solidFill>
                <a:latin typeface="Calibri"/>
              </a:rPr>
              <a:t>•  — Cancel triggers a bottom sheet with a final confirmation step.</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C  ·  COMMAND CENTRE</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Stalled requests — 'Priya's on it'</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800"/>
              </a:spcBef>
            </a:pPr>
            <a:r>
              <a:rPr sz="1400" b="1">
                <a:solidFill>
                  <a:srgbClr val="EC0000"/>
                </a:solidFill>
                <a:latin typeface="Calibri"/>
              </a:rPr>
              <a:t>The scenario</a:t>
            </a:r>
          </a:p>
          <a:p>
            <a:pPr lvl="1">
              <a:spcBef>
                <a:spcPts val="200"/>
              </a:spcBef>
            </a:pPr>
            <a:r>
              <a:rPr sz="1200">
                <a:solidFill>
                  <a:srgbClr val="1C1917"/>
                </a:solidFill>
                <a:latin typeface="Calibri"/>
              </a:rPr>
              <a:t>•  — A dual-authorisation request was sent to a co-signer (e.g. Sarah Chen).</a:t>
            </a:r>
          </a:p>
          <a:p>
            <a:pPr lvl="1">
              <a:spcBef>
                <a:spcPts val="200"/>
              </a:spcBef>
            </a:pPr>
            <a:r>
              <a:rPr sz="1200">
                <a:solidFill>
                  <a:srgbClr val="1C1917"/>
                </a:solidFill>
                <a:latin typeface="Calibri"/>
              </a:rPr>
              <a:t>•  — The co-signer did not approve within the required window.</a:t>
            </a:r>
          </a:p>
          <a:p>
            <a:pPr lvl="1">
              <a:spcBef>
                <a:spcPts val="200"/>
              </a:spcBef>
            </a:pPr>
            <a:r>
              <a:rPr sz="1200">
                <a:solidFill>
                  <a:srgbClr val="1C1917"/>
                </a:solidFill>
                <a:latin typeface="Calibri"/>
              </a:rPr>
              <a:t>•  — Normally, the request would silently expire — causing frustration and re-work.</a:t>
            </a:r>
          </a:p>
          <a:p>
            <a:pPr>
              <a:spcBef>
                <a:spcPts val="400"/>
              </a:spcBef>
            </a:pPr>
          </a:p>
          <a:p>
            <a:pPr>
              <a:spcBef>
                <a:spcPts val="800"/>
              </a:spcBef>
            </a:pPr>
            <a:r>
              <a:rPr sz="1400" b="1">
                <a:solidFill>
                  <a:srgbClr val="EC0000"/>
                </a:solidFill>
                <a:latin typeface="Calibri"/>
              </a:rPr>
              <a:t>What the prototype does instead</a:t>
            </a:r>
          </a:p>
          <a:p>
            <a:pPr lvl="1">
              <a:spcBef>
                <a:spcPts val="200"/>
              </a:spcBef>
            </a:pPr>
            <a:r>
              <a:rPr sz="1200">
                <a:solidFill>
                  <a:srgbClr val="1C1917"/>
                </a:solidFill>
                <a:latin typeface="Calibri"/>
              </a:rPr>
              <a:t>•  — The app detects the missed window automatically.</a:t>
            </a:r>
          </a:p>
          <a:p>
            <a:pPr lvl="1">
              <a:spcBef>
                <a:spcPts val="200"/>
              </a:spcBef>
            </a:pPr>
            <a:r>
              <a:rPr sz="1200">
                <a:solidFill>
                  <a:srgbClr val="1C1917"/>
                </a:solidFill>
                <a:latin typeface="Calibri"/>
              </a:rPr>
              <a:t>•  — A 'Priya's on it' card appears on the Command Centre (blue, escalated styling).</a:t>
            </a:r>
          </a:p>
          <a:p>
            <a:pPr lvl="1">
              <a:spcBef>
                <a:spcPts val="200"/>
              </a:spcBef>
            </a:pPr>
            <a:r>
              <a:rPr sz="1200">
                <a:solidFill>
                  <a:srgbClr val="1C1917"/>
                </a:solidFill>
                <a:latin typeface="Calibri"/>
              </a:rPr>
              <a:t>•  — Message: 'A signature didn't arrive in time. Priya saw this within 2 minutes</a:t>
            </a:r>
          </a:p>
          <a:p>
            <a:pPr lvl="1">
              <a:spcBef>
                <a:spcPts val="100"/>
              </a:spcBef>
            </a:pPr>
            <a:r>
              <a:rPr sz="1100">
                <a:solidFill>
                  <a:srgbClr val="787169"/>
                </a:solidFill>
                <a:latin typeface="Calibri"/>
              </a:rPr>
              <a:t>—  and will reach out today. Nothing's been lost — just paused.'</a:t>
            </a:r>
          </a:p>
          <a:p>
            <a:pPr lvl="1">
              <a:spcBef>
                <a:spcPts val="200"/>
              </a:spcBef>
            </a:pPr>
            <a:r>
              <a:rPr sz="1200">
                <a:solidFill>
                  <a:srgbClr val="1C1917"/>
                </a:solidFill>
                <a:latin typeface="Calibri"/>
              </a:rPr>
              <a:t>•  — Two buttons: 'Got it' (dismisses the card) and 'Call Priya' (opens the RM sheet).</a:t>
            </a:r>
          </a:p>
          <a:p>
            <a:pPr>
              <a:spcBef>
                <a:spcPts val="400"/>
              </a:spcBef>
            </a:pPr>
          </a:p>
          <a:p>
            <a:pPr>
              <a:spcBef>
                <a:spcPts val="800"/>
              </a:spcBef>
            </a:pPr>
            <a:r>
              <a:rPr sz="1400" b="1">
                <a:solidFill>
                  <a:srgbClr val="EC0000"/>
                </a:solidFill>
                <a:latin typeface="Calibri"/>
              </a:rPr>
              <a:t>Why this matters</a:t>
            </a:r>
          </a:p>
          <a:p>
            <a:pPr lvl="1">
              <a:spcBef>
                <a:spcPts val="200"/>
              </a:spcBef>
            </a:pPr>
            <a:r>
              <a:rPr sz="1200">
                <a:solidFill>
                  <a:srgbClr val="1C1917"/>
                </a:solidFill>
                <a:latin typeface="Calibri"/>
              </a:rPr>
              <a:t>•  — Stalled requests are a real pain point in business banking.</a:t>
            </a:r>
          </a:p>
          <a:p>
            <a:pPr lvl="1">
              <a:spcBef>
                <a:spcPts val="200"/>
              </a:spcBef>
            </a:pPr>
            <a:r>
              <a:rPr sz="1200">
                <a:solidFill>
                  <a:srgbClr val="1C1917"/>
                </a:solidFill>
                <a:latin typeface="Calibri"/>
              </a:rPr>
              <a:t>•  — The current experience: the request expires, nobody knows why, the customer</a:t>
            </a:r>
          </a:p>
          <a:p>
            <a:pPr lvl="1">
              <a:spcBef>
                <a:spcPts val="100"/>
              </a:spcBef>
            </a:pPr>
            <a:r>
              <a:rPr sz="1100">
                <a:solidFill>
                  <a:srgbClr val="787169"/>
                </a:solidFill>
                <a:latin typeface="Calibri"/>
              </a:rPr>
              <a:t>—  restarts the entire process.</a:t>
            </a:r>
          </a:p>
          <a:p>
            <a:pPr lvl="1">
              <a:spcBef>
                <a:spcPts val="200"/>
              </a:spcBef>
            </a:pPr>
            <a:r>
              <a:rPr sz="1200">
                <a:solidFill>
                  <a:srgbClr val="1C1917"/>
                </a:solidFill>
                <a:latin typeface="Calibri"/>
              </a:rPr>
              <a:t>•  — This design: the bank takes ownership, the RM is already involved before</a:t>
            </a:r>
          </a:p>
          <a:p>
            <a:pPr lvl="1">
              <a:spcBef>
                <a:spcPts val="100"/>
              </a:spcBef>
            </a:pPr>
            <a:r>
              <a:rPr sz="1100">
                <a:solidFill>
                  <a:srgbClr val="787169"/>
                </a:solidFill>
                <a:latin typeface="Calibri"/>
              </a:rPr>
              <a:t>—  the customer has to call.</a:t>
            </a:r>
          </a:p>
          <a:p>
            <a:pPr>
              <a:spcBef>
                <a:spcPts val="400"/>
              </a:spcBef>
            </a:pPr>
          </a:p>
          <a:p>
            <a:pPr>
              <a:spcBef>
                <a:spcPts val="800"/>
              </a:spcBef>
            </a:pPr>
            <a:r>
              <a:rPr sz="1400" b="1">
                <a:solidFill>
                  <a:srgbClr val="EC0000"/>
                </a:solidFill>
                <a:latin typeface="Calibri"/>
              </a:rPr>
              <a:t>Demo</a:t>
            </a:r>
          </a:p>
          <a:p>
            <a:pPr lvl="1">
              <a:spcBef>
                <a:spcPts val="200"/>
              </a:spcBef>
            </a:pPr>
            <a:r>
              <a:rPr sz="1200">
                <a:solidFill>
                  <a:srgbClr val="1C1917"/>
                </a:solidFill>
                <a:latin typeface="Calibri"/>
              </a:rPr>
              <a:t>•  — Tap 'Simulate timeout' on the Home screen to inject a stalled card.</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C  ·  COMMAND CENTRE</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MTD VAT teaser + Paperless banner</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800"/>
              </a:spcBef>
            </a:pPr>
            <a:r>
              <a:rPr sz="1400" b="1">
                <a:solidFill>
                  <a:srgbClr val="EC0000"/>
                </a:solidFill>
                <a:latin typeface="Calibri"/>
              </a:rPr>
              <a:t>MTD VAT teaser card</a:t>
            </a:r>
          </a:p>
          <a:p>
            <a:pPr lvl="1">
              <a:spcBef>
                <a:spcPts val="200"/>
              </a:spcBef>
            </a:pPr>
            <a:r>
              <a:rPr sz="1200">
                <a:solidFill>
                  <a:srgbClr val="1C1917"/>
                </a:solidFill>
                <a:latin typeface="Calibri"/>
              </a:rPr>
              <a:t>•  — Appears when there is an open VAT obligation (Q3 Jul–Sep 2026).</a:t>
            </a:r>
          </a:p>
          <a:p>
            <a:pPr lvl="1">
              <a:spcBef>
                <a:spcPts val="200"/>
              </a:spcBef>
            </a:pPr>
            <a:r>
              <a:rPr sz="1200">
                <a:solidFill>
                  <a:srgbClr val="1C1917"/>
                </a:solidFill>
                <a:latin typeface="Calibri"/>
              </a:rPr>
              <a:t>•  — Santander red left accent bar and subtle red gradient background.</a:t>
            </a:r>
          </a:p>
          <a:p>
            <a:pPr lvl="1">
              <a:spcBef>
                <a:spcPts val="200"/>
              </a:spcBef>
            </a:pPr>
            <a:r>
              <a:rPr sz="1200">
                <a:solidFill>
                  <a:srgbClr val="1C1917"/>
                </a:solidFill>
                <a:latin typeface="Calibri"/>
              </a:rPr>
              <a:t>•  — Shows: VAT amount owed (£18,472.40), days to deadline, transaction count to review.</a:t>
            </a:r>
          </a:p>
          <a:p>
            <a:pPr lvl="1">
              <a:spcBef>
                <a:spcPts val="200"/>
              </a:spcBef>
            </a:pPr>
            <a:r>
              <a:rPr sz="1200">
                <a:solidFill>
                  <a:srgbClr val="1C1917"/>
                </a:solidFill>
                <a:latin typeface="Calibri"/>
              </a:rPr>
              <a:t>•  — 'VAT due in 22 days · MTD' — taps directly into the Tax tab.</a:t>
            </a:r>
          </a:p>
          <a:p>
            <a:pPr lvl="1">
              <a:spcBef>
                <a:spcPts val="200"/>
              </a:spcBef>
            </a:pPr>
            <a:r>
              <a:rPr sz="1200">
                <a:solidFill>
                  <a:srgbClr val="1C1917"/>
                </a:solidFill>
                <a:latin typeface="Calibri"/>
              </a:rPr>
              <a:t>•  — VRN: GB 287 4513 92  ·  HMRC MTD VAT API v1.0  ·  247 transactions.</a:t>
            </a:r>
          </a:p>
          <a:p>
            <a:pPr>
              <a:spcBef>
                <a:spcPts val="400"/>
              </a:spcBef>
            </a:pPr>
          </a:p>
          <a:p>
            <a:pPr>
              <a:spcBef>
                <a:spcPts val="800"/>
              </a:spcBef>
            </a:pPr>
            <a:r>
              <a:rPr sz="1400" b="1">
                <a:solidFill>
                  <a:srgbClr val="EC0000"/>
                </a:solidFill>
                <a:latin typeface="Calibri"/>
              </a:rPr>
              <a:t>Paperless banner</a:t>
            </a:r>
          </a:p>
          <a:p>
            <a:pPr lvl="1">
              <a:spcBef>
                <a:spcPts val="200"/>
              </a:spcBef>
            </a:pPr>
            <a:r>
              <a:rPr sz="1200">
                <a:solidFill>
                  <a:srgbClr val="1C1917"/>
                </a:solidFill>
                <a:latin typeface="Calibri"/>
              </a:rPr>
              <a:t>•  — Emerald green card. Icon: envelope with an X (no more paper post).</a:t>
            </a:r>
          </a:p>
          <a:p>
            <a:pPr lvl="1">
              <a:spcBef>
                <a:spcPts val="200"/>
              </a:spcBef>
            </a:pPr>
            <a:r>
              <a:rPr sz="1200">
                <a:solidFill>
                  <a:srgbClr val="1C1917"/>
                </a:solidFill>
                <a:latin typeface="Calibri"/>
              </a:rPr>
              <a:t>•  — '3 paper forms retired'</a:t>
            </a:r>
          </a:p>
          <a:p>
            <a:pPr lvl="1">
              <a:spcBef>
                <a:spcPts val="200"/>
              </a:spcBef>
            </a:pPr>
            <a:r>
              <a:rPr sz="1200">
                <a:solidFill>
                  <a:srgbClr val="1C1917"/>
                </a:solidFill>
                <a:latin typeface="Calibri"/>
              </a:rPr>
              <a:t>•  — 'No more posting to Sunderland · 5 days → minutes'</a:t>
            </a:r>
          </a:p>
          <a:p>
            <a:pPr lvl="1">
              <a:spcBef>
                <a:spcPts val="200"/>
              </a:spcBef>
            </a:pPr>
            <a:r>
              <a:rPr sz="1200">
                <a:solidFill>
                  <a:srgbClr val="1C1917"/>
                </a:solidFill>
                <a:latin typeface="Calibri"/>
              </a:rPr>
              <a:t>•  — 'Sunderland' is a deliberate real-world reference — Santander's UK head office</a:t>
            </a:r>
          </a:p>
          <a:p>
            <a:pPr lvl="1">
              <a:spcBef>
                <a:spcPts val="100"/>
              </a:spcBef>
            </a:pPr>
            <a:r>
              <a:rPr sz="1100">
                <a:solidFill>
                  <a:srgbClr val="787169"/>
                </a:solidFill>
                <a:latin typeface="Calibri"/>
              </a:rPr>
              <a:t>—  used to require physical form ANB9 0370 to be posted there for account closures.</a:t>
            </a:r>
          </a:p>
          <a:p>
            <a:pPr lvl="1">
              <a:spcBef>
                <a:spcPts val="200"/>
              </a:spcBef>
            </a:pPr>
            <a:r>
              <a:rPr sz="1200">
                <a:solidFill>
                  <a:srgbClr val="1C1917"/>
                </a:solidFill>
                <a:latin typeface="Calibri"/>
              </a:rPr>
              <a:t>•  — Taps a modal showing the three retired forms and estimated time saved.</a:t>
            </a:r>
          </a:p>
          <a:p>
            <a:pPr>
              <a:spcBef>
                <a:spcPts val="400"/>
              </a:spcBef>
            </a:pPr>
          </a:p>
          <a:p>
            <a:pPr>
              <a:spcBef>
                <a:spcPts val="800"/>
              </a:spcBef>
            </a:pPr>
            <a:r>
              <a:rPr sz="1400" b="1">
                <a:solidFill>
                  <a:srgbClr val="EC0000"/>
                </a:solidFill>
                <a:latin typeface="Calibri"/>
              </a:rPr>
              <a:t>Why these two cards sit together</a:t>
            </a:r>
          </a:p>
          <a:p>
            <a:pPr lvl="1">
              <a:spcBef>
                <a:spcPts val="200"/>
              </a:spcBef>
            </a:pPr>
            <a:r>
              <a:rPr sz="1200">
                <a:solidFill>
                  <a:srgbClr val="1C1917"/>
                </a:solidFill>
                <a:latin typeface="Calibri"/>
              </a:rPr>
              <a:t>•  — They represent the same message: the bank now does in minutes what used to</a:t>
            </a:r>
          </a:p>
          <a:p>
            <a:pPr lvl="1">
              <a:spcBef>
                <a:spcPts val="100"/>
              </a:spcBef>
            </a:pPr>
            <a:r>
              <a:rPr sz="1100">
                <a:solidFill>
                  <a:srgbClr val="787169"/>
                </a:solidFill>
                <a:latin typeface="Calibri"/>
              </a:rPr>
              <a:t>—  take days of paperwork and postal delays.</a:t>
            </a:r>
          </a:p>
          <a:p>
            <a:pPr lvl="1">
              <a:spcBef>
                <a:spcPts val="200"/>
              </a:spcBef>
            </a:pPr>
            <a:r>
              <a:rPr sz="1200">
                <a:solidFill>
                  <a:srgbClr val="1C1917"/>
                </a:solidFill>
                <a:latin typeface="Calibri"/>
              </a:rPr>
              <a:t>•  — Together they make a compelling narrative for both customers and internal teams.</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C  ·  COMMAND CENTRE</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Pending approvals + Paperless actions grid</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800"/>
              </a:spcBef>
            </a:pPr>
            <a:r>
              <a:rPr sz="1400" b="1">
                <a:solidFill>
                  <a:srgbClr val="EC0000"/>
                </a:solidFill>
                <a:latin typeface="Calibri"/>
              </a:rPr>
              <a:t>Pending approvals</a:t>
            </a:r>
          </a:p>
          <a:p>
            <a:pPr lvl="1">
              <a:spcBef>
                <a:spcPts val="200"/>
              </a:spcBef>
            </a:pPr>
            <a:r>
              <a:rPr sz="1200">
                <a:solidFill>
                  <a:srgbClr val="1C1917"/>
                </a:solidFill>
                <a:latin typeface="Calibri"/>
              </a:rPr>
              <a:t>•  — 'Action required' section with a red count badge.</a:t>
            </a:r>
          </a:p>
          <a:p>
            <a:pPr lvl="1">
              <a:spcBef>
                <a:spcPts val="200"/>
              </a:spcBef>
            </a:pPr>
            <a:r>
              <a:rPr sz="1200">
                <a:solidFill>
                  <a:srgbClr val="1C1917"/>
                </a:solidFill>
                <a:latin typeface="Calibri"/>
              </a:rPr>
              <a:t>•  — Shows the first 2 of 3 pending items (to avoid overwhelming the screen):</a:t>
            </a:r>
          </a:p>
          <a:p>
            <a:pPr lvl="1">
              <a:spcBef>
                <a:spcPts val="100"/>
              </a:spcBef>
            </a:pPr>
            <a:r>
              <a:rPr sz="1100">
                <a:solidFill>
                  <a:srgbClr val="787169"/>
                </a:solidFill>
                <a:latin typeface="Calibri"/>
              </a:rPr>
              <a:t>—  1. Bulk Payment — October Wages · 47 employees · £183,450.00 · expires 46h</a:t>
            </a:r>
          </a:p>
          <a:p>
            <a:pPr lvl="1">
              <a:spcBef>
                <a:spcPts val="100"/>
              </a:spcBef>
            </a:pPr>
            <a:r>
              <a:rPr sz="1100">
                <a:solidFill>
                  <a:srgbClr val="787169"/>
                </a:solidFill>
                <a:latin typeface="Calibri"/>
              </a:rPr>
              <a:t>—  2. Mandate Change — Add Mark Patel as signatory · expires 4d</a:t>
            </a:r>
          </a:p>
          <a:p>
            <a:pPr lvl="1">
              <a:spcBef>
                <a:spcPts val="200"/>
              </a:spcBef>
            </a:pPr>
            <a:r>
              <a:rPr sz="1200">
                <a:solidFill>
                  <a:srgbClr val="1C1917"/>
                </a:solidFill>
                <a:latin typeface="Calibri"/>
              </a:rPr>
              <a:t>•  — Each card shows: type, description, amount, initiator, expiry. Taps Approve tab.</a:t>
            </a:r>
          </a:p>
          <a:p>
            <a:pPr>
              <a:spcBef>
                <a:spcPts val="400"/>
              </a:spcBef>
            </a:pPr>
          </a:p>
          <a:p>
            <a:pPr>
              <a:spcBef>
                <a:spcPts val="800"/>
              </a:spcBef>
            </a:pPr>
            <a:r>
              <a:rPr sz="1400" b="1">
                <a:solidFill>
                  <a:srgbClr val="EC0000"/>
                </a:solidFill>
                <a:latin typeface="Calibri"/>
              </a:rPr>
              <a:t>Paperless actions grid (2 × 5 tiles)</a:t>
            </a:r>
          </a:p>
          <a:p>
            <a:pPr lvl="1">
              <a:spcBef>
                <a:spcPts val="200"/>
              </a:spcBef>
            </a:pPr>
            <a:r>
              <a:rPr sz="1200">
                <a:solidFill>
                  <a:srgbClr val="1C1917"/>
                </a:solidFill>
                <a:latin typeface="Calibri"/>
              </a:rPr>
              <a:t>•  — 'No more posting to Sunderland · Paperless actions'</a:t>
            </a:r>
          </a:p>
          <a:p>
            <a:pPr lvl="1">
              <a:spcBef>
                <a:spcPts val="200"/>
              </a:spcBef>
            </a:pPr>
            <a:r>
              <a:rPr sz="1200">
                <a:solidFill>
                  <a:srgbClr val="1C1917"/>
                </a:solidFill>
                <a:latin typeface="Calibri"/>
              </a:rPr>
              <a:t>•  — 10 tiles, each opens a full-screen workflow:</a:t>
            </a:r>
          </a:p>
          <a:p>
            <a:pPr lvl="1">
              <a:spcBef>
                <a:spcPts val="200"/>
              </a:spcBef>
            </a:pPr>
            <a:r>
              <a:rPr sz="1200">
                <a:solidFill>
                  <a:srgbClr val="1C1917"/>
                </a:solidFill>
                <a:latin typeface="Calibri"/>
              </a:rPr>
              <a:t>•  •  Bulk payments   — CSV · BACS, FP, CHAPS  (highlighted tile — primary CTA)</a:t>
            </a:r>
          </a:p>
          <a:p>
            <a:pPr lvl="1">
              <a:spcBef>
                <a:spcPts val="200"/>
              </a:spcBef>
            </a:pPr>
            <a:r>
              <a:rPr sz="1200">
                <a:solidFill>
                  <a:srgbClr val="1C1917"/>
                </a:solidFill>
                <a:latin typeface="Calibri"/>
              </a:rPr>
              <a:t>•  •  International   — FX · SWIFT · SEPA</a:t>
            </a:r>
          </a:p>
          <a:p>
            <a:pPr lvl="1">
              <a:spcBef>
                <a:spcPts val="200"/>
              </a:spcBef>
            </a:pPr>
            <a:r>
              <a:rPr sz="1200">
                <a:solidFill>
                  <a:srgbClr val="1C1917"/>
                </a:solidFill>
                <a:latin typeface="Calibri"/>
              </a:rPr>
              <a:t>•  •  Change mandate  — Add, remove, signing rule</a:t>
            </a:r>
          </a:p>
          <a:p>
            <a:pPr lvl="1">
              <a:spcBef>
                <a:spcPts val="200"/>
              </a:spcBef>
            </a:pPr>
            <a:r>
              <a:rPr sz="1200">
                <a:solidFill>
                  <a:srgbClr val="1C1917"/>
                </a:solidFill>
                <a:latin typeface="Calibri"/>
              </a:rPr>
              <a:t>•  •  Business details — Name, address, contact</a:t>
            </a:r>
          </a:p>
          <a:p>
            <a:pPr lvl="1">
              <a:spcBef>
                <a:spcPts val="200"/>
              </a:spcBef>
            </a:pPr>
            <a:r>
              <a:rPr sz="1200">
                <a:solidFill>
                  <a:srgbClr val="1C1917"/>
                </a:solidFill>
                <a:latin typeface="Calibri"/>
              </a:rPr>
              <a:t>•  •  Scan receipt    — Auto-categorise for MTD</a:t>
            </a:r>
          </a:p>
          <a:p>
            <a:pPr lvl="1">
              <a:spcBef>
                <a:spcPts val="200"/>
              </a:spcBef>
            </a:pPr>
            <a:r>
              <a:rPr sz="1200">
                <a:solidFill>
                  <a:srgbClr val="1C1917"/>
                </a:solidFill>
                <a:latin typeface="Calibri"/>
              </a:rPr>
              <a:t>•  •  ID register     — Lists 1, 2 &amp; 3 (KYC/KYB)</a:t>
            </a:r>
          </a:p>
          <a:p>
            <a:pPr lvl="1">
              <a:spcBef>
                <a:spcPts val="200"/>
              </a:spcBef>
            </a:pPr>
            <a:r>
              <a:rPr sz="1200">
                <a:solidFill>
                  <a:srgbClr val="1C1917"/>
                </a:solidFill>
                <a:latin typeface="Calibri"/>
              </a:rPr>
              <a:t>•  •  Dormant accounts — Reactivate or close  (badge: 1)</a:t>
            </a:r>
          </a:p>
          <a:p>
            <a:pPr lvl="1">
              <a:spcBef>
                <a:spcPts val="200"/>
              </a:spcBef>
            </a:pPr>
            <a:r>
              <a:rPr sz="1200">
                <a:solidFill>
                  <a:srgbClr val="1C1917"/>
                </a:solidFill>
                <a:latin typeface="Calibri"/>
              </a:rPr>
              <a:t>•  •  Close account   — Form ANB9 0370</a:t>
            </a:r>
          </a:p>
          <a:p>
            <a:pPr lvl="1">
              <a:spcBef>
                <a:spcPts val="200"/>
              </a:spcBef>
            </a:pPr>
            <a:r>
              <a:rPr sz="1200">
                <a:solidFill>
                  <a:srgbClr val="1C1917"/>
                </a:solidFill>
                <a:latin typeface="Calibri"/>
              </a:rPr>
              <a:t>•  •  Voice memo      — Speak → expense auto-tagged</a:t>
            </a:r>
          </a:p>
          <a:p>
            <a:pPr lvl="1">
              <a:spcBef>
                <a:spcPts val="200"/>
              </a:spcBef>
            </a:pPr>
            <a:r>
              <a:rPr sz="1200">
                <a:solidFill>
                  <a:srgbClr val="1C1917"/>
                </a:solidFill>
                <a:latin typeface="Calibri"/>
              </a:rPr>
              <a:t>•  •  Optimise payments — 30-day payment sequencer</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C  ·  COMMAND CENTRE</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Accounts list — balances and mandate badges</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800"/>
              </a:spcBef>
            </a:pPr>
            <a:r>
              <a:rPr sz="1400" b="1">
                <a:solidFill>
                  <a:srgbClr val="EC0000"/>
                </a:solidFill>
                <a:latin typeface="Calibri"/>
              </a:rPr>
              <a:t>The four accounts (Limited Company default)</a:t>
            </a:r>
          </a:p>
          <a:p>
            <a:pPr lvl="1">
              <a:spcBef>
                <a:spcPts val="200"/>
              </a:spcBef>
            </a:pPr>
            <a:r>
              <a:rPr sz="1200">
                <a:solidFill>
                  <a:srgbClr val="1C1917"/>
                </a:solidFill>
                <a:latin typeface="Calibri"/>
              </a:rPr>
              <a:t>•  1. Operating       · 09-01-29 · ····2841 · £284,750.32   · Any 1 signature</a:t>
            </a:r>
          </a:p>
          <a:p>
            <a:pPr lvl="1">
              <a:spcBef>
                <a:spcPts val="200"/>
              </a:spcBef>
            </a:pPr>
            <a:r>
              <a:rPr sz="1200">
                <a:solidFill>
                  <a:srgbClr val="1C1917"/>
                </a:solidFill>
                <a:latin typeface="Calibri"/>
              </a:rPr>
              <a:t>•  2. Reserve         · 09-01-29 · ····9012 · £1,240,500.00 · Any 2 of 3</a:t>
            </a:r>
          </a:p>
          <a:p>
            <a:pPr lvl="1">
              <a:spcBef>
                <a:spcPts val="200"/>
              </a:spcBef>
            </a:pPr>
            <a:r>
              <a:rPr sz="1200">
                <a:solidFill>
                  <a:srgbClr val="1C1917"/>
                </a:solidFill>
                <a:latin typeface="Calibri"/>
              </a:rPr>
              <a:t>•  3. Payroll         · 09-01-29 · ····6633 · £195,830.50   · Any 2 of 3</a:t>
            </a:r>
          </a:p>
          <a:p>
            <a:pPr lvl="1">
              <a:spcBef>
                <a:spcPts val="200"/>
              </a:spcBef>
            </a:pPr>
            <a:r>
              <a:rPr sz="1200">
                <a:solidFill>
                  <a:srgbClr val="1C1917"/>
                </a:solidFill>
                <a:latin typeface="Calibri"/>
              </a:rPr>
              <a:t>•  4. Legacy Trading  · 09-01-29 · ····4422 · £0.00         · All · Dormant</a:t>
            </a:r>
          </a:p>
          <a:p>
            <a:pPr>
              <a:spcBef>
                <a:spcPts val="400"/>
              </a:spcBef>
            </a:pPr>
          </a:p>
          <a:p>
            <a:pPr>
              <a:spcBef>
                <a:spcPts val="800"/>
              </a:spcBef>
            </a:pPr>
            <a:r>
              <a:rPr sz="1400" b="1">
                <a:solidFill>
                  <a:srgbClr val="EC0000"/>
                </a:solidFill>
                <a:latin typeface="Calibri"/>
              </a:rPr>
              <a:t>Mandate rule badges</a:t>
            </a:r>
          </a:p>
          <a:p>
            <a:pPr lvl="1">
              <a:spcBef>
                <a:spcPts val="200"/>
              </a:spcBef>
            </a:pPr>
            <a:r>
              <a:rPr sz="1200">
                <a:solidFill>
                  <a:srgbClr val="1C1917"/>
                </a:solidFill>
                <a:latin typeface="Calibri"/>
              </a:rPr>
              <a:t>•  — 'Any 1 signature' (green badge) — single signatory sufficient</a:t>
            </a:r>
          </a:p>
          <a:p>
            <a:pPr lvl="1">
              <a:spcBef>
                <a:spcPts val="200"/>
              </a:spcBef>
            </a:pPr>
            <a:r>
              <a:rPr sz="1200">
                <a:solidFill>
                  <a:srgbClr val="1C1917"/>
                </a:solidFill>
                <a:latin typeface="Calibri"/>
              </a:rPr>
              <a:t>•  — 'Any 2 of 3'      (stone badge) — dual authorisation required</a:t>
            </a:r>
          </a:p>
          <a:p>
            <a:pPr lvl="1">
              <a:spcBef>
                <a:spcPts val="200"/>
              </a:spcBef>
            </a:pPr>
            <a:r>
              <a:rPr sz="1200">
                <a:solidFill>
                  <a:srgbClr val="1C1917"/>
                </a:solidFill>
                <a:latin typeface="Calibri"/>
              </a:rPr>
              <a:t>•  — 'All 3'           (dark badge)  — all verified signatories must sign</a:t>
            </a:r>
          </a:p>
          <a:p>
            <a:pPr lvl="1">
              <a:spcBef>
                <a:spcPts val="200"/>
              </a:spcBef>
            </a:pPr>
            <a:r>
              <a:rPr sz="1200">
                <a:solidFill>
                  <a:srgbClr val="1C1917"/>
                </a:solidFill>
                <a:latin typeface="Calibri"/>
              </a:rPr>
              <a:t>•  — 'Dormant'         (amber badge) — account inactive, needs reactivation or closure</a:t>
            </a:r>
          </a:p>
          <a:p>
            <a:pPr>
              <a:spcBef>
                <a:spcPts val="400"/>
              </a:spcBef>
            </a:pPr>
          </a:p>
          <a:p>
            <a:pPr>
              <a:spcBef>
                <a:spcPts val="800"/>
              </a:spcBef>
            </a:pPr>
            <a:r>
              <a:rPr sz="1400" b="1">
                <a:solidFill>
                  <a:srgbClr val="EC0000"/>
                </a:solidFill>
                <a:latin typeface="Calibri"/>
              </a:rPr>
              <a:t>Entity switching changes the accounts</a:t>
            </a:r>
          </a:p>
          <a:p>
            <a:pPr lvl="1">
              <a:spcBef>
                <a:spcPts val="200"/>
              </a:spcBef>
            </a:pPr>
            <a:r>
              <a:rPr sz="1200">
                <a:solidFill>
                  <a:srgbClr val="1C1917"/>
                </a:solidFill>
                <a:latin typeface="Calibri"/>
              </a:rPr>
              <a:t>•  — Sole Trader: 2 accounts (Trading, Tax Reserve) — all 'Any 1 signature'</a:t>
            </a:r>
          </a:p>
          <a:p>
            <a:pPr lvl="1">
              <a:spcBef>
                <a:spcPts val="200"/>
              </a:spcBef>
            </a:pPr>
            <a:r>
              <a:rPr sz="1200">
                <a:solidFill>
                  <a:srgbClr val="1C1917"/>
                </a:solidFill>
                <a:latin typeface="Calibri"/>
              </a:rPr>
              <a:t>•  — Partnership: 3 accounts (Operating, Reserve, Drawing) — 'All' mandate on Operating</a:t>
            </a:r>
          </a:p>
          <a:p>
            <a:pPr lvl="1">
              <a:spcBef>
                <a:spcPts val="200"/>
              </a:spcBef>
            </a:pPr>
            <a:r>
              <a:rPr sz="1200">
                <a:solidFill>
                  <a:srgbClr val="1C1917"/>
                </a:solidFill>
                <a:latin typeface="Calibri"/>
              </a:rPr>
              <a:t>•  — Limited / LLP: 4 accounts as above</a:t>
            </a:r>
          </a:p>
          <a:p>
            <a:pPr lvl="1">
              <a:spcBef>
                <a:spcPts val="200"/>
              </a:spcBef>
            </a:pPr>
            <a:r>
              <a:rPr sz="1200">
                <a:solidFill>
                  <a:srgbClr val="1C1917"/>
                </a:solidFill>
                <a:latin typeface="Calibri"/>
              </a:rPr>
              <a:t>•  — Charities / Clubs / Societies: same 4-account structure as limited</a:t>
            </a:r>
          </a:p>
          <a:p>
            <a:pPr>
              <a:spcBef>
                <a:spcPts val="400"/>
              </a:spcBef>
            </a:pPr>
          </a:p>
          <a:p>
            <a:pPr>
              <a:spcBef>
                <a:spcPts val="800"/>
              </a:spcBef>
            </a:pPr>
            <a:r>
              <a:rPr sz="1400" b="1">
                <a:solidFill>
                  <a:srgbClr val="EC0000"/>
                </a:solidFill>
                <a:latin typeface="Calibri"/>
              </a:rPr>
              <a:t>Design detail</a:t>
            </a:r>
          </a:p>
          <a:p>
            <a:pPr lvl="1">
              <a:spcBef>
                <a:spcPts val="200"/>
              </a:spcBef>
            </a:pPr>
            <a:r>
              <a:rPr sz="1200">
                <a:solidFill>
                  <a:srgbClr val="1C1917"/>
                </a:solidFill>
                <a:latin typeface="Calibri"/>
              </a:rPr>
              <a:t>•  — Account numbers are masked (····XXXX). Sort codes are shown in full.</a:t>
            </a:r>
          </a:p>
          <a:p>
            <a:pPr lvl="1">
              <a:spcBef>
                <a:spcPts val="200"/>
              </a:spcBef>
            </a:pPr>
            <a:r>
              <a:rPr sz="1200">
                <a:solidFill>
                  <a:srgbClr val="1C1917"/>
                </a:solidFill>
                <a:latin typeface="Calibri"/>
              </a:rPr>
              <a:t>•  — All monetary amounts use tabular figures (font-variant-numeric: tabular-nums)</a:t>
            </a:r>
          </a:p>
          <a:p>
            <a:pPr lvl="1">
              <a:spcBef>
                <a:spcPts val="100"/>
              </a:spcBef>
            </a:pPr>
            <a:r>
              <a:rPr sz="1100">
                <a:solidFill>
                  <a:srgbClr val="787169"/>
                </a:solidFill>
                <a:latin typeface="Calibri"/>
              </a:rPr>
              <a:t>—  so digits align in columns — a detail that matters in financial UI.</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C  ·  COMMAND CENTRE</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13-week forecast chart + Director Centre</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800"/>
              </a:spcBef>
            </a:pPr>
            <a:r>
              <a:rPr sz="1400" b="1">
                <a:solidFill>
                  <a:srgbClr val="EC0000"/>
                </a:solidFill>
                <a:latin typeface="Calibri"/>
              </a:rPr>
              <a:t>13-week cash flow forecast chart</a:t>
            </a:r>
          </a:p>
          <a:p>
            <a:pPr lvl="1">
              <a:spcBef>
                <a:spcPts val="200"/>
              </a:spcBef>
            </a:pPr>
            <a:r>
              <a:rPr sz="1200">
                <a:solidFill>
                  <a:srgbClr val="1C1917"/>
                </a:solidFill>
                <a:latin typeface="Calibri"/>
              </a:rPr>
              <a:t>•  — Gradient-filled SVG area chart. Smooth Catmull-Rom curve (converted to</a:t>
            </a:r>
          </a:p>
          <a:p>
            <a:pPr lvl="1">
              <a:spcBef>
                <a:spcPts val="100"/>
              </a:spcBef>
            </a:pPr>
            <a:r>
              <a:rPr sz="1100">
                <a:solidFill>
                  <a:srgbClr val="787169"/>
                </a:solidFill>
                <a:latin typeface="Calibri"/>
              </a:rPr>
              <a:t>—  cubic Bézier control points) — not a jagged step chart.</a:t>
            </a:r>
          </a:p>
          <a:p>
            <a:pPr lvl="1">
              <a:spcBef>
                <a:spcPts val="200"/>
              </a:spcBef>
            </a:pPr>
            <a:r>
              <a:rPr sz="1200">
                <a:solidFill>
                  <a:srgbClr val="1C1917"/>
                </a:solidFill>
                <a:latin typeface="Calibri"/>
              </a:rPr>
              <a:t>•  — Y-axis zoomed to the actual balance band (min - 35% padding to max + 35%)</a:t>
            </a:r>
          </a:p>
          <a:p>
            <a:pPr lvl="1">
              <a:spcBef>
                <a:spcPts val="100"/>
              </a:spcBef>
            </a:pPr>
            <a:r>
              <a:rPr sz="1100">
                <a:solidFill>
                  <a:srgbClr val="787169"/>
                </a:solidFill>
                <a:latin typeface="Calibri"/>
              </a:rPr>
              <a:t>—  so weekly movements are visible even when the balance is large.</a:t>
            </a:r>
          </a:p>
          <a:p>
            <a:pPr lvl="1">
              <a:spcBef>
                <a:spcPts val="200"/>
              </a:spcBef>
            </a:pPr>
            <a:r>
              <a:rPr sz="1200">
                <a:solidFill>
                  <a:srgbClr val="1C1917"/>
                </a:solidFill>
                <a:latin typeface="Calibri"/>
              </a:rPr>
              <a:t>•  — Event markers on the curve: red dots for outflows, pink for receipts,</a:t>
            </a:r>
          </a:p>
          <a:p>
            <a:pPr lvl="1">
              <a:spcBef>
                <a:spcPts val="100"/>
              </a:spcBef>
            </a:pPr>
            <a:r>
              <a:rPr sz="1100">
                <a:solidFill>
                  <a:srgbClr val="787169"/>
                </a:solidFill>
                <a:latin typeface="Calibri"/>
              </a:rPr>
              <a:t>—  amber circle for the lowest balance week.</a:t>
            </a:r>
          </a:p>
          <a:p>
            <a:pPr lvl="1">
              <a:spcBef>
                <a:spcPts val="200"/>
              </a:spcBef>
            </a:pPr>
            <a:r>
              <a:rPr sz="1200">
                <a:solidFill>
                  <a:srgbClr val="1C1917"/>
                </a:solidFill>
                <a:latin typeface="Calibri"/>
              </a:rPr>
              <a:t>•  — Dashed amber 'floor warning' line at £80,000 working capital threshold.</a:t>
            </a:r>
          </a:p>
          <a:p>
            <a:pPr lvl="1">
              <a:spcBef>
                <a:spcPts val="200"/>
              </a:spcBef>
            </a:pPr>
            <a:r>
              <a:rPr sz="1200">
                <a:solidFill>
                  <a:srgbClr val="1C1917"/>
                </a:solidFill>
                <a:latin typeface="Calibri"/>
              </a:rPr>
              <a:t>•  — Below the chart: two summary tiles (Lowest week · Week 13 close).</a:t>
            </a:r>
          </a:p>
          <a:p>
            <a:pPr lvl="1">
              <a:spcBef>
                <a:spcPts val="200"/>
              </a:spcBef>
            </a:pPr>
            <a:r>
              <a:rPr sz="1200">
                <a:solidFill>
                  <a:srgbClr val="1C1917"/>
                </a:solidFill>
                <a:latin typeface="Calibri"/>
              </a:rPr>
              <a:t>•  — Named largest outflow: e.g. 'HMRC VAT £41,614 in week 3 (7 Jul)'.</a:t>
            </a:r>
          </a:p>
          <a:p>
            <a:pPr lvl="1">
              <a:spcBef>
                <a:spcPts val="200"/>
              </a:spcBef>
            </a:pPr>
            <a:r>
              <a:rPr sz="1200">
                <a:solidFill>
                  <a:srgbClr val="1C1917"/>
                </a:solidFill>
                <a:latin typeface="Calibri"/>
              </a:rPr>
              <a:t>•  — Amber warning if balance dips below the £80k floor.</a:t>
            </a:r>
          </a:p>
          <a:p>
            <a:pPr>
              <a:spcBef>
                <a:spcPts val="400"/>
              </a:spcBef>
            </a:pPr>
          </a:p>
          <a:p>
            <a:pPr>
              <a:spcBef>
                <a:spcPts val="800"/>
              </a:spcBef>
            </a:pPr>
            <a:r>
              <a:rPr sz="1400" b="1">
                <a:solidFill>
                  <a:srgbClr val="EC0000"/>
                </a:solidFill>
                <a:latin typeface="Calibri"/>
              </a:rPr>
              <a:t>Director Centre</a:t>
            </a:r>
          </a:p>
          <a:p>
            <a:pPr lvl="1">
              <a:spcBef>
                <a:spcPts val="200"/>
              </a:spcBef>
            </a:pPr>
            <a:r>
              <a:rPr sz="1200">
                <a:solidFill>
                  <a:srgbClr val="1C1917"/>
                </a:solidFill>
                <a:latin typeface="Calibri"/>
              </a:rPr>
              <a:t>•  — Below the forecast chart, a section labelled 'Director Centre'.</a:t>
            </a:r>
          </a:p>
          <a:p>
            <a:pPr lvl="1">
              <a:spcBef>
                <a:spcPts val="200"/>
              </a:spcBef>
            </a:pPr>
            <a:r>
              <a:rPr sz="1200">
                <a:solidFill>
                  <a:srgbClr val="1C1917"/>
                </a:solidFill>
                <a:latin typeface="Calibri"/>
              </a:rPr>
              <a:t>•  — Supplier Radar: lists 5 key suppliers with Companies House filing status.</a:t>
            </a:r>
          </a:p>
          <a:p>
            <a:pPr lvl="1">
              <a:spcBef>
                <a:spcPts val="100"/>
              </a:spcBef>
            </a:pPr>
            <a:r>
              <a:rPr sz="1100">
                <a:solidFill>
                  <a:srgbClr val="787169"/>
                </a:solidFill>
                <a:latin typeface="Calibri"/>
              </a:rPr>
              <a:t>—  Meridian Logistics (261 days overdue — red risk), CloudStack (95 days — amber),</a:t>
            </a:r>
          </a:p>
          <a:p>
            <a:pPr lvl="1">
              <a:spcBef>
                <a:spcPts val="100"/>
              </a:spcBef>
            </a:pPr>
            <a:r>
              <a:rPr sz="1100">
                <a:solidFill>
                  <a:srgbClr val="787169"/>
                </a:solidFill>
                <a:latin typeface="Calibri"/>
              </a:rPr>
              <a:t>—  Apex Print, TechLink, Office Base (all current — green).</a:t>
            </a:r>
          </a:p>
          <a:p>
            <a:pPr lvl="1">
              <a:spcBef>
                <a:spcPts val="200"/>
              </a:spcBef>
            </a:pPr>
            <a:r>
              <a:rPr sz="1200">
                <a:solidFill>
                  <a:srgbClr val="1C1917"/>
                </a:solidFill>
                <a:latin typeface="Calibri"/>
              </a:rPr>
              <a:t>•  — Scheduled payments: PAYE/NIC £29,650 (24 Jun), Meridian £8,750 (26 Jun),</a:t>
            </a:r>
          </a:p>
          <a:p>
            <a:pPr lvl="1">
              <a:spcBef>
                <a:spcPts val="100"/>
              </a:spcBef>
            </a:pPr>
            <a:r>
              <a:rPr sz="1100">
                <a:solidFill>
                  <a:srgbClr val="787169"/>
                </a:solidFill>
                <a:latin typeface="Calibri"/>
              </a:rPr>
              <a:t>—  CloudStack £2,240 (27 Jun), Office Lease £6,500 (1 Jul), HMRC VAT £41,614 (7 Jul).</a:t>
            </a:r>
          </a:p>
          <a:p>
            <a:pPr lvl="1">
              <a:spcBef>
                <a:spcPts val="200"/>
              </a:spcBef>
            </a:pPr>
            <a:r>
              <a:rPr sz="1200">
                <a:solidFill>
                  <a:srgbClr val="1C1917"/>
                </a:solidFill>
                <a:latin typeface="Calibri"/>
              </a:rPr>
              <a:t>•  — Cards section: Business Debit (····4821) and Payroll Card (····3927) — freeze / View PIN.</a:t>
            </a:r>
          </a:p>
          <a:p>
            <a:pPr lvl="1">
              <a:spcBef>
                <a:spcPts val="200"/>
              </a:spcBef>
            </a:pPr>
            <a:r>
              <a:rPr sz="1200">
                <a:solidFill>
                  <a:srgbClr val="1C1917"/>
                </a:solidFill>
                <a:latin typeface="Calibri"/>
              </a:rPr>
              <a:t>•  — Privacy controls: personal accounts linked / separated, open banking consents,</a:t>
            </a:r>
          </a:p>
          <a:p>
            <a:pPr lvl="1">
              <a:spcBef>
                <a:spcPts val="100"/>
              </a:spcBef>
            </a:pPr>
            <a:r>
              <a:rPr sz="1100">
                <a:solidFill>
                  <a:srgbClr val="787169"/>
                </a:solidFill>
                <a:latin typeface="Calibri"/>
              </a:rPr>
              <a:t>—  credit decisioning ring-fence.</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6748272"/>
            <a:ext cx="12024360" cy="109728"/>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0"/>
            <a:ext cx="10972800" cy="457200"/>
          </a:xfrm>
          <a:prstGeom prst="rect">
            <a:avLst/>
          </a:prstGeom>
          <a:noFill/>
        </p:spPr>
        <p:txBody>
          <a:bodyPr wrap="square">
            <a:spAutoFit/>
          </a:bodyPr>
          <a:lstStyle/>
          <a:p>
            <a:pPr algn="l"/>
            <a:r>
              <a:rPr sz="1100" b="1" i="0">
                <a:solidFill>
                  <a:srgbClr val="EC0000"/>
                </a:solidFill>
                <a:latin typeface="Calibri"/>
              </a:rPr>
              <a:t>Section D  ·  Slides 21–26</a:t>
            </a:r>
          </a:p>
        </p:txBody>
      </p:sp>
      <p:sp>
        <p:nvSpPr>
          <p:cNvPr id="6" name="TextBox 5"/>
          <p:cNvSpPr txBox="1"/>
          <p:nvPr/>
        </p:nvSpPr>
        <p:spPr>
          <a:xfrm>
            <a:off x="457200" y="2560320"/>
            <a:ext cx="10058400" cy="1280160"/>
          </a:xfrm>
          <a:prstGeom prst="rect">
            <a:avLst/>
          </a:prstGeom>
          <a:noFill/>
        </p:spPr>
        <p:txBody>
          <a:bodyPr wrap="square">
            <a:spAutoFit/>
          </a:bodyPr>
          <a:lstStyle/>
          <a:p>
            <a:pPr algn="l"/>
            <a:r>
              <a:rPr sz="4000" b="1" i="0">
                <a:solidFill>
                  <a:srgbClr val="FFFFFF"/>
                </a:solidFill>
                <a:latin typeface="Calibri"/>
              </a:rPr>
              <a:t>Workflow
Walkthroughs</a:t>
            </a:r>
          </a:p>
        </p:txBody>
      </p:sp>
      <p:sp>
        <p:nvSpPr>
          <p:cNvPr id="7" name="TextBox 6"/>
          <p:cNvSpPr txBox="1"/>
          <p:nvPr/>
        </p:nvSpPr>
        <p:spPr>
          <a:xfrm>
            <a:off x="457200" y="4114800"/>
            <a:ext cx="9144000" cy="548640"/>
          </a:xfrm>
          <a:prstGeom prst="rect">
            <a:avLst/>
          </a:prstGeom>
          <a:noFill/>
        </p:spPr>
        <p:txBody>
          <a:bodyPr wrap="square">
            <a:spAutoFit/>
          </a:bodyPr>
          <a:lstStyle/>
          <a:p>
            <a:pPr algn="l"/>
            <a:r>
              <a:rPr sz="1600" b="0" i="0">
                <a:solidFill>
                  <a:srgbClr val="A8A299"/>
                </a:solidFill>
                <a:latin typeface="Calibri"/>
              </a:rPr>
              <a:t>All 11 paperless workflows — step-by-step, full-screen overlays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D  ·  WORKFLOW WALKTHROUGHS</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How workflows work — 17 paperless journeys</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lnSpc>
                <a:spcPct val="100000"/>
              </a:lnSpc>
              <a:spcBef>
                <a:spcPts val="0"/>
              </a:spcBef>
              <a:spcAft>
                <a:spcPts val="100"/>
              </a:spcAft>
            </a:pPr>
            <a:r>
              <a:rPr sz="1100" b="1">
                <a:solidFill>
                  <a:srgbClr val="EC0000"/>
                </a:solidFill>
                <a:latin typeface="Calibri"/>
              </a:rPr>
              <a:t>Mechanics</a:t>
            </a:r>
          </a:p>
          <a:p>
            <a:pPr lvl="1">
              <a:lnSpc>
                <a:spcPct val="100000"/>
              </a:lnSpc>
              <a:spcBef>
                <a:spcPts val="0"/>
              </a:spcBef>
              <a:spcAft>
                <a:spcPts val="100"/>
              </a:spcAft>
            </a:pPr>
            <a:r>
              <a:rPr sz="950">
                <a:solidFill>
                  <a:srgbClr val="1C1917"/>
                </a:solidFill>
                <a:latin typeface="Calibri"/>
              </a:rPr>
              <a:t>•  — Tapping an action tile or forecast card opens a full-screen workflow overlay.</a:t>
            </a:r>
          </a:p>
          <a:p>
            <a:pPr lvl="1">
              <a:lnSpc>
                <a:spcPct val="100000"/>
              </a:lnSpc>
              <a:spcBef>
                <a:spcPts val="0"/>
              </a:spcBef>
              <a:spcAft>
                <a:spcPts val="100"/>
              </a:spcAft>
            </a:pPr>
            <a:r>
              <a:rPr sz="950">
                <a:solidFill>
                  <a:srgbClr val="1C1917"/>
                </a:solidFill>
                <a:latin typeface="Calibri"/>
              </a:rPr>
              <a:t>•  — Each workflow is step-based (0-indexed). Progress dots across the top.</a:t>
            </a:r>
          </a:p>
          <a:p>
            <a:pPr lvl="1">
              <a:lnSpc>
                <a:spcPct val="100000"/>
              </a:lnSpc>
              <a:spcBef>
                <a:spcPts val="0"/>
              </a:spcBef>
              <a:spcAft>
                <a:spcPts val="100"/>
              </a:spcAft>
            </a:pPr>
            <a:r>
              <a:rPr sz="950">
                <a:solidFill>
                  <a:srgbClr val="1C1917"/>
                </a:solidFill>
                <a:latin typeface="Calibri"/>
              </a:rPr>
              <a:t>•  — Back button: goes to previous step. At step 0, closes the workflow entirely.</a:t>
            </a:r>
          </a:p>
          <a:p>
            <a:pPr lvl="1">
              <a:lnSpc>
                <a:spcPct val="100000"/>
              </a:lnSpc>
              <a:spcBef>
                <a:spcPts val="0"/>
              </a:spcBef>
              <a:spcAft>
                <a:spcPts val="100"/>
              </a:spcAft>
            </a:pPr>
            <a:r>
              <a:rPr sz="950">
                <a:solidFill>
                  <a:srgbClr val="1C1917"/>
                </a:solidFill>
                <a:latin typeface="Calibri"/>
              </a:rPr>
              <a:t>•  — 'Replaces' footer: shows which paper form or manual process this replaces.</a:t>
            </a:r>
          </a:p>
          <a:p>
            <a:pPr>
              <a:lnSpc>
                <a:spcPct val="100000"/>
              </a:lnSpc>
              <a:spcBef>
                <a:spcPts val="0"/>
              </a:spcBef>
              <a:spcAft>
                <a:spcPts val="100"/>
              </a:spcAft>
            </a:pPr>
          </a:p>
          <a:p>
            <a:pPr>
              <a:lnSpc>
                <a:spcPct val="100000"/>
              </a:lnSpc>
              <a:spcBef>
                <a:spcPts val="0"/>
              </a:spcBef>
              <a:spcAft>
                <a:spcPts val="100"/>
              </a:spcAft>
            </a:pPr>
            <a:r>
              <a:rPr sz="1100" b="1">
                <a:solidFill>
                  <a:srgbClr val="EC0000"/>
                </a:solidFill>
                <a:latin typeface="Calibri"/>
              </a:rPr>
              <a:t>The 17 workflows</a:t>
            </a:r>
          </a:p>
          <a:p>
            <a:pPr lvl="1">
              <a:lnSpc>
                <a:spcPct val="100000"/>
              </a:lnSpc>
              <a:spcBef>
                <a:spcPts val="0"/>
              </a:spcBef>
              <a:spcAft>
                <a:spcPts val="100"/>
              </a:spcAft>
            </a:pPr>
            <a:r>
              <a:rPr sz="950">
                <a:solidFill>
                  <a:srgbClr val="1C1917"/>
                </a:solidFill>
                <a:latin typeface="Calibri"/>
              </a:rPr>
              <a:t>•  1.  Account closure        — Form ANB9 0370 · 4 steps · 24h cooling-off</a:t>
            </a:r>
          </a:p>
          <a:p>
            <a:pPr lvl="1">
              <a:lnSpc>
                <a:spcPct val="100000"/>
              </a:lnSpc>
              <a:spcBef>
                <a:spcPts val="0"/>
              </a:spcBef>
              <a:spcAft>
                <a:spcPts val="100"/>
              </a:spcAft>
            </a:pPr>
            <a:r>
              <a:rPr sz="950">
                <a:solidFill>
                  <a:srgbClr val="1C1917"/>
                </a:solidFill>
                <a:latin typeface="Calibri"/>
              </a:rPr>
              <a:t>•  2.  Business details (Biz) — Name, address, authorised contact · 4 steps</a:t>
            </a:r>
          </a:p>
          <a:p>
            <a:pPr lvl="1">
              <a:lnSpc>
                <a:spcPct val="100000"/>
              </a:lnSpc>
              <a:spcBef>
                <a:spcPts val="0"/>
              </a:spcBef>
              <a:spcAft>
                <a:spcPts val="100"/>
              </a:spcAft>
            </a:pPr>
            <a:r>
              <a:rPr sz="950">
                <a:solidFill>
                  <a:srgbClr val="1C1917"/>
                </a:solidFill>
                <a:latin typeface="Calibri"/>
              </a:rPr>
              <a:t>•  3.  Mandate change         — Add/remove signatories, change signing rule · 5 steps</a:t>
            </a:r>
          </a:p>
          <a:p>
            <a:pPr lvl="1">
              <a:lnSpc>
                <a:spcPct val="100000"/>
              </a:lnSpc>
              <a:spcBef>
                <a:spcPts val="0"/>
              </a:spcBef>
              <a:spcAft>
                <a:spcPts val="100"/>
              </a:spcAft>
            </a:pPr>
            <a:r>
              <a:rPr sz="950">
                <a:solidFill>
                  <a:srgbClr val="1C1917"/>
                </a:solidFill>
                <a:latin typeface="Calibri"/>
              </a:rPr>
              <a:t>•  4.  Bulk payments (Wages)  — Persistent payee book, CSV upload, BACS · 4 steps</a:t>
            </a:r>
          </a:p>
          <a:p>
            <a:pPr lvl="1">
              <a:lnSpc>
                <a:spcPct val="100000"/>
              </a:lnSpc>
              <a:spcBef>
                <a:spcPts val="0"/>
              </a:spcBef>
              <a:spcAft>
                <a:spcPts val="100"/>
              </a:spcAft>
            </a:pPr>
            <a:r>
              <a:rPr sz="950">
                <a:solidFill>
                  <a:srgbClr val="1C1917"/>
                </a:solidFill>
                <a:latin typeface="Calibri"/>
              </a:rPr>
              <a:t>•  5.  Lending draw-down      — Pre-approved offer, term selector · 4 steps</a:t>
            </a:r>
          </a:p>
          <a:p>
            <a:pPr lvl="1">
              <a:lnSpc>
                <a:spcPct val="100000"/>
              </a:lnSpc>
              <a:spcBef>
                <a:spcPts val="0"/>
              </a:spcBef>
              <a:spcAft>
                <a:spcPts val="100"/>
              </a:spcAft>
            </a:pPr>
            <a:r>
              <a:rPr sz="950">
                <a:solidFill>
                  <a:srgbClr val="1C1917"/>
                </a:solidFill>
                <a:latin typeface="Calibri"/>
              </a:rPr>
              <a:t>•  6.  FX / International     — SWIFT/SEPA, rate lock, counterparty · 4 steps</a:t>
            </a:r>
          </a:p>
          <a:p>
            <a:pPr lvl="1">
              <a:lnSpc>
                <a:spcPct val="100000"/>
              </a:lnSpc>
              <a:spcBef>
                <a:spcPts val="0"/>
              </a:spcBef>
              <a:spcAft>
                <a:spcPts val="100"/>
              </a:spcAft>
            </a:pPr>
            <a:r>
              <a:rPr sz="950">
                <a:solidFill>
                  <a:srgbClr val="1C1917"/>
                </a:solidFill>
                <a:latin typeface="Calibri"/>
              </a:rPr>
              <a:t>•  7.  Dormancy management    — Reactivate or close dormant accounts · 3 steps</a:t>
            </a:r>
          </a:p>
          <a:p>
            <a:pPr lvl="1">
              <a:lnSpc>
                <a:spcPct val="100000"/>
              </a:lnSpc>
              <a:spcBef>
                <a:spcPts val="0"/>
              </a:spcBef>
              <a:spcAft>
                <a:spcPts val="100"/>
              </a:spcAft>
            </a:pPr>
            <a:r>
              <a:rPr sz="950">
                <a:solidFill>
                  <a:srgbClr val="1C1917"/>
                </a:solidFill>
                <a:latin typeface="Calibri"/>
              </a:rPr>
              <a:t>•  8.  Account unlinking      — Separate personal from business data · 3 steps</a:t>
            </a:r>
          </a:p>
          <a:p>
            <a:pPr lvl="1">
              <a:lnSpc>
                <a:spcPct val="100000"/>
              </a:lnSpc>
              <a:spcBef>
                <a:spcPts val="0"/>
              </a:spcBef>
              <a:spcAft>
                <a:spcPts val="100"/>
              </a:spcAft>
            </a:pPr>
            <a:r>
              <a:rPr sz="950">
                <a:solidFill>
                  <a:srgbClr val="1C1917"/>
                </a:solidFill>
                <a:latin typeface="Calibri"/>
              </a:rPr>
              <a:t>•  9.  Credit ring-fence      — Exclude personal data from credit decisions · 3 steps</a:t>
            </a:r>
          </a:p>
          <a:p>
            <a:pPr>
              <a:lnSpc>
                <a:spcPct val="100000"/>
              </a:lnSpc>
              <a:spcBef>
                <a:spcPts val="0"/>
              </a:spcBef>
              <a:spcAft>
                <a:spcPts val="100"/>
              </a:spcAft>
            </a:pPr>
            <a:r>
              <a:rPr sz="1000" b="0">
                <a:solidFill>
                  <a:srgbClr val="1C1917"/>
                </a:solidFill>
                <a:latin typeface="Calibri"/>
              </a:rPr>
              <a:t>•  10.  ID register (KYB)      — KYC lists 1, 2 &amp; 3 per signatory · 4 steps</a:t>
            </a:r>
          </a:p>
          <a:p>
            <a:pPr>
              <a:lnSpc>
                <a:spcPct val="100000"/>
              </a:lnSpc>
              <a:spcBef>
                <a:spcPts val="0"/>
              </a:spcBef>
              <a:spcAft>
                <a:spcPts val="100"/>
              </a:spcAft>
            </a:pPr>
            <a:r>
              <a:rPr sz="1000" b="0">
                <a:solidFill>
                  <a:srgbClr val="1C1917"/>
                </a:solidFill>
                <a:latin typeface="Calibri"/>
              </a:rPr>
              <a:t>•  11.  MTD VAT submission     — Transaction review, categorise, declare · 4 steps</a:t>
            </a:r>
          </a:p>
          <a:p>
            <a:pPr lvl="1">
              <a:lnSpc>
                <a:spcPct val="100000"/>
              </a:lnSpc>
              <a:spcBef>
                <a:spcPts val="0"/>
              </a:spcBef>
              <a:spcAft>
                <a:spcPts val="100"/>
              </a:spcAft>
            </a:pPr>
            <a:r>
              <a:rPr sz="950">
                <a:solidFill>
                  <a:srgbClr val="1C1917"/>
                </a:solidFill>
                <a:latin typeface="Calibri"/>
              </a:rPr>
              <a:t>•  12.  Complaint handling     — Intake, triage, denial, FOS · FCA DISP · 4 steps</a:t>
            </a:r>
          </a:p>
          <a:p>
            <a:pPr lvl="1">
              <a:lnSpc>
                <a:spcPct val="100000"/>
              </a:lnSpc>
              <a:spcBef>
                <a:spcPts val="0"/>
              </a:spcBef>
              <a:spcAft>
                <a:spcPts val="100"/>
              </a:spcAft>
            </a:pPr>
            <a:r>
              <a:rPr sz="950">
                <a:solidFill>
                  <a:srgbClr val="1C1917"/>
                </a:solidFill>
                <a:latin typeface="Calibri"/>
              </a:rPr>
              <a:t>•  13.  Standing orders &amp; DDs  — Set up / cancel · DD Guarantee · up to 3 steps</a:t>
            </a:r>
          </a:p>
          <a:p>
            <a:pPr lvl="1">
              <a:lnSpc>
                <a:spcPct val="100000"/>
              </a:lnSpc>
              <a:spcBef>
                <a:spcPts val="0"/>
              </a:spcBef>
              <a:spcAft>
                <a:spcPts val="100"/>
              </a:spcAft>
            </a:pPr>
            <a:r>
              <a:rPr sz="950">
                <a:solidFill>
                  <a:srgbClr val="1C1917"/>
                </a:solidFill>
                <a:latin typeface="Calibri"/>
              </a:rPr>
              <a:t>•  14.  Dispute a payment      — Chargeback / fraud / DD Guarantee · 4 steps</a:t>
            </a:r>
          </a:p>
          <a:p>
            <a:pPr lvl="1">
              <a:lnSpc>
                <a:spcPct val="100000"/>
              </a:lnSpc>
              <a:spcBef>
                <a:spcPts val="0"/>
              </a:spcBef>
              <a:spcAft>
                <a:spcPts val="100"/>
              </a:spcAft>
            </a:pPr>
            <a:r>
              <a:rPr sz="950">
                <a:solidFill>
                  <a:srgbClr val="1C1917"/>
                </a:solidFill>
                <a:latin typeface="Calibri"/>
              </a:rPr>
              <a:t>•  15.  Intl. beneficiary      — IBAN/SWIFT · sanctions screening · 4 steps</a:t>
            </a:r>
          </a:p>
          <a:p>
            <a:pPr lvl="1">
              <a:lnSpc>
                <a:spcPct val="100000"/>
              </a:lnSpc>
              <a:spcBef>
                <a:spcPts val="0"/>
              </a:spcBef>
              <a:spcAft>
                <a:spcPts val="100"/>
              </a:spcAft>
            </a:pPr>
            <a:r>
              <a:rPr sz="950">
                <a:solidFill>
                  <a:srgbClr val="1C1917"/>
                </a:solidFill>
                <a:latin typeface="Calibri"/>
              </a:rPr>
              <a:t>•  16.  Balance certificate    — Sealed proof of balance · 4 steps</a:t>
            </a:r>
          </a:p>
          <a:p>
            <a:pPr lvl="1">
              <a:lnSpc>
                <a:spcPct val="100000"/>
              </a:lnSpc>
              <a:spcBef>
                <a:spcPts val="0"/>
              </a:spcBef>
              <a:spcAft>
                <a:spcPts val="100"/>
              </a:spcAft>
            </a:pPr>
            <a:r>
              <a:rPr sz="950">
                <a:solidFill>
                  <a:srgbClr val="1C1917"/>
                </a:solidFill>
                <a:latin typeface="Calibri"/>
              </a:rPr>
              <a:t>•  17.  Devices &amp; sessions     — Review logins, sign out, SCA · 4 steps</a:t>
            </a:r>
          </a:p>
          <a:p>
            <a:pPr>
              <a:lnSpc>
                <a:spcPct val="100000"/>
              </a:lnSpc>
              <a:spcBef>
                <a:spcPts val="0"/>
              </a:spcBef>
              <a:spcAft>
                <a:spcPts val="100"/>
              </a:spcAft>
            </a:pPr>
          </a:p>
          <a:p>
            <a:pPr>
              <a:lnSpc>
                <a:spcPct val="100000"/>
              </a:lnSpc>
              <a:spcBef>
                <a:spcPts val="0"/>
              </a:spcBef>
              <a:spcAft>
                <a:spcPts val="100"/>
              </a:spcAft>
            </a:pPr>
            <a:r>
              <a:rPr sz="1100" b="1">
                <a:solidFill>
                  <a:srgbClr val="EC0000"/>
                </a:solidFill>
                <a:latin typeface="Calibri"/>
              </a:rPr>
              <a:t>Mandate logic</a:t>
            </a:r>
          </a:p>
          <a:p>
            <a:pPr lvl="1">
              <a:lnSpc>
                <a:spcPct val="100000"/>
              </a:lnSpc>
              <a:spcBef>
                <a:spcPts val="0"/>
              </a:spcBef>
              <a:spcAft>
                <a:spcPts val="100"/>
              </a:spcAft>
            </a:pPr>
            <a:r>
              <a:rPr sz="950">
                <a:solidFill>
                  <a:srgbClr val="1C1917"/>
                </a:solidFill>
                <a:latin typeface="Calibri"/>
              </a:rPr>
              <a:t>•  — getMandateFor() picks the strictest rule across selected accounts.</a:t>
            </a:r>
          </a:p>
          <a:p>
            <a:pPr lvl="1">
              <a:lnSpc>
                <a:spcPct val="100000"/>
              </a:lnSpc>
              <a:spcBef>
                <a:spcPts val="0"/>
              </a:spcBef>
              <a:spcAft>
                <a:spcPts val="100"/>
              </a:spcAft>
            </a:pPr>
            <a:r>
              <a:rPr sz="950">
                <a:solidFill>
                  <a:srgbClr val="1C1917"/>
                </a:solidFill>
                <a:latin typeface="Calibri"/>
              </a:rPr>
              <a:t>•  — Determines whether a second signature is required and what cooling-off applies.</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D  ·  WORKFLOW WALKTHROUGHS</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Mandate change workflow</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360"/>
              </a:spcBef>
            </a:pPr>
            <a:r>
              <a:rPr sz="1320" b="1">
                <a:solidFill>
                  <a:srgbClr val="EC0000"/>
                </a:solidFill>
                <a:latin typeface="Calibri"/>
              </a:rPr>
              <a:t>What it covers</a:t>
            </a:r>
          </a:p>
          <a:p>
            <a:pPr lvl="1">
              <a:spcBef>
                <a:spcPts val="200"/>
              </a:spcBef>
            </a:pPr>
            <a:r>
              <a:rPr sz="1130">
                <a:solidFill>
                  <a:srgbClr val="1C1917"/>
                </a:solidFill>
                <a:latin typeface="Calibri"/>
              </a:rPr>
              <a:t>•  — Add a new signatory, remove an existing one, or change the signing rule</a:t>
            </a:r>
          </a:p>
          <a:p>
            <a:pPr lvl="1">
              <a:spcBef>
                <a:spcPts val="100"/>
              </a:spcBef>
            </a:pPr>
            <a:r>
              <a:rPr sz="1030">
                <a:solidFill>
                  <a:srgbClr val="787169"/>
                </a:solidFill>
                <a:latin typeface="Calibri"/>
              </a:rPr>
              <a:t>—  (Any 1 / Any 2 / All).</a:t>
            </a:r>
          </a:p>
          <a:p>
            <a:pPr lvl="1">
              <a:spcBef>
                <a:spcPts val="200"/>
              </a:spcBef>
            </a:pPr>
            <a:r>
              <a:rPr sz="1130">
                <a:solidFill>
                  <a:srgbClr val="1C1917"/>
                </a:solidFill>
                <a:latin typeface="Calibri"/>
              </a:rPr>
              <a:t>•  — Applies to one or more selected accounts.</a:t>
            </a:r>
          </a:p>
          <a:p>
            <a:pPr>
              <a:spcBef>
                <a:spcPts val="990"/>
              </a:spcBef>
            </a:pPr>
            <a:r>
              <a:rPr sz="1320" b="1">
                <a:solidFill>
                  <a:srgbClr val="EC0000"/>
                </a:solidFill>
                <a:latin typeface="Calibri"/>
              </a:rPr>
              <a:t>Current signatories (Limited Company)</a:t>
            </a:r>
          </a:p>
          <a:p>
            <a:pPr lvl="1">
              <a:spcBef>
                <a:spcPts val="200"/>
              </a:spcBef>
            </a:pPr>
            <a:r>
              <a:rPr sz="1130">
                <a:solidFill>
                  <a:srgbClr val="1C1917"/>
                </a:solidFill>
                <a:latin typeface="Calibri"/>
              </a:rPr>
              <a:t>•  — James Whitfield — Director — verified (passport, council tax, residential match)</a:t>
            </a:r>
          </a:p>
          <a:p>
            <a:pPr lvl="1">
              <a:spcBef>
                <a:spcPts val="200"/>
              </a:spcBef>
            </a:pPr>
            <a:r>
              <a:rPr sz="1130">
                <a:solidFill>
                  <a:srgbClr val="1C1917"/>
                </a:solidFill>
                <a:latin typeface="Calibri"/>
              </a:rPr>
              <a:t>•  — Sarah Chen — Finance Director — verified (UK photocard, bank statement, lease)</a:t>
            </a:r>
          </a:p>
          <a:p>
            <a:pPr lvl="1">
              <a:spcBef>
                <a:spcPts val="200"/>
              </a:spcBef>
            </a:pPr>
            <a:r>
              <a:rPr sz="1130">
                <a:solidFill>
                  <a:srgbClr val="1C1917"/>
                </a:solidFill>
                <a:latin typeface="Calibri"/>
              </a:rPr>
              <a:t>•  — Tom Bridges — Operations Lead — under review (documents from Aug 2024 ⚠)</a:t>
            </a:r>
          </a:p>
          <a:p>
            <a:pPr lvl="1">
              <a:spcBef>
                <a:spcPts val="200"/>
              </a:spcBef>
            </a:pPr>
            <a:r>
              <a:rPr sz="1130">
                <a:solidFill>
                  <a:srgbClr val="1C1917"/>
                </a:solidFill>
                <a:latin typeface="Calibri"/>
              </a:rPr>
              <a:t>•  — Anita Roy — Director — verified (passport, HMRC letter, utility bill)</a:t>
            </a:r>
          </a:p>
          <a:p>
            <a:pPr>
              <a:spcBef>
                <a:spcPts val="990"/>
              </a:spcBef>
            </a:pPr>
            <a:r>
              <a:rPr sz="1320" b="1">
                <a:solidFill>
                  <a:srgbClr val="EC0000"/>
                </a:solidFill>
                <a:latin typeface="Calibri"/>
              </a:rPr>
              <a:t>Steps</a:t>
            </a:r>
          </a:p>
          <a:p>
            <a:pPr lvl="1">
              <a:spcBef>
                <a:spcPts val="200"/>
              </a:spcBef>
            </a:pPr>
            <a:r>
              <a:rPr sz="1130">
                <a:solidFill>
                  <a:srgbClr val="1C1917"/>
                </a:solidFill>
                <a:latin typeface="Calibri"/>
              </a:rPr>
              <a:t>•  1.  Select accounts to modify</a:t>
            </a:r>
          </a:p>
          <a:p>
            <a:pPr lvl="1">
              <a:spcBef>
                <a:spcPts val="200"/>
              </a:spcBef>
            </a:pPr>
            <a:r>
              <a:rPr sz="1130">
                <a:solidFill>
                  <a:srgbClr val="1C1917"/>
                </a:solidFill>
                <a:latin typeface="Calibri"/>
              </a:rPr>
              <a:t>•  2.  Choose change type: add signatory / remove / change rule</a:t>
            </a:r>
          </a:p>
          <a:p>
            <a:pPr lvl="1">
              <a:spcBef>
                <a:spcPts val="200"/>
              </a:spcBef>
            </a:pPr>
            <a:r>
              <a:rPr sz="1130">
                <a:solidFill>
                  <a:srgbClr val="1C1917"/>
                </a:solidFill>
                <a:latin typeface="Calibri"/>
              </a:rPr>
              <a:t>•  3.  Configure the change (select person, new rule)</a:t>
            </a:r>
          </a:p>
          <a:p>
            <a:pPr lvl="1">
              <a:spcBef>
                <a:spcPts val="200"/>
              </a:spcBef>
            </a:pPr>
            <a:r>
              <a:rPr sz="1130">
                <a:solidFill>
                  <a:srgbClr val="1C1917"/>
                </a:solidFill>
                <a:latin typeface="Calibri"/>
              </a:rPr>
              <a:t>•  4.  Review mandate impact — what changes, which accounts are affected</a:t>
            </a:r>
          </a:p>
          <a:p>
            <a:pPr lvl="1">
              <a:spcBef>
                <a:spcPts val="200"/>
              </a:spcBef>
            </a:pPr>
            <a:r>
              <a:rPr sz="1130">
                <a:solidFill>
                  <a:srgbClr val="1C1917"/>
                </a:solidFill>
                <a:latin typeface="Calibri"/>
              </a:rPr>
              <a:t>•  5.  OTP confirmation → cooling-off (24h) for high-risk changes</a:t>
            </a:r>
          </a:p>
          <a:p>
            <a:pPr>
              <a:spcBef>
                <a:spcPts val="990"/>
              </a:spcBef>
            </a:pPr>
            <a:r>
              <a:rPr sz="1320" b="1">
                <a:solidFill>
                  <a:srgbClr val="EC0000"/>
                </a:solidFill>
                <a:latin typeface="Calibri"/>
              </a:rPr>
              <a:t>Mandate rules by account</a:t>
            </a:r>
          </a:p>
          <a:p>
            <a:pPr lvl="1">
              <a:spcBef>
                <a:spcPts val="200"/>
              </a:spcBef>
            </a:pPr>
            <a:r>
              <a:rPr sz="1130">
                <a:solidFill>
                  <a:srgbClr val="1C1917"/>
                </a:solidFill>
                <a:latin typeface="Calibri"/>
              </a:rPr>
              <a:t>•  — Strictest rule across selected accounts determines overall requirement.</a:t>
            </a:r>
          </a:p>
          <a:p>
            <a:pPr lvl="1">
              <a:spcBef>
                <a:spcPts val="200"/>
              </a:spcBef>
            </a:pPr>
            <a:r>
              <a:rPr sz="1130">
                <a:solidFill>
                  <a:srgbClr val="1C1917"/>
                </a:solidFill>
                <a:latin typeface="Calibri"/>
              </a:rPr>
              <a:t>•  — Removing a signatory from a dual-auth account triggers a 24h cooling-off.</a:t>
            </a:r>
          </a:p>
          <a:p>
            <a:pPr lvl="1">
              <a:spcBef>
                <a:spcPts val="200"/>
              </a:spcBef>
            </a:pPr>
            <a:r>
              <a:rPr sz="1130">
                <a:solidFill>
                  <a:srgbClr val="1C1917"/>
                </a:solidFill>
                <a:latin typeface="Calibri"/>
              </a:rPr>
              <a:t>•  — Adding a signatory on a single-auth account: immediate with OTP only.</a:t>
            </a:r>
          </a:p>
          <a:p>
            <a:pPr>
              <a:spcBef>
                <a:spcPts val="990"/>
              </a:spcBef>
            </a:pPr>
            <a:r>
              <a:rPr sz="1320" b="1">
                <a:solidFill>
                  <a:srgbClr val="EC0000"/>
                </a:solidFill>
                <a:latin typeface="Calibri"/>
              </a:rPr>
              <a:t>Replaces</a:t>
            </a:r>
          </a:p>
          <a:p>
            <a:pPr lvl="1">
              <a:spcBef>
                <a:spcPts val="200"/>
              </a:spcBef>
            </a:pPr>
            <a:r>
              <a:rPr sz="1130">
                <a:solidFill>
                  <a:srgbClr val="1C1917"/>
                </a:solidFill>
                <a:latin typeface="Calibri"/>
              </a:rPr>
              <a:t>•  — Manual paper form  ·  'Post to Sunderland'  ·  5-7 working days</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D  ·  WORKFLOW WALKTHROUGHS</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Bulk payments (wages) + MTD VAT submission</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44752"/>
            <a:ext cx="5577840" cy="5029200"/>
          </a:xfrm>
          <a:prstGeom prst="rect">
            <a:avLst/>
          </a:prstGeom>
          <a:noFill/>
        </p:spPr>
        <p:txBody>
          <a:bodyPr wrap="square">
            <a:spAutoFit/>
          </a:bodyPr>
          <a:lstStyle/>
          <a:p>
            <a:pPr>
              <a:spcBef>
                <a:spcPts val="600"/>
              </a:spcBef>
            </a:pPr>
            <a:r>
              <a:rPr sz="1400" b="1">
                <a:solidFill>
                  <a:srgbClr val="EC0000"/>
                </a:solidFill>
                <a:latin typeface="Calibri"/>
              </a:rPr>
              <a:t>Bulk Payments — Wages</a:t>
            </a:r>
          </a:p>
          <a:p>
            <a:pPr>
              <a:spcBef>
                <a:spcPts val="400"/>
              </a:spcBef>
            </a:pPr>
          </a:p>
          <a:p>
            <a:pPr>
              <a:spcBef>
                <a:spcPts val="300"/>
              </a:spcBef>
            </a:pPr>
            <a:r>
              <a:rPr sz="1250">
                <a:solidFill>
                  <a:srgbClr val="1C1917"/>
                </a:solidFill>
                <a:latin typeface="Calibri"/>
              </a:rPr>
              <a:t>• Persistent payee book (10 employees pre-loaded):</a:t>
            </a:r>
          </a:p>
          <a:p>
            <a:pPr lvl="1">
              <a:spcBef>
                <a:spcPts val="200"/>
              </a:spcBef>
            </a:pPr>
            <a:r>
              <a:rPr sz="1100">
                <a:solidFill>
                  <a:srgbClr val="787169"/>
                </a:solidFill>
                <a:latin typeface="Calibri"/>
              </a:rPr>
              <a:t>—  — Aisha Khan · Sr Engineer · £3,200</a:t>
            </a:r>
          </a:p>
          <a:p>
            <a:pPr lvl="1">
              <a:spcBef>
                <a:spcPts val="200"/>
              </a:spcBef>
            </a:pPr>
            <a:r>
              <a:rPr sz="1100">
                <a:solidFill>
                  <a:srgbClr val="787169"/>
                </a:solidFill>
                <a:latin typeface="Calibri"/>
              </a:rPr>
              <a:t>—  — Ben Carter · Ops Lead · £2,850</a:t>
            </a:r>
          </a:p>
          <a:p>
            <a:pPr lvl="1">
              <a:spcBef>
                <a:spcPts val="200"/>
              </a:spcBef>
            </a:pPr>
            <a:r>
              <a:rPr sz="1100">
                <a:solidFill>
                  <a:srgbClr val="787169"/>
                </a:solidFill>
                <a:latin typeface="Calibri"/>
              </a:rPr>
              <a:t>—  — Carmen Diaz · Finance Mgr · £4,100</a:t>
            </a:r>
          </a:p>
          <a:p>
            <a:pPr lvl="1">
              <a:spcBef>
                <a:spcPts val="200"/>
              </a:spcBef>
            </a:pPr>
            <a:r>
              <a:rPr sz="1100">
                <a:solidFill>
                  <a:srgbClr val="787169"/>
                </a:solidFill>
                <a:latin typeface="Calibri"/>
              </a:rPr>
              <a:t>—  — David Olu · Designer · £3,950</a:t>
            </a:r>
          </a:p>
          <a:p>
            <a:pPr lvl="1">
              <a:spcBef>
                <a:spcPts val="200"/>
              </a:spcBef>
            </a:pPr>
            <a:r>
              <a:rPr sz="1100">
                <a:solidFill>
                  <a:srgbClr val="787169"/>
                </a:solidFill>
                <a:latin typeface="Calibri"/>
              </a:rPr>
              <a:t>—  — Elena Petrov · Product Lead · £5,200</a:t>
            </a:r>
          </a:p>
          <a:p>
            <a:pPr lvl="1">
              <a:spcBef>
                <a:spcPts val="200"/>
              </a:spcBef>
            </a:pPr>
            <a:r>
              <a:rPr sz="1100">
                <a:solidFill>
                  <a:srgbClr val="787169"/>
                </a:solidFill>
                <a:latin typeface="Calibri"/>
              </a:rPr>
              <a:t>—  — + 5 more employees</a:t>
            </a:r>
          </a:p>
          <a:p>
            <a:pPr>
              <a:spcBef>
                <a:spcPts val="400"/>
              </a:spcBef>
            </a:pPr>
          </a:p>
          <a:p>
            <a:pPr>
              <a:spcBef>
                <a:spcPts val="300"/>
              </a:spcBef>
            </a:pPr>
            <a:r>
              <a:rPr sz="1250">
                <a:solidFill>
                  <a:srgbClr val="1C1917"/>
                </a:solidFill>
                <a:latin typeface="Calibri"/>
              </a:rPr>
              <a:t>• Steps:</a:t>
            </a:r>
          </a:p>
          <a:p>
            <a:pPr lvl="1">
              <a:spcBef>
                <a:spcPts val="200"/>
              </a:spcBef>
            </a:pPr>
            <a:r>
              <a:rPr sz="1100">
                <a:solidFill>
                  <a:srgbClr val="787169"/>
                </a:solidFill>
                <a:latin typeface="Calibri"/>
              </a:rPr>
              <a:t>—  1. Select payees (search, add new, deselect)</a:t>
            </a:r>
          </a:p>
          <a:p>
            <a:pPr lvl="1">
              <a:spcBef>
                <a:spcPts val="200"/>
              </a:spcBef>
            </a:pPr>
            <a:r>
              <a:rPr sz="1100">
                <a:solidFill>
                  <a:srgbClr val="787169"/>
                </a:solidFill>
                <a:latin typeface="Calibri"/>
              </a:rPr>
              <a:t>—  2. Review total and CoP (Confirmation of Payee) statuses</a:t>
            </a:r>
          </a:p>
          <a:p>
            <a:pPr lvl="1">
              <a:spcBef>
                <a:spcPts val="200"/>
              </a:spcBef>
            </a:pPr>
            <a:r>
              <a:rPr sz="1100">
                <a:solidFill>
                  <a:srgbClr val="787169"/>
                </a:solidFill>
                <a:latin typeface="Calibri"/>
              </a:rPr>
              <a:t>—  3. Schedule: now / future date</a:t>
            </a:r>
          </a:p>
          <a:p>
            <a:pPr lvl="1">
              <a:spcBef>
                <a:spcPts val="200"/>
              </a:spcBef>
            </a:pPr>
            <a:r>
              <a:rPr sz="1100">
                <a:solidFill>
                  <a:srgbClr val="787169"/>
                </a:solidFill>
                <a:latin typeface="Calibri"/>
              </a:rPr>
              <a:t>—  4. Mandate check + sign</a:t>
            </a:r>
          </a:p>
          <a:p>
            <a:pPr>
              <a:spcBef>
                <a:spcPts val="400"/>
              </a:spcBef>
            </a:pPr>
          </a:p>
          <a:p>
            <a:pPr>
              <a:spcBef>
                <a:spcPts val="300"/>
              </a:spcBef>
            </a:pPr>
            <a:r>
              <a:rPr sz="1250">
                <a:solidFill>
                  <a:srgbClr val="1C1917"/>
                </a:solidFill>
                <a:latin typeface="Calibri"/>
              </a:rPr>
              <a:t>• Supports CSV upload for one-off bulk imports.</a:t>
            </a:r>
          </a:p>
          <a:p>
            <a:pPr>
              <a:spcBef>
                <a:spcPts val="300"/>
              </a:spcBef>
            </a:pPr>
            <a:r>
              <a:rPr sz="1250">
                <a:solidFill>
                  <a:srgbClr val="1C1917"/>
                </a:solidFill>
                <a:latin typeface="Calibri"/>
              </a:rPr>
              <a:t>• CoP verified badge per payee (green tick).</a:t>
            </a:r>
          </a:p>
          <a:p>
            <a:pPr>
              <a:spcBef>
                <a:spcPts val="300"/>
              </a:spcBef>
            </a:pPr>
            <a:r>
              <a:rPr sz="1250">
                <a:solidFill>
                  <a:srgbClr val="1C1917"/>
                </a:solidFill>
                <a:latin typeface="Calibri"/>
              </a:rPr>
              <a:t>• Replaces: paper BACS instruction forms.</a:t>
            </a:r>
          </a:p>
        </p:txBody>
      </p:sp>
      <p:sp>
        <p:nvSpPr>
          <p:cNvPr id="9" name="Rectangle 8"/>
          <p:cNvSpPr/>
          <p:nvPr/>
        </p:nvSpPr>
        <p:spPr>
          <a:xfrm>
            <a:off x="5989320" y="1444752"/>
            <a:ext cx="19050" cy="502920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444752"/>
            <a:ext cx="5577840" cy="5029200"/>
          </a:xfrm>
          <a:prstGeom prst="rect">
            <a:avLst/>
          </a:prstGeom>
          <a:noFill/>
        </p:spPr>
        <p:txBody>
          <a:bodyPr wrap="square">
            <a:spAutoFit/>
          </a:bodyPr>
          <a:lstStyle/>
          <a:p>
            <a:pPr>
              <a:spcBef>
                <a:spcPts val="600"/>
              </a:spcBef>
            </a:pPr>
            <a:r>
              <a:rPr sz="1400" b="1">
                <a:solidFill>
                  <a:srgbClr val="EC0000"/>
                </a:solidFill>
                <a:latin typeface="Calibri"/>
              </a:rPr>
              <a:t>MTD / VAT Submission</a:t>
            </a:r>
          </a:p>
          <a:p>
            <a:pPr>
              <a:spcBef>
                <a:spcPts val="400"/>
              </a:spcBef>
            </a:pPr>
          </a:p>
          <a:p>
            <a:pPr>
              <a:spcBef>
                <a:spcPts val="300"/>
              </a:spcBef>
            </a:pPr>
            <a:r>
              <a:rPr sz="1250">
                <a:solidFill>
                  <a:srgbClr val="1C1917"/>
                </a:solidFill>
                <a:latin typeface="Calibri"/>
              </a:rPr>
              <a:t>• Q3 Jul–Sep 2026 — open obligation:</a:t>
            </a:r>
          </a:p>
          <a:p>
            <a:pPr lvl="1">
              <a:spcBef>
                <a:spcPts val="200"/>
              </a:spcBef>
            </a:pPr>
            <a:r>
              <a:rPr sz="1100">
                <a:solidFill>
                  <a:srgbClr val="787169"/>
                </a:solidFill>
                <a:latin typeface="Calibri"/>
              </a:rPr>
              <a:t>—  — £18,472.40 VAT due to HMRC</a:t>
            </a:r>
          </a:p>
          <a:p>
            <a:pPr lvl="1">
              <a:spcBef>
                <a:spcPts val="200"/>
              </a:spcBef>
            </a:pPr>
            <a:r>
              <a:rPr sz="1100">
                <a:solidFill>
                  <a:srgbClr val="787169"/>
                </a:solidFill>
                <a:latin typeface="Calibri"/>
              </a:rPr>
              <a:t>—  — 247 transactions to review</a:t>
            </a:r>
          </a:p>
          <a:p>
            <a:pPr lvl="1">
              <a:spcBef>
                <a:spcPts val="200"/>
              </a:spcBef>
            </a:pPr>
            <a:r>
              <a:rPr sz="1100">
                <a:solidFill>
                  <a:srgbClr val="787169"/>
                </a:solidFill>
                <a:latin typeface="Calibri"/>
              </a:rPr>
              <a:t>—  — VRN: GB 287 4513 92</a:t>
            </a:r>
          </a:p>
          <a:p>
            <a:pPr lvl="1">
              <a:spcBef>
                <a:spcPts val="200"/>
              </a:spcBef>
            </a:pPr>
            <a:r>
              <a:rPr sz="1100">
                <a:solidFill>
                  <a:srgbClr val="787169"/>
                </a:solidFill>
                <a:latin typeface="Calibri"/>
              </a:rPr>
              <a:t>—  — Deadline: 7 Nov 2026</a:t>
            </a:r>
          </a:p>
          <a:p>
            <a:pPr>
              <a:spcBef>
                <a:spcPts val="400"/>
              </a:spcBef>
            </a:pPr>
          </a:p>
          <a:p>
            <a:pPr>
              <a:spcBef>
                <a:spcPts val="300"/>
              </a:spcBef>
            </a:pPr>
            <a:r>
              <a:rPr sz="1250">
                <a:solidFill>
                  <a:srgbClr val="1C1917"/>
                </a:solidFill>
                <a:latin typeface="Calibri"/>
              </a:rPr>
              <a:t>• Steps:</a:t>
            </a:r>
          </a:p>
          <a:p>
            <a:pPr lvl="1">
              <a:spcBef>
                <a:spcPts val="200"/>
              </a:spcBef>
            </a:pPr>
            <a:r>
              <a:rPr sz="1100">
                <a:solidFill>
                  <a:srgbClr val="787169"/>
                </a:solidFill>
                <a:latin typeface="Calibri"/>
              </a:rPr>
              <a:t>—  1. Review transactions — categorise each</a:t>
            </a:r>
          </a:p>
          <a:p>
            <a:pPr lvl="1">
              <a:spcBef>
                <a:spcPts val="200"/>
              </a:spcBef>
            </a:pPr>
            <a:r>
              <a:rPr sz="1100">
                <a:solidFill>
                  <a:srgbClr val="787169"/>
                </a:solidFill>
                <a:latin typeface="Calibri"/>
              </a:rPr>
              <a:t>—  as business / personal / exempt</a:t>
            </a:r>
          </a:p>
          <a:p>
            <a:pPr lvl="1">
              <a:spcBef>
                <a:spcPts val="200"/>
              </a:spcBef>
            </a:pPr>
            <a:r>
              <a:rPr sz="1100">
                <a:solidFill>
                  <a:srgbClr val="787169"/>
                </a:solidFill>
                <a:latin typeface="Calibri"/>
              </a:rPr>
              <a:t>—  2. Auto-categorised at high/medium/low</a:t>
            </a:r>
          </a:p>
          <a:p>
            <a:pPr lvl="1">
              <a:spcBef>
                <a:spcPts val="200"/>
              </a:spcBef>
            </a:pPr>
            <a:r>
              <a:rPr sz="1100">
                <a:solidFill>
                  <a:srgbClr val="787169"/>
                </a:solidFill>
                <a:latin typeface="Calibri"/>
              </a:rPr>
              <a:t>—  confidence — low-confidence flagged</a:t>
            </a:r>
          </a:p>
          <a:p>
            <a:pPr lvl="1">
              <a:spcBef>
                <a:spcPts val="200"/>
              </a:spcBef>
            </a:pPr>
            <a:r>
              <a:rPr sz="1100">
                <a:solidFill>
                  <a:srgbClr val="787169"/>
                </a:solidFill>
                <a:latin typeface="Calibri"/>
              </a:rPr>
              <a:t>—  3. Confirm VAT totals — editable</a:t>
            </a:r>
          </a:p>
          <a:p>
            <a:pPr lvl="1">
              <a:spcBef>
                <a:spcPts val="200"/>
              </a:spcBef>
            </a:pPr>
            <a:r>
              <a:rPr sz="1100">
                <a:solidFill>
                  <a:srgbClr val="787169"/>
                </a:solidFill>
                <a:latin typeface="Calibri"/>
              </a:rPr>
              <a:t>—  4. Legal declaration + countdown timer</a:t>
            </a:r>
          </a:p>
          <a:p>
            <a:pPr lvl="1">
              <a:spcBef>
                <a:spcPts val="200"/>
              </a:spcBef>
            </a:pPr>
            <a:r>
              <a:rPr sz="1100">
                <a:solidFill>
                  <a:srgbClr val="787169"/>
                </a:solidFill>
                <a:latin typeface="Calibri"/>
              </a:rPr>
              <a:t>—  before submission to HMRC API</a:t>
            </a:r>
          </a:p>
          <a:p>
            <a:pPr>
              <a:spcBef>
                <a:spcPts val="400"/>
              </a:spcBef>
            </a:pPr>
          </a:p>
          <a:p>
            <a:pPr>
              <a:spcBef>
                <a:spcPts val="300"/>
              </a:spcBef>
            </a:pPr>
            <a:r>
              <a:rPr sz="1250">
                <a:solidFill>
                  <a:srgbClr val="1C1917"/>
                </a:solidFill>
                <a:latin typeface="Calibri"/>
              </a:rPr>
              <a:t>• Receipt scan: camera → OCR → auto-tag</a:t>
            </a:r>
          </a:p>
          <a:p>
            <a:pPr>
              <a:spcBef>
                <a:spcPts val="300"/>
              </a:spcBef>
            </a:pPr>
            <a:r>
              <a:rPr sz="1250">
                <a:solidFill>
                  <a:srgbClr val="1C1917"/>
                </a:solidFill>
                <a:latin typeface="Calibri"/>
              </a:rPr>
              <a:t>• Voice memo: speak → expense auto-tagged</a:t>
            </a:r>
          </a:p>
          <a:p>
            <a:pPr lvl="1">
              <a:spcBef>
                <a:spcPts val="200"/>
              </a:spcBef>
            </a:pPr>
            <a:r>
              <a:rPr sz="1100">
                <a:solidFill>
                  <a:srgbClr val="787169"/>
                </a:solidFill>
                <a:latin typeface="Calibri"/>
              </a:rPr>
              <a:t>—  (merchant, amount, category, VAT rate)</a:t>
            </a:r>
          </a:p>
          <a:p>
            <a:pPr>
              <a:spcBef>
                <a:spcPts val="400"/>
              </a:spcBef>
            </a:pPr>
          </a:p>
          <a:p>
            <a:pPr>
              <a:spcBef>
                <a:spcPts val="300"/>
              </a:spcBef>
            </a:pPr>
            <a:r>
              <a:rPr sz="1250">
                <a:solidFill>
                  <a:srgbClr val="1C1917"/>
                </a:solidFill>
                <a:latin typeface="Calibri"/>
              </a:rPr>
              <a:t>• Replaces: Bridging software, spreadsheets,</a:t>
            </a:r>
          </a:p>
          <a:p>
            <a:pPr lvl="1">
              <a:spcBef>
                <a:spcPts val="200"/>
              </a:spcBef>
            </a:pPr>
            <a:r>
              <a:rPr sz="1100">
                <a:solidFill>
                  <a:srgbClr val="787169"/>
                </a:solidFill>
                <a:latin typeface="Calibri"/>
              </a:rPr>
              <a:t>—  manual HMRC portal entry.</a:t>
            </a:r>
          </a:p>
        </p:txBody>
      </p:sp>
      <p:sp>
        <p:nvSpPr>
          <p:cNvPr id="11" name="Rectangle 10"/>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3" name="TextBox 12"/>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D  ·  WORKFLOW WALKTHROUGHS</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International payments (FX) + Account closure</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44752"/>
            <a:ext cx="5577840" cy="5029200"/>
          </a:xfrm>
          <a:prstGeom prst="rect">
            <a:avLst/>
          </a:prstGeom>
          <a:noFill/>
        </p:spPr>
        <p:txBody>
          <a:bodyPr wrap="square">
            <a:spAutoFit/>
          </a:bodyPr>
          <a:lstStyle/>
          <a:p>
            <a:pPr>
              <a:spcBef>
                <a:spcPts val="600"/>
              </a:spcBef>
            </a:pPr>
            <a:r>
              <a:rPr sz="1400" b="1">
                <a:solidFill>
                  <a:srgbClr val="EC0000"/>
                </a:solidFill>
                <a:latin typeface="Calibri"/>
              </a:rPr>
              <a:t>FX / International Payments</a:t>
            </a:r>
          </a:p>
          <a:p>
            <a:pPr>
              <a:spcBef>
                <a:spcPts val="400"/>
              </a:spcBef>
            </a:pPr>
          </a:p>
          <a:p>
            <a:pPr>
              <a:spcBef>
                <a:spcPts val="300"/>
              </a:spcBef>
            </a:pPr>
            <a:r>
              <a:rPr sz="1250">
                <a:solidFill>
                  <a:srgbClr val="1C1917"/>
                </a:solidFill>
                <a:latin typeface="Calibri"/>
              </a:rPr>
              <a:t>• Currencies: EUR, USD, CHF, AUD, CAD</a:t>
            </a:r>
          </a:p>
          <a:p>
            <a:pPr>
              <a:spcBef>
                <a:spcPts val="300"/>
              </a:spcBef>
            </a:pPr>
            <a:r>
              <a:rPr sz="1250">
                <a:solidFill>
                  <a:srgbClr val="1C1917"/>
                </a:solidFill>
                <a:latin typeface="Calibri"/>
              </a:rPr>
              <a:t>• Live indicative rates (prototype data):</a:t>
            </a:r>
          </a:p>
          <a:p>
            <a:pPr lvl="1">
              <a:spcBef>
                <a:spcPts val="200"/>
              </a:spcBef>
            </a:pPr>
            <a:r>
              <a:rPr sz="1100">
                <a:solidFill>
                  <a:srgbClr val="787169"/>
                </a:solidFill>
                <a:latin typeface="Calibri"/>
              </a:rPr>
              <a:t>—  — EUR: 1.1742  ·  fee £0.50</a:t>
            </a:r>
          </a:p>
          <a:p>
            <a:pPr lvl="1">
              <a:spcBef>
                <a:spcPts val="200"/>
              </a:spcBef>
            </a:pPr>
            <a:r>
              <a:rPr sz="1100">
                <a:solidFill>
                  <a:srgbClr val="787169"/>
                </a:solidFill>
                <a:latin typeface="Calibri"/>
              </a:rPr>
              <a:t>—  — USD: 1.2681  ·  fee £0.50</a:t>
            </a:r>
          </a:p>
          <a:p>
            <a:pPr lvl="1">
              <a:spcBef>
                <a:spcPts val="200"/>
              </a:spcBef>
            </a:pPr>
            <a:r>
              <a:rPr sz="1100">
                <a:solidFill>
                  <a:srgbClr val="787169"/>
                </a:solidFill>
                <a:latin typeface="Calibri"/>
              </a:rPr>
              <a:t>—  — CHF: 1.1234  ·  fee £0.75</a:t>
            </a:r>
          </a:p>
          <a:p>
            <a:pPr>
              <a:spcBef>
                <a:spcPts val="400"/>
              </a:spcBef>
            </a:pPr>
          </a:p>
          <a:p>
            <a:pPr>
              <a:spcBef>
                <a:spcPts val="300"/>
              </a:spcBef>
            </a:pPr>
            <a:r>
              <a:rPr sz="1250">
                <a:solidFill>
                  <a:srgbClr val="1C1917"/>
                </a:solidFill>
                <a:latin typeface="Calibri"/>
              </a:rPr>
              <a:t>• Steps:</a:t>
            </a:r>
          </a:p>
          <a:p>
            <a:pPr lvl="1">
              <a:spcBef>
                <a:spcPts val="200"/>
              </a:spcBef>
            </a:pPr>
            <a:r>
              <a:rPr sz="1100">
                <a:solidFill>
                  <a:srgbClr val="787169"/>
                </a:solidFill>
                <a:latin typeface="Calibri"/>
              </a:rPr>
              <a:t>—  1. Amount + currency selection</a:t>
            </a:r>
          </a:p>
          <a:p>
            <a:pPr lvl="1">
              <a:spcBef>
                <a:spcPts val="200"/>
              </a:spcBef>
            </a:pPr>
            <a:r>
              <a:rPr sz="1100">
                <a:solidFill>
                  <a:srgbClr val="787169"/>
                </a:solidFill>
                <a:latin typeface="Calibri"/>
              </a:rPr>
              <a:t>—  2. Beneficiary IBAN + name</a:t>
            </a:r>
          </a:p>
          <a:p>
            <a:pPr lvl="1">
              <a:spcBef>
                <a:spcPts val="200"/>
              </a:spcBef>
            </a:pPr>
            <a:r>
              <a:rPr sz="1100">
                <a:solidFill>
                  <a:srgbClr val="787169"/>
                </a:solidFill>
                <a:latin typeface="Calibri"/>
              </a:rPr>
              <a:t>—  3. Rate confirmation (rate locked</a:t>
            </a:r>
          </a:p>
          <a:p>
            <a:pPr lvl="1">
              <a:spcBef>
                <a:spcPts val="200"/>
              </a:spcBef>
            </a:pPr>
            <a:r>
              <a:rPr sz="1100">
                <a:solidFill>
                  <a:srgbClr val="787169"/>
                </a:solidFill>
                <a:latin typeface="Calibri"/>
              </a:rPr>
              <a:t>—  for 30 seconds — countdown shown)</a:t>
            </a:r>
          </a:p>
          <a:p>
            <a:pPr lvl="1">
              <a:spcBef>
                <a:spcPts val="200"/>
              </a:spcBef>
            </a:pPr>
            <a:r>
              <a:rPr sz="1100">
                <a:solidFill>
                  <a:srgbClr val="787169"/>
                </a:solidFill>
                <a:latin typeface="Calibri"/>
              </a:rPr>
              <a:t>—  4. Reference + sign</a:t>
            </a:r>
          </a:p>
          <a:p>
            <a:pPr>
              <a:spcBef>
                <a:spcPts val="400"/>
              </a:spcBef>
            </a:pPr>
          </a:p>
          <a:p>
            <a:pPr>
              <a:spcBef>
                <a:spcPts val="300"/>
              </a:spcBef>
            </a:pPr>
            <a:r>
              <a:rPr sz="1250">
                <a:solidFill>
                  <a:srgbClr val="1C1917"/>
                </a:solidFill>
                <a:latin typeface="Calibri"/>
              </a:rPr>
              <a:t>• SWIFT and SEPA payment rails.</a:t>
            </a:r>
          </a:p>
          <a:p>
            <a:pPr>
              <a:spcBef>
                <a:spcPts val="300"/>
              </a:spcBef>
            </a:pPr>
            <a:r>
              <a:rPr sz="1250">
                <a:solidFill>
                  <a:srgbClr val="1C1917"/>
                </a:solidFill>
                <a:latin typeface="Calibri"/>
              </a:rPr>
              <a:t>• Counterparty management — saved</a:t>
            </a:r>
          </a:p>
          <a:p>
            <a:pPr lvl="1">
              <a:spcBef>
                <a:spcPts val="200"/>
              </a:spcBef>
            </a:pPr>
            <a:r>
              <a:rPr sz="1100">
                <a:solidFill>
                  <a:srgbClr val="787169"/>
                </a:solidFill>
                <a:latin typeface="Calibri"/>
              </a:rPr>
              <a:t>—  beneficiaries with full audit trail.</a:t>
            </a:r>
          </a:p>
          <a:p>
            <a:pPr>
              <a:spcBef>
                <a:spcPts val="400"/>
              </a:spcBef>
            </a:pPr>
          </a:p>
          <a:p>
            <a:pPr>
              <a:spcBef>
                <a:spcPts val="300"/>
              </a:spcBef>
            </a:pPr>
            <a:r>
              <a:rPr sz="1250">
                <a:solidFill>
                  <a:srgbClr val="1C1917"/>
                </a:solidFill>
                <a:latin typeface="Calibri"/>
              </a:rPr>
              <a:t>• Replaces: branch foreign payments form,</a:t>
            </a:r>
          </a:p>
          <a:p>
            <a:pPr lvl="1">
              <a:spcBef>
                <a:spcPts val="200"/>
              </a:spcBef>
            </a:pPr>
            <a:r>
              <a:rPr sz="1100">
                <a:solidFill>
                  <a:srgbClr val="787169"/>
                </a:solidFill>
                <a:latin typeface="Calibri"/>
              </a:rPr>
              <a:t>—  phone-based FX desk instructions.</a:t>
            </a:r>
          </a:p>
        </p:txBody>
      </p:sp>
      <p:sp>
        <p:nvSpPr>
          <p:cNvPr id="9" name="Rectangle 8"/>
          <p:cNvSpPr/>
          <p:nvPr/>
        </p:nvSpPr>
        <p:spPr>
          <a:xfrm>
            <a:off x="5989320" y="1444752"/>
            <a:ext cx="19050" cy="502920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444752"/>
            <a:ext cx="5577840" cy="5029200"/>
          </a:xfrm>
          <a:prstGeom prst="rect">
            <a:avLst/>
          </a:prstGeom>
          <a:noFill/>
        </p:spPr>
        <p:txBody>
          <a:bodyPr wrap="square">
            <a:spAutoFit/>
          </a:bodyPr>
          <a:lstStyle/>
          <a:p>
            <a:pPr>
              <a:spcBef>
                <a:spcPts val="600"/>
              </a:spcBef>
            </a:pPr>
            <a:r>
              <a:rPr sz="1400" b="1">
                <a:solidFill>
                  <a:srgbClr val="EC0000"/>
                </a:solidFill>
                <a:latin typeface="Calibri"/>
              </a:rPr>
              <a:t>Account Closure</a:t>
            </a:r>
          </a:p>
          <a:p>
            <a:pPr>
              <a:spcBef>
                <a:spcPts val="400"/>
              </a:spcBef>
            </a:pPr>
          </a:p>
          <a:p>
            <a:pPr>
              <a:spcBef>
                <a:spcPts val="300"/>
              </a:spcBef>
            </a:pPr>
            <a:r>
              <a:rPr sz="1250">
                <a:solidFill>
                  <a:srgbClr val="1C1917"/>
                </a:solidFill>
                <a:latin typeface="Calibri"/>
              </a:rPr>
              <a:t>• Replaces Form ANB9 0370.</a:t>
            </a:r>
          </a:p>
          <a:p>
            <a:pPr lvl="1">
              <a:spcBef>
                <a:spcPts val="200"/>
              </a:spcBef>
            </a:pPr>
            <a:r>
              <a:rPr sz="1100">
                <a:solidFill>
                  <a:srgbClr val="787169"/>
                </a:solidFill>
                <a:latin typeface="Calibri"/>
              </a:rPr>
              <a:t>—  'No more posting to Sunderland.'</a:t>
            </a:r>
          </a:p>
          <a:p>
            <a:pPr>
              <a:spcBef>
                <a:spcPts val="400"/>
              </a:spcBef>
            </a:pPr>
          </a:p>
          <a:p>
            <a:pPr>
              <a:spcBef>
                <a:spcPts val="300"/>
              </a:spcBef>
            </a:pPr>
            <a:r>
              <a:rPr sz="1250">
                <a:solidFill>
                  <a:srgbClr val="1C1917"/>
                </a:solidFill>
                <a:latin typeface="Calibri"/>
              </a:rPr>
              <a:t>• Steps (standard path):</a:t>
            </a:r>
          </a:p>
          <a:p>
            <a:pPr lvl="1">
              <a:spcBef>
                <a:spcPts val="200"/>
              </a:spcBef>
            </a:pPr>
            <a:r>
              <a:rPr sz="1100">
                <a:solidFill>
                  <a:srgbClr val="787169"/>
                </a:solidFill>
                <a:latin typeface="Calibri"/>
              </a:rPr>
              <a:t>—  1. Select accounts to close</a:t>
            </a:r>
          </a:p>
          <a:p>
            <a:pPr lvl="1">
              <a:spcBef>
                <a:spcPts val="200"/>
              </a:spcBef>
            </a:pPr>
            <a:r>
              <a:rPr sz="1100">
                <a:solidFill>
                  <a:srgbClr val="787169"/>
                </a:solidFill>
                <a:latin typeface="Calibri"/>
              </a:rPr>
              <a:t>—  2. Destination for remaining funds</a:t>
            </a:r>
          </a:p>
          <a:p>
            <a:pPr lvl="1">
              <a:spcBef>
                <a:spcPts val="200"/>
              </a:spcBef>
            </a:pPr>
            <a:r>
              <a:rPr sz="1100">
                <a:solidFill>
                  <a:srgbClr val="787169"/>
                </a:solidFill>
                <a:latin typeface="Calibri"/>
              </a:rPr>
              <a:t>—  3. In-credit check (must be in credit)</a:t>
            </a:r>
          </a:p>
          <a:p>
            <a:pPr lvl="1">
              <a:spcBef>
                <a:spcPts val="200"/>
              </a:spcBef>
            </a:pPr>
            <a:r>
              <a:rPr sz="1100">
                <a:solidFill>
                  <a:srgbClr val="787169"/>
                </a:solidFill>
                <a:latin typeface="Calibri"/>
              </a:rPr>
              <a:t>—  4. Sign per mandate → 24h cooling-off</a:t>
            </a:r>
          </a:p>
          <a:p>
            <a:pPr>
              <a:spcBef>
                <a:spcPts val="400"/>
              </a:spcBef>
            </a:pPr>
          </a:p>
          <a:p>
            <a:pPr>
              <a:spcBef>
                <a:spcPts val="300"/>
              </a:spcBef>
            </a:pPr>
            <a:r>
              <a:rPr sz="1250">
                <a:solidFill>
                  <a:srgbClr val="1C1917"/>
                </a:solidFill>
                <a:latin typeface="Calibri"/>
              </a:rPr>
              <a:t>• Escalation path (Partnerships):</a:t>
            </a:r>
          </a:p>
          <a:p>
            <a:pPr lvl="1">
              <a:spcBef>
                <a:spcPts val="200"/>
              </a:spcBef>
            </a:pPr>
            <a:r>
              <a:rPr sz="1100">
                <a:solidFill>
                  <a:srgbClr val="787169"/>
                </a:solidFill>
                <a:latin typeface="Calibri"/>
              </a:rPr>
              <a:t>—  — A partner is unreachable / deceased /</a:t>
            </a:r>
          </a:p>
          <a:p>
            <a:pPr lvl="1">
              <a:spcBef>
                <a:spcPts val="200"/>
              </a:spcBef>
            </a:pPr>
            <a:r>
              <a:rPr sz="1100">
                <a:solidFill>
                  <a:srgbClr val="787169"/>
                </a:solidFill>
                <a:latin typeface="Calibri"/>
              </a:rPr>
              <a:t>—  health issue / dispute.</a:t>
            </a:r>
          </a:p>
          <a:p>
            <a:pPr lvl="1">
              <a:spcBef>
                <a:spcPts val="200"/>
              </a:spcBef>
            </a:pPr>
            <a:r>
              <a:rPr sz="1100">
                <a:solidFill>
                  <a:srgbClr val="787169"/>
                </a:solidFill>
                <a:latin typeface="Calibri"/>
              </a:rPr>
              <a:t>—  — 4-step regulatory escalation:</a:t>
            </a:r>
          </a:p>
          <a:p>
            <a:pPr lvl="1">
              <a:spcBef>
                <a:spcPts val="200"/>
              </a:spcBef>
            </a:pPr>
            <a:r>
              <a:rPr sz="1100">
                <a:solidFill>
                  <a:srgbClr val="787169"/>
                </a:solidFill>
                <a:latin typeface="Calibri"/>
              </a:rPr>
              <a:t>—  reason → contact evidence →</a:t>
            </a:r>
          </a:p>
          <a:p>
            <a:pPr lvl="1">
              <a:spcBef>
                <a:spcPts val="200"/>
              </a:spcBef>
            </a:pPr>
            <a:r>
              <a:rPr sz="1100">
                <a:solidFill>
                  <a:srgbClr val="787169"/>
                </a:solidFill>
                <a:latin typeface="Calibri"/>
              </a:rPr>
              <a:t>—  restrict &amp; refer to Specialist</a:t>
            </a:r>
          </a:p>
          <a:p>
            <a:pPr lvl="1">
              <a:spcBef>
                <a:spcPts val="200"/>
              </a:spcBef>
            </a:pPr>
            <a:r>
              <a:rPr sz="1100">
                <a:solidFill>
                  <a:srgbClr val="787169"/>
                </a:solidFill>
                <a:latin typeface="Calibri"/>
              </a:rPr>
              <a:t>—  Vulnerable Customer Team.</a:t>
            </a:r>
          </a:p>
          <a:p>
            <a:pPr lvl="1">
              <a:spcBef>
                <a:spcPts val="200"/>
              </a:spcBef>
            </a:pPr>
            <a:r>
              <a:rPr sz="1100">
                <a:solidFill>
                  <a:srgbClr val="787169"/>
                </a:solidFill>
                <a:latin typeface="Calibri"/>
              </a:rPr>
              <a:t>—  — FCA Consumer Duty PS22/9.</a:t>
            </a:r>
          </a:p>
          <a:p>
            <a:pPr lvl="1">
              <a:spcBef>
                <a:spcPts val="200"/>
              </a:spcBef>
            </a:pPr>
            <a:r>
              <a:rPr sz="1100">
                <a:solidFill>
                  <a:srgbClr val="787169"/>
                </a:solidFill>
                <a:latin typeface="Calibri"/>
              </a:rPr>
              <a:t>—  — BCOBS due diligence requirements.</a:t>
            </a:r>
          </a:p>
          <a:p>
            <a:pPr>
              <a:spcBef>
                <a:spcPts val="400"/>
              </a:spcBef>
            </a:pPr>
          </a:p>
          <a:p>
            <a:pPr>
              <a:spcBef>
                <a:spcPts val="300"/>
              </a:spcBef>
            </a:pPr>
            <a:r>
              <a:rPr sz="1250">
                <a:solidFill>
                  <a:srgbClr val="1C1917"/>
                </a:solidFill>
                <a:latin typeface="Calibri"/>
              </a:rPr>
              <a:t>• 24h cooling-off: execution delayed,</a:t>
            </a:r>
          </a:p>
          <a:p>
            <a:pPr lvl="1">
              <a:spcBef>
                <a:spcPts val="200"/>
              </a:spcBef>
            </a:pPr>
            <a:r>
              <a:rPr sz="1100">
                <a:solidFill>
                  <a:srgbClr val="787169"/>
                </a:solidFill>
                <a:latin typeface="Calibri"/>
              </a:rPr>
              <a:t>—  pausable, cancellable, or skippable</a:t>
            </a:r>
          </a:p>
          <a:p>
            <a:pPr lvl="1">
              <a:spcBef>
                <a:spcPts val="200"/>
              </a:spcBef>
            </a:pPr>
            <a:r>
              <a:rPr sz="1100">
                <a:solidFill>
                  <a:srgbClr val="787169"/>
                </a:solidFill>
                <a:latin typeface="Calibri"/>
              </a:rPr>
              <a:t>—  ('Do it now' for urgent closures).</a:t>
            </a:r>
          </a:p>
        </p:txBody>
      </p:sp>
      <p:sp>
        <p:nvSpPr>
          <p:cNvPr id="11" name="Rectangle 10"/>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3" name="TextBox 12"/>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D  ·  WORKFLOW WALKTHROUGHS</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Approve screen — pending signature queue</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800"/>
              </a:spcBef>
            </a:pPr>
            <a:r>
              <a:rPr sz="1400" b="1">
                <a:solidFill>
                  <a:srgbClr val="EC0000"/>
                </a:solidFill>
                <a:latin typeface="Calibri"/>
              </a:rPr>
              <a:t>Three demo items waiting for the director's signature</a:t>
            </a:r>
          </a:p>
          <a:p>
            <a:pPr lvl="1">
              <a:spcBef>
                <a:spcPts val="200"/>
              </a:spcBef>
            </a:pPr>
            <a:r>
              <a:rPr sz="1200">
                <a:solidFill>
                  <a:srgbClr val="1C1917"/>
                </a:solidFill>
                <a:latin typeface="Calibri"/>
              </a:rPr>
              <a:t>•  1. Bulk Payment — October Wages · 47 employees · £183,450.00</a:t>
            </a:r>
          </a:p>
          <a:p>
            <a:pPr lvl="1">
              <a:spcBef>
                <a:spcPts val="100"/>
              </a:spcBef>
            </a:pPr>
            <a:r>
              <a:rPr sz="1100">
                <a:solidFill>
                  <a:srgbClr val="787169"/>
                </a:solidFill>
                <a:latin typeface="Calibri"/>
              </a:rPr>
              <a:t>—  — Initiated by Sarah Chen  ·  Expires in 46 hours</a:t>
            </a:r>
          </a:p>
          <a:p>
            <a:pPr lvl="1">
              <a:spcBef>
                <a:spcPts val="200"/>
              </a:spcBef>
            </a:pPr>
            <a:r>
              <a:rPr sz="1200">
                <a:solidFill>
                  <a:srgbClr val="1C1917"/>
                </a:solidFill>
                <a:latin typeface="Calibri"/>
              </a:rPr>
              <a:t>•  2. Mandate Change — Add Mark Patel as signatory</a:t>
            </a:r>
          </a:p>
          <a:p>
            <a:pPr lvl="1">
              <a:spcBef>
                <a:spcPts val="100"/>
              </a:spcBef>
            </a:pPr>
            <a:r>
              <a:rPr sz="1100">
                <a:solidFill>
                  <a:srgbClr val="787169"/>
                </a:solidFill>
                <a:latin typeface="Calibri"/>
              </a:rPr>
              <a:t>—  — Initiated by Sarah Chen  ·  Expires in 4 days</a:t>
            </a:r>
          </a:p>
          <a:p>
            <a:pPr lvl="1">
              <a:spcBef>
                <a:spcPts val="200"/>
              </a:spcBef>
            </a:pPr>
            <a:r>
              <a:rPr sz="1200">
                <a:solidFill>
                  <a:srgbClr val="1C1917"/>
                </a:solidFill>
                <a:latin typeface="Calibri"/>
              </a:rPr>
              <a:t>•  3. Account Closure — Legacy Trading · ····4422</a:t>
            </a:r>
          </a:p>
          <a:p>
            <a:pPr lvl="1">
              <a:spcBef>
                <a:spcPts val="100"/>
              </a:spcBef>
            </a:pPr>
            <a:r>
              <a:rPr sz="1100">
                <a:solidFill>
                  <a:srgbClr val="787169"/>
                </a:solidFill>
                <a:latin typeface="Calibri"/>
              </a:rPr>
              <a:t>—  — Initiated by James Whitfield  ·  Expires in 11 days</a:t>
            </a:r>
          </a:p>
          <a:p>
            <a:pPr>
              <a:spcBef>
                <a:spcPts val="400"/>
              </a:spcBef>
            </a:pPr>
          </a:p>
          <a:p>
            <a:pPr>
              <a:spcBef>
                <a:spcPts val="800"/>
              </a:spcBef>
            </a:pPr>
            <a:r>
              <a:rPr sz="1400" b="1">
                <a:solidFill>
                  <a:srgbClr val="EC0000"/>
                </a:solidFill>
                <a:latin typeface="Calibri"/>
              </a:rPr>
              <a:t>Signing flow</a:t>
            </a:r>
          </a:p>
          <a:p>
            <a:pPr lvl="1">
              <a:spcBef>
                <a:spcPts val="200"/>
              </a:spcBef>
            </a:pPr>
            <a:r>
              <a:rPr sz="1200">
                <a:solidFill>
                  <a:srgbClr val="1C1917"/>
                </a:solidFill>
                <a:latin typeface="Calibri"/>
              </a:rPr>
              <a:t>•  — Tap any pending item to open its detail view.</a:t>
            </a:r>
          </a:p>
          <a:p>
            <a:pPr lvl="1">
              <a:spcBef>
                <a:spcPts val="200"/>
              </a:spcBef>
            </a:pPr>
            <a:r>
              <a:rPr sz="1200">
                <a:solidFill>
                  <a:srgbClr val="1C1917"/>
                </a:solidFill>
                <a:latin typeface="Calibri"/>
              </a:rPr>
              <a:t>•  — Review the full request: what, who initiated it, when it expires, what it costs.</a:t>
            </a:r>
          </a:p>
          <a:p>
            <a:pPr lvl="1">
              <a:spcBef>
                <a:spcPts val="200"/>
              </a:spcBef>
            </a:pPr>
            <a:r>
              <a:rPr sz="1200">
                <a:solidFill>
                  <a:srgbClr val="1C1917"/>
                </a:solidFill>
                <a:latin typeface="Calibri"/>
              </a:rPr>
              <a:t>•  — Biometric or OTP confirmation to approve or reject.</a:t>
            </a:r>
          </a:p>
          <a:p>
            <a:pPr lvl="1">
              <a:spcBef>
                <a:spcPts val="200"/>
              </a:spcBef>
            </a:pPr>
            <a:r>
              <a:rPr sz="1200">
                <a:solidFill>
                  <a:srgbClr val="1C1917"/>
                </a:solidFill>
                <a:latin typeface="Calibri"/>
              </a:rPr>
              <a:t>•  — Approved items move to the Audit trail immediately.</a:t>
            </a:r>
          </a:p>
          <a:p>
            <a:pPr lvl="1">
              <a:spcBef>
                <a:spcPts val="200"/>
              </a:spcBef>
            </a:pPr>
            <a:r>
              <a:rPr sz="1200">
                <a:solidFill>
                  <a:srgbClr val="1C1917"/>
                </a:solidFill>
                <a:latin typeface="Calibri"/>
              </a:rPr>
              <a:t>•  — Rejected items fire a toast and notify the initiator.</a:t>
            </a:r>
          </a:p>
          <a:p>
            <a:pPr>
              <a:spcBef>
                <a:spcPts val="400"/>
              </a:spcBef>
            </a:pPr>
          </a:p>
          <a:p>
            <a:pPr>
              <a:spcBef>
                <a:spcPts val="800"/>
              </a:spcBef>
            </a:pPr>
            <a:r>
              <a:rPr sz="1400" b="1">
                <a:solidFill>
                  <a:srgbClr val="EC0000"/>
                </a:solidFill>
                <a:latin typeface="Calibri"/>
              </a:rPr>
              <a:t>SCA (Strong Customer Authentication)</a:t>
            </a:r>
          </a:p>
          <a:p>
            <a:pPr lvl="1">
              <a:spcBef>
                <a:spcPts val="200"/>
              </a:spcBef>
            </a:pPr>
            <a:r>
              <a:rPr sz="1200">
                <a:solidFill>
                  <a:srgbClr val="1C1917"/>
                </a:solidFill>
                <a:latin typeface="Calibri"/>
              </a:rPr>
              <a:t>•  — OTP Sheet: 6-digit code, 30-second resend timer.</a:t>
            </a:r>
          </a:p>
          <a:p>
            <a:pPr lvl="1">
              <a:spcBef>
                <a:spcPts val="200"/>
              </a:spcBef>
            </a:pPr>
            <a:r>
              <a:rPr sz="1200">
                <a:solidFill>
                  <a:srgbClr val="1C1917"/>
                </a:solidFill>
                <a:latin typeface="Calibri"/>
              </a:rPr>
              <a:t>•  — Voice ID: enrol 3 phrases ('My voice is my passport' etc.)</a:t>
            </a:r>
          </a:p>
          <a:p>
            <a:pPr lvl="1">
              <a:spcBef>
                <a:spcPts val="200"/>
              </a:spcBef>
            </a:pPr>
            <a:r>
              <a:rPr sz="1200">
                <a:solidFill>
                  <a:srgbClr val="1C1917"/>
                </a:solidFill>
                <a:latin typeface="Calibri"/>
              </a:rPr>
              <a:t>•  — Device biometric: Face ID / Fingerprint / Face (Android) — switchable.</a:t>
            </a:r>
          </a:p>
          <a:p>
            <a:pPr lvl="1">
              <a:spcBef>
                <a:spcPts val="200"/>
              </a:spcBef>
            </a:pPr>
            <a:r>
              <a:rPr sz="1200">
                <a:solidFill>
                  <a:srgbClr val="1C1917"/>
                </a:solidFill>
                <a:latin typeface="Calibri"/>
              </a:rPr>
              <a:t>•  — SCA step-up matrix: 6 tiers, PSD2 RTS Art.97 compliant.</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D  ·  WORKFLOW WALKTHROUGHS</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Audit trail + Statements</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800"/>
              </a:spcBef>
            </a:pPr>
            <a:r>
              <a:rPr sz="1400" b="1">
                <a:solidFill>
                  <a:srgbClr val="EC0000"/>
                </a:solidFill>
                <a:latin typeface="Calibri"/>
              </a:rPr>
              <a:t>Audit trail</a:t>
            </a:r>
          </a:p>
          <a:p>
            <a:pPr lvl="1">
              <a:spcBef>
                <a:spcPts val="200"/>
              </a:spcBef>
            </a:pPr>
            <a:r>
              <a:rPr sz="1200">
                <a:solidFill>
                  <a:srgbClr val="1C1917"/>
                </a:solidFill>
                <a:latin typeface="Calibri"/>
              </a:rPr>
              <a:t>•  — Immutable, chronological log of all events in the prototype.</a:t>
            </a:r>
          </a:p>
          <a:p>
            <a:pPr lvl="1">
              <a:spcBef>
                <a:spcPts val="200"/>
              </a:spcBef>
            </a:pPr>
            <a:r>
              <a:rPr sz="1200">
                <a:solidFill>
                  <a:srgbClr val="1C1917"/>
                </a:solidFill>
                <a:latin typeface="Calibri"/>
              </a:rPr>
              <a:t>•  — Every workflow completion, approval, rejection, and state change is recorded.</a:t>
            </a:r>
          </a:p>
          <a:p>
            <a:pPr lvl="1">
              <a:spcBef>
                <a:spcPts val="200"/>
              </a:spcBef>
            </a:pPr>
            <a:r>
              <a:rPr sz="1200">
                <a:solidFill>
                  <a:srgbClr val="1C1917"/>
                </a:solidFill>
                <a:latin typeface="Calibri"/>
              </a:rPr>
              <a:t>•  — Shows: timestamp, action type, actor (director name), affected entity,</a:t>
            </a:r>
          </a:p>
          <a:p>
            <a:pPr lvl="1">
              <a:spcBef>
                <a:spcPts val="100"/>
              </a:spcBef>
            </a:pPr>
            <a:r>
              <a:rPr sz="1100">
                <a:solidFill>
                  <a:srgbClr val="787169"/>
                </a:solidFill>
                <a:latin typeface="Calibri"/>
              </a:rPr>
              <a:t>—  result, and any associated reference numbers.</a:t>
            </a:r>
          </a:p>
          <a:p>
            <a:pPr lvl="1">
              <a:spcBef>
                <a:spcPts val="200"/>
              </a:spcBef>
            </a:pPr>
            <a:r>
              <a:rPr sz="1200">
                <a:solidFill>
                  <a:srgbClr val="1C1917"/>
                </a:solidFill>
                <a:latin typeface="Calibri"/>
              </a:rPr>
              <a:t>•  — Export options: CSV download, PDF statement, share link.</a:t>
            </a:r>
          </a:p>
          <a:p>
            <a:pPr lvl="1">
              <a:spcBef>
                <a:spcPts val="200"/>
              </a:spcBef>
            </a:pPr>
            <a:r>
              <a:rPr sz="1200">
                <a:solidFill>
                  <a:srgbClr val="1C1917"/>
                </a:solidFill>
                <a:latin typeface="Calibri"/>
              </a:rPr>
              <a:t>•  — Designed for: compliance teams, external auditors, HMRC enquiries.</a:t>
            </a:r>
          </a:p>
          <a:p>
            <a:pPr>
              <a:spcBef>
                <a:spcPts val="400"/>
              </a:spcBef>
            </a:pPr>
          </a:p>
          <a:p>
            <a:pPr>
              <a:spcBef>
                <a:spcPts val="800"/>
              </a:spcBef>
            </a:pPr>
            <a:r>
              <a:rPr sz="1400" b="1">
                <a:solidFill>
                  <a:srgbClr val="EC0000"/>
                </a:solidFill>
                <a:latin typeface="Calibri"/>
              </a:rPr>
              <a:t>Statements (Statements tab)</a:t>
            </a:r>
          </a:p>
          <a:p>
            <a:pPr lvl="1">
              <a:spcBef>
                <a:spcPts val="200"/>
              </a:spcBef>
            </a:pPr>
            <a:r>
              <a:rPr sz="1200">
                <a:solidFill>
                  <a:srgbClr val="1C1917"/>
                </a:solidFill>
                <a:latin typeface="Calibri"/>
              </a:rPr>
              <a:t>•  — Full transaction history with rich filtering:</a:t>
            </a:r>
          </a:p>
          <a:p>
            <a:pPr lvl="1">
              <a:spcBef>
                <a:spcPts val="100"/>
              </a:spcBef>
            </a:pPr>
            <a:r>
              <a:rPr sz="1100">
                <a:solidFill>
                  <a:srgbClr val="787169"/>
                </a:solidFill>
                <a:latin typeface="Calibri"/>
              </a:rPr>
              <a:t>—  Date range selector, category (Equipment / Travel / Utilities / Sales…),</a:t>
            </a:r>
          </a:p>
          <a:p>
            <a:pPr lvl="1">
              <a:spcBef>
                <a:spcPts val="100"/>
              </a:spcBef>
            </a:pPr>
            <a:r>
              <a:rPr sz="1100">
                <a:solidFill>
                  <a:srgbClr val="787169"/>
                </a:solidFill>
                <a:latin typeface="Calibri"/>
              </a:rPr>
              <a:t>—  counterparty name search, payment method (Card / DD / SO / FP / BACS).</a:t>
            </a:r>
          </a:p>
          <a:p>
            <a:pPr lvl="1">
              <a:spcBef>
                <a:spcPts val="200"/>
              </a:spcBef>
            </a:pPr>
            <a:r>
              <a:rPr sz="1200">
                <a:solidFill>
                  <a:srgbClr val="1C1917"/>
                </a:solidFill>
                <a:latin typeface="Calibri"/>
              </a:rPr>
              <a:t>•  — Two views: chronological and by category.</a:t>
            </a:r>
          </a:p>
          <a:p>
            <a:pPr lvl="1">
              <a:spcBef>
                <a:spcPts val="200"/>
              </a:spcBef>
            </a:pPr>
            <a:r>
              <a:rPr sz="1200">
                <a:solidFill>
                  <a:srgbClr val="1C1917"/>
                </a:solidFill>
                <a:latin typeface="Calibri"/>
              </a:rPr>
              <a:t>•  — Counterparty deep-dive: tap any merchant to see all transactions with them,</a:t>
            </a:r>
          </a:p>
          <a:p>
            <a:pPr lvl="1">
              <a:spcBef>
                <a:spcPts val="100"/>
              </a:spcBef>
            </a:pPr>
            <a:r>
              <a:rPr sz="1100">
                <a:solidFill>
                  <a:srgbClr val="787169"/>
                </a:solidFill>
                <a:latin typeface="Calibri"/>
              </a:rPr>
              <a:t>—  total spend, and average transaction value.</a:t>
            </a:r>
          </a:p>
          <a:p>
            <a:pPr lvl="1">
              <a:spcBef>
                <a:spcPts val="200"/>
              </a:spcBef>
            </a:pPr>
            <a:r>
              <a:rPr sz="1200">
                <a:solidFill>
                  <a:srgbClr val="1C1917"/>
                </a:solidFill>
                <a:latin typeface="Calibri"/>
              </a:rPr>
              <a:t>•  — Supplier Radar cross-reference: Meridian Logistics flagged as high-risk</a:t>
            </a:r>
          </a:p>
          <a:p>
            <a:pPr lvl="1">
              <a:spcBef>
                <a:spcPts val="100"/>
              </a:spcBef>
            </a:pPr>
            <a:r>
              <a:rPr sz="1100">
                <a:solidFill>
                  <a:srgbClr val="787169"/>
                </a:solidFill>
                <a:latin typeface="Calibri"/>
              </a:rPr>
              <a:t>—  (261 days overdue at Companies House, £34,700 spend).</a:t>
            </a:r>
          </a:p>
          <a:p>
            <a:pPr>
              <a:spcBef>
                <a:spcPts val="400"/>
              </a:spcBef>
            </a:pPr>
          </a:p>
          <a:p>
            <a:pPr>
              <a:spcBef>
                <a:spcPts val="800"/>
              </a:spcBef>
            </a:pPr>
            <a:r>
              <a:rPr sz="1400" b="1">
                <a:solidFill>
                  <a:srgbClr val="EC0000"/>
                </a:solidFill>
                <a:latin typeface="Calibri"/>
              </a:rPr>
              <a:t>Key transactions in the demo dataset (Sep 2026)</a:t>
            </a:r>
          </a:p>
          <a:p>
            <a:pPr lvl="1">
              <a:spcBef>
                <a:spcPts val="200"/>
              </a:spcBef>
            </a:pPr>
            <a:r>
              <a:rPr sz="1200">
                <a:solidFill>
                  <a:srgbClr val="1C1917"/>
                </a:solidFill>
                <a:latin typeface="Calibri"/>
              </a:rPr>
              <a:t>•  — Whitfield invoice #4827: +£12,500 (sales) · Office Tech Solutions: -£2,400</a:t>
            </a:r>
          </a:p>
          <a:p>
            <a:pPr lvl="1">
              <a:spcBef>
                <a:spcPts val="200"/>
              </a:spcBef>
            </a:pPr>
            <a:r>
              <a:rPr sz="1200">
                <a:solidFill>
                  <a:srgbClr val="1C1917"/>
                </a:solidFill>
                <a:latin typeface="Calibri"/>
              </a:rPr>
              <a:t>•  — BT Business Broadband: -£89.99 · M&amp;S groceries: -£67.42 (personal, excluded)</a:t>
            </a:r>
          </a:p>
          <a:p>
            <a:pPr lvl="1">
              <a:spcBef>
                <a:spcPts val="200"/>
              </a:spcBef>
            </a:pPr>
            <a:r>
              <a:rPr sz="1200">
                <a:solidFill>
                  <a:srgbClr val="1C1917"/>
                </a:solidFill>
                <a:latin typeface="Calibri"/>
              </a:rPr>
              <a:t>•  — Premier Inn (client meeting): -£154.00 (low confidence — needs categorisation)</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6748272"/>
            <a:ext cx="12024360" cy="109728"/>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0"/>
            <a:ext cx="10972800" cy="457200"/>
          </a:xfrm>
          <a:prstGeom prst="rect">
            <a:avLst/>
          </a:prstGeom>
          <a:noFill/>
        </p:spPr>
        <p:txBody>
          <a:bodyPr wrap="square">
            <a:spAutoFit/>
          </a:bodyPr>
          <a:lstStyle/>
          <a:p>
            <a:pPr algn="l"/>
            <a:r>
              <a:rPr sz="1100" b="1" i="0">
                <a:solidFill>
                  <a:srgbClr val="EC0000"/>
                </a:solidFill>
                <a:latin typeface="Calibri"/>
              </a:rPr>
              <a:t>Section E  ·  Slides 28–30</a:t>
            </a:r>
          </a:p>
        </p:txBody>
      </p:sp>
      <p:sp>
        <p:nvSpPr>
          <p:cNvPr id="6" name="TextBox 5"/>
          <p:cNvSpPr txBox="1"/>
          <p:nvPr/>
        </p:nvSpPr>
        <p:spPr>
          <a:xfrm>
            <a:off x="457200" y="2560320"/>
            <a:ext cx="10058400" cy="1280160"/>
          </a:xfrm>
          <a:prstGeom prst="rect">
            <a:avLst/>
          </a:prstGeom>
          <a:noFill/>
        </p:spPr>
        <p:txBody>
          <a:bodyPr wrap="square">
            <a:spAutoFit/>
          </a:bodyPr>
          <a:lstStyle/>
          <a:p>
            <a:pPr algn="l"/>
            <a:r>
              <a:rPr sz="4000" b="1" i="0">
                <a:solidFill>
                  <a:srgbClr val="FFFFFF"/>
                </a:solidFill>
                <a:latin typeface="Calibri"/>
              </a:rPr>
              <a:t>Presenter Notes</a:t>
            </a:r>
          </a:p>
        </p:txBody>
      </p:sp>
      <p:sp>
        <p:nvSpPr>
          <p:cNvPr id="7" name="TextBox 6"/>
          <p:cNvSpPr txBox="1"/>
          <p:nvPr/>
        </p:nvSpPr>
        <p:spPr>
          <a:xfrm>
            <a:off x="457200" y="4114800"/>
            <a:ext cx="9144000" cy="548640"/>
          </a:xfrm>
          <a:prstGeom prst="rect">
            <a:avLst/>
          </a:prstGeom>
          <a:noFill/>
        </p:spPr>
        <p:txBody>
          <a:bodyPr wrap="square">
            <a:spAutoFit/>
          </a:bodyPr>
          <a:lstStyle/>
          <a:p>
            <a:pPr algn="l"/>
            <a:r>
              <a:rPr sz="1600" b="0" i="0">
                <a:solidFill>
                  <a:srgbClr val="A8A299"/>
                </a:solidFill>
                <a:latin typeface="Calibri"/>
              </a:rPr>
              <a:t>Demo script, entity switching guide, back cover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E  ·  PRESENTER NOTES</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Suggested demo script — Limited Company walkthrough</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320"/>
              </a:spcBef>
            </a:pPr>
            <a:r>
              <a:rPr sz="1240" b="1">
                <a:solidFill>
                  <a:srgbClr val="EC0000"/>
                </a:solidFill>
                <a:latin typeface="Calibri"/>
              </a:rPr>
              <a:t>Opening (2 min)</a:t>
            </a:r>
          </a:p>
          <a:p>
            <a:pPr lvl="1">
              <a:spcBef>
                <a:spcPts val="200"/>
              </a:spcBef>
            </a:pPr>
            <a:r>
              <a:rPr sz="1060">
                <a:solidFill>
                  <a:srgbClr val="1C1917"/>
                </a:solidFill>
                <a:latin typeface="Calibri"/>
              </a:rPr>
              <a:t>•  1. Open https://imscots-ui.github.io/santander on a phone or DevTools emulation.</a:t>
            </a:r>
          </a:p>
          <a:p>
            <a:pPr lvl="1">
              <a:spcBef>
                <a:spcPts val="200"/>
              </a:spcBef>
            </a:pPr>
            <a:r>
              <a:rPr sz="1060">
                <a:solidFill>
                  <a:srgbClr val="1C1917"/>
                </a:solidFill>
                <a:latin typeface="Calibri"/>
              </a:rPr>
              <a:t>•  2. Entity should read 'Limited Company'. Confirm with the pill top-left.</a:t>
            </a:r>
          </a:p>
          <a:p>
            <a:pPr lvl="1">
              <a:spcBef>
                <a:spcPts val="200"/>
              </a:spcBef>
            </a:pPr>
            <a:r>
              <a:rPr sz="1060">
                <a:solidFill>
                  <a:srgbClr val="1C1917"/>
                </a:solidFill>
                <a:latin typeface="Calibri"/>
              </a:rPr>
              <a:t>•  3. Scroll the Command Centre slowly — name each section as you pass it.</a:t>
            </a:r>
          </a:p>
          <a:p>
            <a:pPr lvl="1">
              <a:spcBef>
                <a:spcPts val="200"/>
              </a:spcBef>
            </a:pPr>
            <a:r>
              <a:rPr sz="1060">
                <a:solidFill>
                  <a:srgbClr val="1C1917"/>
                </a:solidFill>
                <a:latin typeface="Calibri"/>
              </a:rPr>
              <a:t>•  4. Highlight: 'One screen. Everything Whitfield Holdings needs to know today.'</a:t>
            </a:r>
          </a:p>
          <a:p>
            <a:pPr>
              <a:spcBef>
                <a:spcPts val="890"/>
              </a:spcBef>
            </a:pPr>
            <a:r>
              <a:rPr sz="1240" b="1">
                <a:solidFill>
                  <a:srgbClr val="EC0000"/>
                </a:solidFill>
                <a:latin typeface="Calibri"/>
              </a:rPr>
              <a:t>Forecast → Payroll (3 min)</a:t>
            </a:r>
          </a:p>
          <a:p>
            <a:pPr lvl="1">
              <a:spcBef>
                <a:spcPts val="200"/>
              </a:spcBef>
            </a:pPr>
            <a:r>
              <a:rPr sz="1060">
                <a:solidFill>
                  <a:srgbClr val="1C1917"/>
                </a:solidFill>
                <a:latin typeface="Calibri"/>
              </a:rPr>
              <a:t>•  5. Tap the amber 'Payroll run' forecast card. Walk through the wages workflow.</a:t>
            </a:r>
          </a:p>
          <a:p>
            <a:pPr lvl="1">
              <a:spcBef>
                <a:spcPts val="200"/>
              </a:spcBef>
            </a:pPr>
            <a:r>
              <a:rPr sz="1060">
                <a:solidFill>
                  <a:srgbClr val="1C1917"/>
                </a:solidFill>
                <a:latin typeface="Calibri"/>
              </a:rPr>
              <a:t>•  6. Show the payee book. Deselect one employee. Show the total update.</a:t>
            </a:r>
          </a:p>
          <a:p>
            <a:pPr lvl="1">
              <a:spcBef>
                <a:spcPts val="200"/>
              </a:spcBef>
            </a:pPr>
            <a:r>
              <a:rPr sz="1060">
                <a:solidFill>
                  <a:srgbClr val="1C1917"/>
                </a:solidFill>
                <a:latin typeface="Calibri"/>
              </a:rPr>
              <a:t>•  7. Proceed to schedule → mandate check → sign (OTP sheet).</a:t>
            </a:r>
          </a:p>
          <a:p>
            <a:pPr lvl="1">
              <a:spcBef>
                <a:spcPts val="200"/>
              </a:spcBef>
            </a:pPr>
            <a:r>
              <a:rPr sz="1060">
                <a:solidFill>
                  <a:srgbClr val="1C1917"/>
                </a:solidFill>
                <a:latin typeface="Calibri"/>
              </a:rPr>
              <a:t>•  8. Return to home. Show the 24h cooling-off card if mandate triggered it.</a:t>
            </a:r>
          </a:p>
          <a:p>
            <a:pPr>
              <a:spcBef>
                <a:spcPts val="890"/>
              </a:spcBef>
            </a:pPr>
            <a:r>
              <a:rPr sz="1240" b="1">
                <a:solidFill>
                  <a:srgbClr val="EC0000"/>
                </a:solidFill>
                <a:latin typeface="Calibri"/>
              </a:rPr>
              <a:t>MTD VAT (3 min)</a:t>
            </a:r>
          </a:p>
          <a:p>
            <a:pPr lvl="1">
              <a:spcBef>
                <a:spcPts val="200"/>
              </a:spcBef>
            </a:pPr>
            <a:r>
              <a:rPr sz="1060">
                <a:solidFill>
                  <a:srgbClr val="1C1917"/>
                </a:solidFill>
                <a:latin typeface="Calibri"/>
              </a:rPr>
              <a:t>•  9. Tap the red 'VAT return' forecast card. Switch to the Tax tab.</a:t>
            </a:r>
          </a:p>
          <a:p>
            <a:pPr>
              <a:spcBef>
                <a:spcPts val="320"/>
              </a:spcBef>
            </a:pPr>
            <a:r>
              <a:rPr sz="1150" b="0">
                <a:solidFill>
                  <a:srgbClr val="1C1917"/>
                </a:solidFill>
                <a:latin typeface="Calibri"/>
              </a:rPr>
              <a:t>10. Show the Q3 obligation card — £18,472 due, 22 days, 247 transactions.</a:t>
            </a:r>
          </a:p>
          <a:p>
            <a:pPr>
              <a:spcBef>
                <a:spcPts val="320"/>
              </a:spcBef>
            </a:pPr>
            <a:r>
              <a:rPr sz="1150" b="0">
                <a:solidFill>
                  <a:srgbClr val="1C1917"/>
                </a:solidFill>
                <a:latin typeface="Calibri"/>
              </a:rPr>
              <a:t>11. Enter the submission workflow. Review 2–3 transactions, categorise one.</a:t>
            </a:r>
          </a:p>
          <a:p>
            <a:pPr>
              <a:spcBef>
                <a:spcPts val="320"/>
              </a:spcBef>
            </a:pPr>
            <a:r>
              <a:rPr sz="1150" b="0">
                <a:solidFill>
                  <a:srgbClr val="1C1917"/>
                </a:solidFill>
                <a:latin typeface="Calibri"/>
              </a:rPr>
              <a:t>12. Show the countdown timer before HMRC submission fires.</a:t>
            </a:r>
          </a:p>
          <a:p>
            <a:pPr>
              <a:spcBef>
                <a:spcPts val="890"/>
              </a:spcBef>
            </a:pPr>
            <a:r>
              <a:rPr sz="1240" b="1">
                <a:solidFill>
                  <a:srgbClr val="EC0000"/>
                </a:solidFill>
                <a:latin typeface="Calibri"/>
              </a:rPr>
              <a:t>Stalled co-signer (2 min)</a:t>
            </a:r>
          </a:p>
          <a:p>
            <a:pPr>
              <a:spcBef>
                <a:spcPts val="320"/>
              </a:spcBef>
            </a:pPr>
            <a:r>
              <a:rPr sz="1150" b="0">
                <a:solidFill>
                  <a:srgbClr val="1C1917"/>
                </a:solidFill>
                <a:latin typeface="Calibri"/>
              </a:rPr>
              <a:t>13. Return to Home. Tap 'Simulate timeout' — show the 'Priya's on it' card.</a:t>
            </a:r>
          </a:p>
          <a:p>
            <a:pPr>
              <a:spcBef>
                <a:spcPts val="320"/>
              </a:spcBef>
            </a:pPr>
            <a:r>
              <a:rPr sz="1150" b="0">
                <a:solidFill>
                  <a:srgbClr val="1C1917"/>
                </a:solidFill>
                <a:latin typeface="Calibri"/>
              </a:rPr>
              <a:t>14. Explain: 'In the current world this would silently expire.'</a:t>
            </a:r>
          </a:p>
          <a:p>
            <a:pPr>
              <a:spcBef>
                <a:spcPts val="320"/>
              </a:spcBef>
            </a:pPr>
            <a:r>
              <a:rPr sz="1150" b="0">
                <a:solidFill>
                  <a:srgbClr val="1C1917"/>
                </a:solidFill>
                <a:latin typeface="Calibri"/>
              </a:rPr>
              <a:t>15. Tap 'Call Priya' to show the RM sheet.</a:t>
            </a:r>
          </a:p>
          <a:p>
            <a:pPr>
              <a:spcBef>
                <a:spcPts val="890"/>
              </a:spcBef>
            </a:pPr>
            <a:r>
              <a:rPr sz="1240" b="1">
                <a:solidFill>
                  <a:srgbClr val="EC0000"/>
                </a:solidFill>
                <a:latin typeface="Calibri"/>
              </a:rPr>
              <a:t>Close (1 min)</a:t>
            </a:r>
          </a:p>
          <a:p>
            <a:pPr>
              <a:spcBef>
                <a:spcPts val="320"/>
              </a:spcBef>
            </a:pPr>
            <a:r>
              <a:rPr sz="1150" b="0">
                <a:solidFill>
                  <a:srgbClr val="1C1917"/>
                </a:solidFill>
                <a:latin typeface="Calibri"/>
              </a:rPr>
              <a:t>16. Show the 'Paperless banner' — 3 forms retired, Sunderland reference.</a:t>
            </a:r>
          </a:p>
          <a:p>
            <a:pPr>
              <a:spcBef>
                <a:spcPts val="320"/>
              </a:spcBef>
            </a:pPr>
            <a:r>
              <a:rPr sz="1150" b="0">
                <a:solidFill>
                  <a:srgbClr val="1C1917"/>
                </a:solidFill>
                <a:latin typeface="Calibri"/>
              </a:rPr>
              <a:t>17. Toggle to Desktop mode. Show same state, wider layout.</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B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54864" cy="6784848"/>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7315200" cy="274320"/>
          </a:xfrm>
          <a:prstGeom prst="rect">
            <a:avLst/>
          </a:prstGeom>
          <a:noFill/>
        </p:spPr>
        <p:txBody>
          <a:bodyPr wrap="square">
            <a:spAutoFit/>
          </a:bodyPr>
          <a:lstStyle/>
          <a:p>
            <a:pPr algn="l"/>
            <a:r>
              <a:rPr sz="800" b="1" i="0">
                <a:solidFill>
                  <a:srgbClr val="A8A299"/>
                </a:solidFill>
                <a:latin typeface="Calibri"/>
              </a:rPr>
              <a:t>E  ·  PRESENTER NOTES</a:t>
            </a:r>
          </a:p>
        </p:txBody>
      </p:sp>
      <p:sp>
        <p:nvSpPr>
          <p:cNvPr id="6" name="TextBox 5"/>
          <p:cNvSpPr txBox="1"/>
          <p:nvPr/>
        </p:nvSpPr>
        <p:spPr>
          <a:xfrm>
            <a:off x="274320" y="475488"/>
            <a:ext cx="11430000" cy="777240"/>
          </a:xfrm>
          <a:prstGeom prst="rect">
            <a:avLst/>
          </a:prstGeom>
          <a:noFill/>
        </p:spPr>
        <p:txBody>
          <a:bodyPr wrap="square">
            <a:spAutoFit/>
          </a:bodyPr>
          <a:lstStyle/>
          <a:p>
            <a:pPr algn="l"/>
            <a:r>
              <a:rPr sz="2800" b="1" i="0">
                <a:solidFill>
                  <a:srgbClr val="1C1917"/>
                </a:solidFill>
                <a:latin typeface="Calibri"/>
              </a:rPr>
              <a:t>Entity switching — live demo of all 7 types</a:t>
            </a:r>
          </a:p>
        </p:txBody>
      </p:sp>
      <p:sp>
        <p:nvSpPr>
          <p:cNvPr id="7" name="Rectangle 6"/>
          <p:cNvSpPr/>
          <p:nvPr/>
        </p:nvSpPr>
        <p:spPr>
          <a:xfrm>
            <a:off x="274320" y="1298448"/>
            <a:ext cx="11521440" cy="1905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11521440" cy="5120640"/>
          </a:xfrm>
          <a:prstGeom prst="rect">
            <a:avLst/>
          </a:prstGeom>
          <a:noFill/>
        </p:spPr>
        <p:txBody>
          <a:bodyPr wrap="square">
            <a:spAutoFit/>
          </a:bodyPr>
          <a:lstStyle/>
          <a:p>
            <a:pPr>
              <a:spcBef>
                <a:spcPts val="360"/>
              </a:spcBef>
            </a:pPr>
            <a:r>
              <a:rPr sz="1220" b="0">
                <a:solidFill>
                  <a:srgbClr val="1C1917"/>
                </a:solidFill>
                <a:latin typeface="Calibri"/>
              </a:rPr>
              <a:t>The entity switcher is a key differentiator. It shows that the UI adapts</a:t>
            </a:r>
          </a:p>
          <a:p>
            <a:pPr>
              <a:spcBef>
                <a:spcPts val="360"/>
              </a:spcBef>
            </a:pPr>
            <a:r>
              <a:rPr sz="1220" b="0">
                <a:solidFill>
                  <a:srgbClr val="1C1917"/>
                </a:solidFill>
                <a:latin typeface="Calibri"/>
              </a:rPr>
              <a:t>dynamically to the legal structure of the business — not a one-size-fits-all form.</a:t>
            </a:r>
          </a:p>
          <a:p>
            <a:pPr>
              <a:spcBef>
                <a:spcPts val="360"/>
              </a:spcBef>
            </a:pPr>
            <a:r>
              <a:rPr sz="1320" b="1">
                <a:solidFill>
                  <a:srgbClr val="EC0000"/>
                </a:solidFill>
                <a:latin typeface="Calibri"/>
              </a:rPr>
              <a:t>How to switch</a:t>
            </a:r>
          </a:p>
          <a:p>
            <a:pPr lvl="1">
              <a:spcBef>
                <a:spcPts val="200"/>
              </a:spcBef>
            </a:pPr>
            <a:r>
              <a:rPr sz="1130">
                <a:solidFill>
                  <a:srgbClr val="1C1917"/>
                </a:solidFill>
                <a:latin typeface="Calibri"/>
              </a:rPr>
              <a:t>•  — Tap the pill labelled with the current entity name (e.g. 'Limited Company ›').</a:t>
            </a:r>
          </a:p>
          <a:p>
            <a:pPr lvl="1">
              <a:spcBef>
                <a:spcPts val="200"/>
              </a:spcBef>
            </a:pPr>
            <a:r>
              <a:rPr sz="1130">
                <a:solidFill>
                  <a:srgbClr val="1C1917"/>
                </a:solidFill>
                <a:latin typeface="Calibri"/>
              </a:rPr>
              <a:t>•  — A bottom sheet opens with 7 options. Tap any to switch immediately.</a:t>
            </a:r>
          </a:p>
          <a:p>
            <a:pPr>
              <a:spcBef>
                <a:spcPts val="990"/>
              </a:spcBef>
            </a:pPr>
            <a:r>
              <a:rPr sz="1320" b="1">
                <a:solidFill>
                  <a:srgbClr val="EC0000"/>
                </a:solidFill>
                <a:latin typeface="Calibri"/>
              </a:rPr>
              <a:t>What changes per entity</a:t>
            </a:r>
          </a:p>
          <a:p>
            <a:pPr lvl="1">
              <a:spcBef>
                <a:spcPts val="200"/>
              </a:spcBef>
            </a:pPr>
            <a:r>
              <a:rPr sz="1130">
                <a:solidFill>
                  <a:srgbClr val="1C1917"/>
                </a:solidFill>
                <a:latin typeface="Calibri"/>
              </a:rPr>
              <a:t>•  — Company name: 'Whitfield Holdings Ltd' → 'Whitfield &amp; Co Partnership' etc.</a:t>
            </a:r>
          </a:p>
          <a:p>
            <a:pPr lvl="1">
              <a:spcBef>
                <a:spcPts val="200"/>
              </a:spcBef>
            </a:pPr>
            <a:r>
              <a:rPr sz="1130">
                <a:solidFill>
                  <a:srgbClr val="1C1917"/>
                </a:solidFill>
                <a:latin typeface="Calibri"/>
              </a:rPr>
              <a:t>•  — Greeting: 'James' → 'Treasurer' (for charities, clubs, societies)</a:t>
            </a:r>
          </a:p>
          <a:p>
            <a:pPr lvl="1">
              <a:spcBef>
                <a:spcPts val="200"/>
              </a:spcBef>
            </a:pPr>
            <a:r>
              <a:rPr sz="1130">
                <a:solidFill>
                  <a:srgbClr val="1C1917"/>
                </a:solidFill>
                <a:latin typeface="Calibri"/>
              </a:rPr>
              <a:t>•  — Signatory labels: 'director' → 'partner' / 'trustee' / 'member'</a:t>
            </a:r>
          </a:p>
          <a:p>
            <a:pPr lvl="1">
              <a:spcBef>
                <a:spcPts val="200"/>
              </a:spcBef>
            </a:pPr>
            <a:r>
              <a:rPr sz="1130">
                <a:solidFill>
                  <a:srgbClr val="1C1917"/>
                </a:solidFill>
                <a:latin typeface="Calibri"/>
              </a:rPr>
              <a:t>•  — Account list: sole trader has 2 accounts; limited has 4; partnership has 3</a:t>
            </a:r>
          </a:p>
          <a:p>
            <a:pPr lvl="1">
              <a:spcBef>
                <a:spcPts val="200"/>
              </a:spcBef>
            </a:pPr>
            <a:r>
              <a:rPr sz="1130">
                <a:solidFill>
                  <a:srgbClr val="1C1917"/>
                </a:solidFill>
                <a:latin typeface="Calibri"/>
              </a:rPr>
              <a:t>•  — Mandate rules: sole trader is always 'Any 1'; partnership defaults to 'All'</a:t>
            </a:r>
          </a:p>
          <a:p>
            <a:pPr lvl="1">
              <a:spcBef>
                <a:spcPts val="200"/>
              </a:spcBef>
            </a:pPr>
            <a:r>
              <a:rPr sz="1130">
                <a:solidFill>
                  <a:srgbClr val="1C1917"/>
                </a:solidFill>
                <a:latin typeface="Calibri"/>
              </a:rPr>
              <a:t>•  — Companies House number shown for: Limited (07429183), LLP (OC428192)</a:t>
            </a:r>
          </a:p>
          <a:p>
            <a:pPr lvl="1">
              <a:spcBef>
                <a:spcPts val="200"/>
              </a:spcBef>
            </a:pPr>
            <a:r>
              <a:rPr sz="1130">
                <a:solidFill>
                  <a:srgbClr val="1C1917"/>
                </a:solidFill>
                <a:latin typeface="Calibri"/>
              </a:rPr>
              <a:t>•  — Charity Commission number shown for: Registered Charity (1192847)</a:t>
            </a:r>
          </a:p>
          <a:p>
            <a:pPr lvl="1">
              <a:spcBef>
                <a:spcPts val="200"/>
              </a:spcBef>
            </a:pPr>
            <a:r>
              <a:rPr sz="1130">
                <a:solidFill>
                  <a:srgbClr val="1C1917"/>
                </a:solidFill>
                <a:latin typeface="Calibri"/>
              </a:rPr>
              <a:t>•  — Minutes required: Charity, Club, Society — extra document upload step</a:t>
            </a:r>
          </a:p>
          <a:p>
            <a:pPr>
              <a:spcBef>
                <a:spcPts val="990"/>
              </a:spcBef>
            </a:pPr>
            <a:r>
              <a:rPr sz="1320" b="1">
                <a:solidFill>
                  <a:srgbClr val="EC0000"/>
                </a:solidFill>
                <a:latin typeface="Calibri"/>
              </a:rPr>
              <a:t>The 7 entity types</a:t>
            </a:r>
          </a:p>
          <a:p>
            <a:pPr lvl="1">
              <a:spcBef>
                <a:spcPts val="200"/>
              </a:spcBef>
            </a:pPr>
            <a:r>
              <a:rPr sz="1130">
                <a:solidFill>
                  <a:srgbClr val="1C1917"/>
                </a:solidFill>
                <a:latin typeface="Calibri"/>
              </a:rPr>
              <a:t>•  1. Limited Company  — the default view in this walkthrough</a:t>
            </a:r>
          </a:p>
          <a:p>
            <a:pPr lvl="1">
              <a:spcBef>
                <a:spcPts val="200"/>
              </a:spcBef>
            </a:pPr>
            <a:r>
              <a:rPr sz="1130">
                <a:solidFill>
                  <a:srgbClr val="1C1917"/>
                </a:solidFill>
                <a:latin typeface="Calibri"/>
              </a:rPr>
              <a:t>•  2. Sole Trader      — simplest: one person, single-auth, 2 accounts</a:t>
            </a:r>
          </a:p>
          <a:p>
            <a:pPr lvl="1">
              <a:spcBef>
                <a:spcPts val="200"/>
              </a:spcBef>
            </a:pPr>
            <a:r>
              <a:rPr sz="1130">
                <a:solidFill>
                  <a:srgbClr val="1C1917"/>
                </a:solidFill>
                <a:latin typeface="Calibri"/>
              </a:rPr>
              <a:t>•  3. Partnership      — all-party mandate by default, escalation for unreachable partner</a:t>
            </a:r>
          </a:p>
          <a:p>
            <a:pPr lvl="1">
              <a:spcBef>
                <a:spcPts val="200"/>
              </a:spcBef>
            </a:pPr>
            <a:r>
              <a:rPr sz="1130">
                <a:solidFill>
                  <a:srgbClr val="1C1917"/>
                </a:solidFill>
                <a:latin typeface="Calibri"/>
              </a:rPr>
              <a:t>•  4. LLP              — like limited but member labels, OC- Companies House number</a:t>
            </a:r>
          </a:p>
          <a:p>
            <a:pPr lvl="1">
              <a:spcBef>
                <a:spcPts val="200"/>
              </a:spcBef>
            </a:pPr>
            <a:r>
              <a:rPr sz="1130">
                <a:solidFill>
                  <a:srgbClr val="1C1917"/>
                </a:solidFill>
                <a:latin typeface="Calibri"/>
              </a:rPr>
              <a:t>•  5. Registered Charity — trustee labels, Charity Commission number, minutes required</a:t>
            </a:r>
          </a:p>
          <a:p>
            <a:pPr lvl="1">
              <a:spcBef>
                <a:spcPts val="200"/>
              </a:spcBef>
            </a:pPr>
            <a:r>
              <a:rPr sz="1130">
                <a:solidFill>
                  <a:srgbClr val="1C1917"/>
                </a:solidFill>
                <a:latin typeface="Calibri"/>
              </a:rPr>
              <a:t>•  6. Club             — committee member labels, no CH/CC number</a:t>
            </a:r>
          </a:p>
          <a:p>
            <a:pPr lvl="1">
              <a:spcBef>
                <a:spcPts val="200"/>
              </a:spcBef>
            </a:pPr>
            <a:r>
              <a:rPr sz="1130">
                <a:solidFill>
                  <a:srgbClr val="1C1917"/>
                </a:solidFill>
                <a:latin typeface="Calibri"/>
              </a:rPr>
              <a:t>•  7. Society          — same as club, different name prefix</a:t>
            </a:r>
          </a:p>
        </p:txBody>
      </p:sp>
      <p:sp>
        <p:nvSpPr>
          <p:cNvPr id="9" name="Rectangle 8"/>
          <p:cNvSpPr/>
          <p:nvPr/>
        </p:nvSpPr>
        <p:spPr>
          <a:xfrm>
            <a:off x="0" y="6583680"/>
            <a:ext cx="12188952" cy="27432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06540"/>
            <a:ext cx="3657600" cy="201168"/>
          </a:xfrm>
          <a:prstGeom prst="rect">
            <a:avLst/>
          </a:prstGeom>
          <a:noFill/>
        </p:spPr>
        <p:txBody>
          <a:bodyPr wrap="square">
            <a:spAutoFit/>
          </a:bodyPr>
          <a:lstStyle/>
          <a:p>
            <a:pPr algn="l"/>
            <a:r>
              <a:rPr sz="800" b="1" i="0">
                <a:solidFill>
                  <a:srgbClr val="FECACA"/>
                </a:solidFill>
                <a:latin typeface="Calibri"/>
              </a:rPr>
              <a:t>INTERNAL · CONFIDENTIAL</a:t>
            </a:r>
          </a:p>
        </p:txBody>
      </p:sp>
      <p:sp>
        <p:nvSpPr>
          <p:cNvPr id="11" name="TextBox 10"/>
          <p:cNvSpPr txBox="1"/>
          <p:nvPr/>
        </p:nvSpPr>
        <p:spPr>
          <a:xfrm>
            <a:off x="5788152" y="6606540"/>
            <a:ext cx="6126480" cy="201168"/>
          </a:xfrm>
          <a:prstGeom prst="rect">
            <a:avLst/>
          </a:prstGeom>
          <a:noFill/>
        </p:spPr>
        <p:txBody>
          <a:bodyPr wrap="square">
            <a:spAutoFit/>
          </a:bodyPr>
          <a:lstStyle/>
          <a:p>
            <a:pPr algn="r"/>
            <a:r>
              <a:rPr sz="800" b="0" i="0">
                <a:solidFill>
                  <a:srgbClr val="D6D3D1"/>
                </a:solidFill>
                <a:latin typeface="Calibri"/>
              </a:rPr>
              <a:t>Santander Business Banking · Limited Company Walkthrough · July 2026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48272"/>
            <a:ext cx="12188952" cy="109728"/>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28800"/>
            <a:ext cx="10972800" cy="1097280"/>
          </a:xfrm>
          <a:prstGeom prst="rect">
            <a:avLst/>
          </a:prstGeom>
          <a:noFill/>
        </p:spPr>
        <p:txBody>
          <a:bodyPr wrap="square">
            <a:spAutoFit/>
          </a:bodyPr>
          <a:lstStyle/>
          <a:p>
            <a:pPr algn="l"/>
            <a:r>
              <a:rPr sz="3400" b="1" i="0">
                <a:solidFill>
                  <a:srgbClr val="FFFFFF"/>
                </a:solidFill>
                <a:latin typeface="Calibri"/>
              </a:rPr>
              <a:t>Santander Business Banking</a:t>
            </a:r>
          </a:p>
        </p:txBody>
      </p:sp>
      <p:sp>
        <p:nvSpPr>
          <p:cNvPr id="6" name="TextBox 5"/>
          <p:cNvSpPr txBox="1"/>
          <p:nvPr/>
        </p:nvSpPr>
        <p:spPr>
          <a:xfrm>
            <a:off x="457200" y="3017520"/>
            <a:ext cx="10972800" cy="457200"/>
          </a:xfrm>
          <a:prstGeom prst="rect">
            <a:avLst/>
          </a:prstGeom>
          <a:noFill/>
        </p:spPr>
        <p:txBody>
          <a:bodyPr wrap="square">
            <a:spAutoFit/>
          </a:bodyPr>
          <a:lstStyle/>
          <a:p>
            <a:pPr algn="l"/>
            <a:r>
              <a:rPr sz="1600" b="1" i="0">
                <a:solidFill>
                  <a:srgbClr val="EC0000"/>
                </a:solidFill>
                <a:latin typeface="Calibri"/>
              </a:rPr>
              <a:t>Prototype — Concept piece for internal discussion only</a:t>
            </a:r>
          </a:p>
        </p:txBody>
      </p:sp>
      <p:sp>
        <p:nvSpPr>
          <p:cNvPr id="7" name="TextBox 6"/>
          <p:cNvSpPr txBox="1"/>
          <p:nvPr/>
        </p:nvSpPr>
        <p:spPr>
          <a:xfrm>
            <a:off x="457200" y="3749039"/>
            <a:ext cx="10058400" cy="411480"/>
          </a:xfrm>
          <a:prstGeom prst="rect">
            <a:avLst/>
          </a:prstGeom>
          <a:noFill/>
        </p:spPr>
        <p:txBody>
          <a:bodyPr wrap="square">
            <a:spAutoFit/>
          </a:bodyPr>
          <a:lstStyle/>
          <a:p>
            <a:pPr algn="l"/>
            <a:r>
              <a:rPr sz="1300" b="0" i="0">
                <a:solidFill>
                  <a:srgbClr val="A8A299"/>
                </a:solidFill>
                <a:latin typeface="Calibri"/>
              </a:rPr>
              <a:t>Created by Alan Davidson  ·  Alan.Davidson@santander.co.uk  ·  May 2026</a:t>
            </a:r>
          </a:p>
        </p:txBody>
      </p:sp>
      <p:sp>
        <p:nvSpPr>
          <p:cNvPr id="8" name="TextBox 7"/>
          <p:cNvSpPr txBox="1"/>
          <p:nvPr/>
        </p:nvSpPr>
        <p:spPr>
          <a:xfrm>
            <a:off x="457200" y="4297680"/>
            <a:ext cx="10515600" cy="1280160"/>
          </a:xfrm>
          <a:prstGeom prst="rect">
            <a:avLst/>
          </a:prstGeom>
          <a:noFill/>
        </p:spPr>
        <p:txBody>
          <a:bodyPr wrap="square">
            <a:spAutoFit/>
          </a:bodyPr>
          <a:lstStyle/>
          <a:p>
            <a:pPr algn="l"/>
            <a:r>
              <a:rPr sz="1000" b="0" i="0">
                <a:solidFill>
                  <a:srgbClr val="787169"/>
                </a:solidFill>
                <a:latin typeface="Calibri"/>
              </a:rPr>
              <a:t>Prototype only. No backend systems, no live data, no real customer information. All names, account numbers, sort codes, VAT registration numbers, and financial figures are fabricated for demonstration purposes. This document and the associated prototype are provided for internal discussion only and do not represent Santander's committed product roadmap or any regulatory commitment.</a:t>
            </a:r>
          </a:p>
        </p:txBody>
      </p:sp>
      <p:sp>
        <p:nvSpPr>
          <p:cNvPr id="9" name="TextBox 8"/>
          <p:cNvSpPr txBox="1"/>
          <p:nvPr/>
        </p:nvSpPr>
        <p:spPr>
          <a:xfrm>
            <a:off x="457200" y="5943600"/>
            <a:ext cx="7315200" cy="365760"/>
          </a:xfrm>
          <a:prstGeom prst="rect">
            <a:avLst/>
          </a:prstGeom>
          <a:noFill/>
        </p:spPr>
        <p:txBody>
          <a:bodyPr wrap="square">
            <a:spAutoFit/>
          </a:bodyPr>
          <a:lstStyle/>
          <a:p>
            <a:pPr algn="l"/>
            <a:r>
              <a:rPr sz="1100" b="0" i="0">
                <a:solidFill>
                  <a:srgbClr val="787169"/>
                </a:solidFill>
                <a:latin typeface="Calibri"/>
              </a:rPr>
              <a:t>imscots-ui.github.io/santander</a:t>
            </a:r>
          </a:p>
        </p:txBody>
      </p:sp>
      <p:sp>
        <p:nvSpPr>
          <p:cNvPr id="10" name="TextBox 9"/>
          <p:cNvSpPr txBox="1"/>
          <p:nvPr/>
        </p:nvSpPr>
        <p:spPr>
          <a:xfrm>
            <a:off x="8686800" y="5943600"/>
            <a:ext cx="3200400" cy="365760"/>
          </a:xfrm>
          <a:prstGeom prst="rect">
            <a:avLst/>
          </a:prstGeom>
          <a:noFill/>
        </p:spPr>
        <p:txBody>
          <a:bodyPr wrap="square">
            <a:spAutoFit/>
          </a:bodyPr>
          <a:lstStyle/>
          <a:p>
            <a:pPr algn="r"/>
            <a:r>
              <a:rPr sz="1100" b="0" i="0">
                <a:solidFill>
                  <a:srgbClr val="787169"/>
                </a:solidFill>
                <a:latin typeface="Calibri"/>
              </a:rPr>
              <a:t>July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