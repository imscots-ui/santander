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164592" cy="374903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1005840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Santander
Business Banking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i="0">
                <a:solidFill>
                  <a:srgbClr val="C0BBB5"/>
                </a:solidFill>
                <a:latin typeface="Calibri"/>
              </a:rPr>
              <a:t>A complete digital prototype — built alone — to show what's possible.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058400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Limited Company walkthrough ·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0"/>
            <a:ext cx="91440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imscots-ui.github.io/santander  ·  Alan Davidson  ·  Alan.Davidson@santander.co.uk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PROBLEM  ·  WHY THIS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UK business banking is still mostly paper. In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FOUR BANKING PAIN 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Four things every UK limited company has to do — that no banking app can do today: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CHANGE A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Add or remove a signatory. The form goes to Sunderland by post.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Average time: five working days. Often longer.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FILE A VAT RETURN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Making Tax Digital requires software. The bank is not involved.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connection between your transactions and your HMRC submission is manual.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PAY YOUR TEAM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Bulk BACS payments require either a separate system or a phone call.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bank holds the data. The bank doesn't offer the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CONFIRM YOUR IDENTITY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KYC and KYB renewals. Another form. Another envelope. Another wait.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These aren't edge cases. They are the most common tasks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business banking customer needs to do — every quarter.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THE PROTOTYPE PROVES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one of these tasks can be done: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On a mobile phone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In under ten minutes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Without a form, an envelope, or a phone call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 a full audit trail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Within FCA BCOBS 4A cooling-off rules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prototype is not a wireframe.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not a Figma mock-up.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not a proof of concept.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It is a fully functional, interactive product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that runs in any mobile browser — right now.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imscots-ui.github.io/santander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Built by one person.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Self-initiated.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In spare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  ·  JUNE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One engineer. One file. Everything a UK business bank needs.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97280"/>
            <a:ext cx="11183112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6072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280160"/>
            <a:ext cx="82296" cy="21488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5,700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lines of React — single file, zero dependencies beyond Vite + Tailwind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1850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1850" y="1280160"/>
            <a:ext cx="82296" cy="2148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1306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1306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complete paperless workflows — each a multi-step process with audit trail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7628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7628" y="1280160"/>
            <a:ext cx="82296" cy="2148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7084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7084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business entity types — Limited, Sole Trader, LLP, Partnership, Charity, Club,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3406" y="1280160"/>
            <a:ext cx="2649474" cy="2148840"/>
          </a:xfrm>
          <a:prstGeom prst="rect">
            <a:avLst/>
          </a:prstGeom>
          <a:solidFill>
            <a:srgbClr val="292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3406" y="1280160"/>
            <a:ext cx="82296" cy="2148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2862" y="1463039"/>
            <a:ext cx="2338578" cy="1188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2862" y="2743200"/>
            <a:ext cx="2338578" cy="5486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0" i="0">
                <a:solidFill>
                  <a:srgbClr val="908A84"/>
                </a:solidFill>
                <a:latin typeface="Calibri"/>
              </a:rPr>
              <a:t>paper forms required for any task the prototype covers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ACCESS  ·  IT'S LIVE RIGHT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Open it. Use it. No login, no install, no server.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HOW TO USE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1 — OPEN THE URL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imscots-ui.github.io/santander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Works on any modern mobile browser.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Chrome on Android or Safari on iPhone recommended.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2 — IF THE SCREEN LOOKS OUTDATED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The CDN caches aggressively. Long-press the reload button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on your phone and choose 'Hard refresh' — or open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 private / incognito tab.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3 — NAVIGATE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Bottom bar: Home · Approve · Audit · Tax · Statements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Home screen → tap any action tile to start a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Workflows are full-screen overlays. Back button always cancels.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4 — SWITCH ENTITY TYPES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Home screen → tap the entity pill (e.g. 'Limited Company')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to switch between all 7 business types live, mid-demo.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DESKTOP MODE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Tap the Desktop toggle in the header for a sidebar layout.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All state is shared — switching preserves everything in progress.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WHAT'S REAL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WORKS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All 5 screens — Home, Approve, Audit, Tax, Statements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All 11 workflow wizards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OTP confirmation (fake 6-digit code — any digits work)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24-hour cooling-off with live progress bar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VAT countdown overlay before HMRC submission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Voice memo (mock AI transcription)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Receipt scanning (mock OCR categorisation)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Relationship manager escalation (Priya's on it)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Payment sequencer optimiser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Desktop / mobile view toggle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Accessibility settings (dyslexia, motion, contrast, text size)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✓  Voice ID set-up and session anomaly detection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DOESN'T WORK (intentionally)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bank connection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HMRC submission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real payment processing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✗  No authentication or user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is a prototype. Every number is realistic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but fictional. No real data is stored.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HOME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Command
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One screen that knows everything about your business — before you 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WHAT'S ON THE HOME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Fifteen components. Every signal a director needs. Zero navigation required.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01–08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Editorial greeting  — personalised, date, context sentence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Total Balance hero card  — dark, animated, all accounts in one number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Proactive Forecast strip  — 3 nudge cards, colour-coded by urgency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Pre-approved lending offer  — contextual, based on trading history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05  Business Health Score  — live 0–100 weighted metric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06  Cooling-off cards  — 24h delay requests with live progress bar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07  Stalled requests  — 'Priya's on it' RM escalation card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08  MTD VAT teaser  — live countdown, amount owed, transactions to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COMPONENTS 09–15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09  Paperless banner  — '3 paper forms retired · No more posting to Sunderland'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10  Pending approvals  — items awaiting the director's signature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11  Paperless Actions grid  — 10 tiles, every banking task in one tap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12  Accounts list  — all accounts, sort codes, balances, mandate badges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13  Supplier Radar  — counterparty intelligence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14  13-week forecast chart  — smooth area chart, event markers, floor warning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15  Director Centre  — company filings and compliance calendar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principle: surface the right signal at the right time.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user should never have to navigate to find out what needs doing today.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should already know — and tell them.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01–02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Good morning, James. Everything's running normally.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The most important number in your business — front and centre, the moment you open the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The editorial greeting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Personalised to the logged-in director.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Shows today's date.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single plain-English sentence: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'Everything's running normally today.'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Or: '2 things need your signature — they're below.'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jargon. No codes.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Written in the voice of a trusted banker.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572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Total Balance hero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Dark card — animated red orb floats in the background.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One large number: total across all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Entity name and sort code.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Mandate rule badge (e.g. 'Any 1 signatory').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FSCS Protected tag.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Credit ring-fenced badge (if applicable).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Why dark: the balance is the most important number.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Calibri"/>
              </a:rPr>
              <a:t>It deserves weight.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572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990D24"/>
                </a:solidFill>
                <a:latin typeface="Calibri"/>
              </a:rPr>
              <a:t>Why it matters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Traditional banking apps open to a list of accounts.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This opens to a greeting and a number.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The difference is intent: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An account list is a ledger.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A greeting is a relationship.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In user research, 'knowing what I have'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is the #1 reason people open their banking app.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90D24"/>
                </a:solidFill>
                <a:latin typeface="Calibri"/>
              </a:rPr>
              <a:t>We answer it immediately.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03  ·  THE FLAGSHIP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Predict. Explain. 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The banking app that tells you what needs doing — before you think to 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3617976" cy="457200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783500"/>
                </a:solidFill>
                <a:latin typeface="Calibri"/>
              </a:rPr>
              <a:t>AMBER — Payroll run · in 3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Calendar icon · Amber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Payroll run · £42,180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'Balance covers it — review if payees changed'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→  Review payroll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One tap: opens the bulk payments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No navigation. No menu.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83500"/>
                </a:solidFill>
                <a:latin typeface="Calibri"/>
              </a:rPr>
              <a:t>Predict → Explain → Act.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85488" y="1691640"/>
            <a:ext cx="3617976" cy="45720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1792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7F081D"/>
                </a:solidFill>
                <a:latin typeface="Calibri"/>
              </a:rPr>
              <a:t>RED — VAT return · due in 22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1792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Receipt icon · Red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VAT return due 7 Aug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'Q3 Making Tax Digital · HMRC submission'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→  Start now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One tap: opens the MTD tax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knows the deadline.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shows the amount.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7F081D"/>
                </a:solidFill>
                <a:latin typeface="Calibri"/>
              </a:rPr>
              <a:t>The bank offers to help file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3192" y="1691640"/>
            <a:ext cx="3617976" cy="457200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59496" y="1892808"/>
            <a:ext cx="339852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A3D7F"/>
                </a:solidFill>
                <a:latin typeface="Calibri"/>
              </a:rPr>
              <a:t>BLUE — Companies House · in 14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9496" y="2377440"/>
            <a:ext cx="3398520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Building icon · Blue border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Annual confirmation due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'Companies House · Northgate Systems Ltd'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→  Run KYB check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One tap: opens the ID register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Cross-references the company's current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A3D7F"/>
                </a:solidFill>
                <a:latin typeface="Calibri"/>
              </a:rPr>
              <a:t>directors and filings automatically.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These three cards update dynamically based on the entity type selected. Charity → Charity Commission. Sole Trader → no payroll card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£45k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pre-approved business loan
from 6.9% APR
valid until 31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You're pre-approved for £45,000 — based on your real trading history.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lending card appears on the Home screen before the customer goes looking for a loan.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THIS WORKS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Not a generic offer — it references the customer's actual 6-month trading record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The APR and term are shown immediately — no 'call us' gatekeeping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One tap to draw down — a 4-step workflow with OTP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Once accepted, the card is replaced by a 'loan active' confirmation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CHANGES AFTER DRAW-DOWN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hero card updates. The Home screen shows: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'Business loan active · £45,000 drawn'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'First repayment 1 Aug 2026 · repaying over 36 months'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DESIGN INTENT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banking relationship already has the data to make a decision.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offer surfaces that decision proactively.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customer doesn't apply — they accept or decline.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banking as a service, not banking as a counter.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06–07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24-hour safety net — and what happens when it catches something.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24-HOUR COOLING-OFF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COOLING-OFF  (Component 06)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Some requests — account closures, mandate changes to higher-risk rules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are subject to a mandatory 24-hour cooling-off period.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FCA BCOBS 4A — consumer protection regulation.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Home screen shows each request as a card with: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 plain-English description of what was requested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When it will execute ('We'll do this on Monday morning')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 live amber progress bar — drains in real time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'Cancel' — triggers a confirmation before dropping the request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'Do it now' — removes the delay and executes immediately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progress bar updates every 30 seconds via a tick useEffect.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polling. No intervals without cleanup.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Working days only — pauses on weekends and bank holidays.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RELATIONSHIP MANAGER ESCALATION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STALLED REQUESTS  (Component 07)  — 'Priya's on it'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When a workflow requires two or more signatories (mandate rule 'any-2' or 'all'),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co-signer gets a push notification and has a window to respond.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If the co-signer doesn't respond in time — the request stalls.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WHAT HAPPENS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Home screen shows a 'Priya's on it' card.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Priya is the customer's Relationship Manager.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system auto-notifies Priya within 2 minutes.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card says: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'A signature didn't arrive in time.'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'Priya saw this within 2 minutes and will reach out today.'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'Nothing's been lost — just paused.'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Two actions: 'Got it' (dismiss) and 'Call Priya' (opens RM sheet).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INTENT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 missed co-signer is a known pain point. Instead of showing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'Request expired — please try again', the system surfaces a human.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The bank doesn't fail silently. It escalates visibly.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COMPONENTS 08, 09, 10,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bank knows your VAT deadline. Your bank knows your payees. Your bank knows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MTD + PAPERLESS BANNER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MTD VAT TEASER  (Component 08)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 persistent card on the Home screen, updated in real time: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'22 days · VAT due 7 Aug'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'£4,118.00 owed to HMRC'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'47 transactions to review · Q3 Jul–Sep 2026'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One tap: opens the Making Tax Digital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has already categorised the transactions.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You review, declare, and submit.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PAPERLESS BANNER  (Component 09)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'3 paper forms retired'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'No more posting to Sunderland · 5 days → minutes'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is deliberately specific — 'Sunderland' is where Santander's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business banking paper forms are physically processed.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Real customers know this. Seeing it named builds immediate trust.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TEN ACTION TILES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PAPERLESS ACTIONS GRID  (Components 10–11)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Ten action tiles in a 2-column grid. Every banking task.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Bulk payments    — CSV · BACS · FP ·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International    — FX · SWIFT · SEPA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Change mandate   — Add, remove, signing rule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Business details — Name, address, contact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Scan receipt     — Auto-categorise for MTD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ID register      — KYC Lists 1, 2 &amp; 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Dormant accounts — Reactivate or close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Close account    — Form ANB9 0370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Voice memo       — Speak → expense auto-tagged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Optimise payments — 30-day payment sequencer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Each tile links directly to a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sub-menus. No search. One tap.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tiles adapt to entity type: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Charity → 'Mandate &amp; members' instead of 'Change mandate'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Sole Trader → Payroll tile hidden (no employees)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COMMAND CENTRE  ·  COMPONENT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weeks of projected
cash flow — from
live account balances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Thirteen weeks of cash flow — before you need to worry about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13-week forecast chart is a smooth gradient area chart — not a bar chart.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WHY AREA, NOT BARS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balance over time is a trend, not a set of independent values.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smooth curve communicates continuity. Bars imply discrete events.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chart is zoomed to the actual min–max balance band,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so week-on-week movement is legible even when the balance is large.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WHAT'S ON THE CHART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Red dot = scheduled outflow (e.g. payroll run)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Rose dot = expected receipt (e.g. customer payment)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Amber ring = lowest forecast week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•  Dashed amber line = £80k working-capital floor (if crossed)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ALWAYS EXPLAINS ITSELF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'Largest outflow: Payroll run £42,180 in week 3 (15 Jul)'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'Balance dips to £68,210 in week 3, below the £80k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 working-capital floor — consider transferring from Reserve.'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A chart that doesn't explain itself is decoration.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This one tells the director what to do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THE WORKFLOWS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11 Workflows.
Zero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Every banking task a UK limited company needs — digital, audited, done.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COMPLETE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Every paper form, replaced. Every phone call, self-served.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01–06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01  ACCOUNT CLOSURE  (renderClosure)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Form ANB9 0370 — 5 steps — 24h cooling-off — full audit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02  BUSINESS DETAILS  (renderBiz)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Name, address, contact — 4 steps — OTP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03  MANDATE CHANGE  (renderMandate)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Add / remove signatories, change signing rule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Triggered by strictest account mandate — co-signer OTP if required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04  BULK PAYMENTS  (renderWages)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CSV upload → payee review → schedule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BACS · Faster Payments ·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10-second countdown before execution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05  LENDING DRAW-DOWN  (renderLending)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Pre-approved offer → terms review → OTP → active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06  FX / INTERNATIONAL  (renderFX)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SWIFT · SEPA · rate lock → counterparty → OTP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07–11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07  DORMANT ACCOUNTS  (renderDormancy)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Reactivate or close — 3 steps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08  ACCOUNT UNLINKING  (renderUnlink)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Personal / business separation — 4 steps — FCA BCOBS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09  RING-FENCING  (renderRingfence)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Credit ring-fence opt-in — 5 steps — compliance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10  KYC / KYB ID CHECK  (renderIdCheck)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ID register: Lists 1, 2 &amp; 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Companies House annual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Charity Commission (for charity entity type)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11  MTD VAT SUBMISSION  (renderMtdSubmit)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Transaction review → categorisation →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5-second HMRC countdown overlay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HMRC MTD VAT API → receipt in audit log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uses the same StepFrame shell: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Back button · step indicator · sticky footer.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produces an audit trail entry.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Every workflow resets cleanly on cancel.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749039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03  ·  MOST COMMON PAIN 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32004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5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383280"/>
            <a:ext cx="320040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0">
                <a:solidFill>
                  <a:srgbClr val="908A84"/>
                </a:solidFill>
                <a:latin typeface="Calibri"/>
              </a:rPr>
              <a:t>→ 6 minutes
mandate change
without a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731520"/>
            <a:ext cx="768096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" b="1" i="0">
                <a:solidFill>
                  <a:srgbClr val="1C1917"/>
                </a:solidFill>
                <a:latin typeface="Calibri"/>
              </a:rPr>
              <a:t>Change a signatory — from 5 days by post to 6 minutes on your phone.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1920240"/>
            <a:ext cx="76809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2057400"/>
            <a:ext cx="7680960" cy="4389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CURRENT STATE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Adding or removing a company signatory at Santander requires a paper form.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That form goes to Sunderland. Average turnaround: 5 working days.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THE PROTOTYPE WORKFLOW  (6 steps)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1.  Select the account(s) to change the mandate on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2.  Choose new signing rule: Any 1 / Any 2 / All signatories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3.  Add new signatories (name, email, role)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4.  Review — the strictest mandate across selected accounts applies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5.  OTP confirmation via SMS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6.  If new rule requires cooling-off: 24h delay, shown on Home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MANDATE LOGIC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getMandateFor(accountNos) picks the strictest rule across selected accounts.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'all' &gt; 'any-2' &gt; 'any-1'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A request covering two accounts — one 'any-1', one 'all' — requires all signatories.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This is the correct regulatory behaviour, enforced in the UI automatically.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WHAT THE CUSTOMER SEES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mandate rule badge on each account changes instantly on confirmation.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cooling-off card appears on the Home screen if applicable.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44403C"/>
                </a:solidFill>
                <a:latin typeface="Calibri"/>
              </a:rPr>
              <a:t>  The audit trail records the exact change, who made it, and when.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  ·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File your VAT return from your phone — in 5 steps.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STEPS 1–3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1  —  REVIEW TRANSACTIONS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All transactions in the VAT quarter shown by the bank.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Each one is pre-categorised. Confirm or correct each line.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2  —  CATEGORISE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Receipts scanned earlier auto-populate this step.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Voice memos from the Home screen also feed in.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Manual override available per transaction.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3  —  REVIEW FIGURES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VAT due: £4,118.00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Output tax (sales): £18,472.40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Input tax (purchases): £14,354.40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Period: Q3 Jul–Sep 2026 · Due: 7 Nov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STEPS 4–5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4  — 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'I declare that the information given in this return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is true, complete and accurate.'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statutory HMRC wording.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Checkbox. Timestamp. Logged in audit trail.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Director's name and role recorded.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STEP 5  —  THE COUNTDOWN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'Filing your VAT return'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 5-second countdown ring with 'sec' label.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Amber note: 'Filed returns cannot be corrected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through this app — contact HMRC to amend.'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Grey Cancel button — not red, not alarming.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At zero: submitted to HMRC.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Receipt number logged in the Audit tab.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 11  ·  MTD HMRC VAT SUBMISSION  ·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Why the countdown. Why grey. Why the bank — not the spreadsheet.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COUNTDOWN — DESIGN RATIONALE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WHY THE COUNTDOWN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HMRC VAT returns, once filed, cannot be amended through the same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API call — a correction requires a separate amendment.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5-second countdown gives the user one last chance to stop.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panic. Without red buttons.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 DECISIONS IN THE COUNTDOWN OVERLAY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Heading: 'Filing your VAT return'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not 'One last chance to stop'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(previous version; changed — it was alarming)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Cancel button: stone-100 grey (secondary)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— not red (previous version confused users: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cancel should not look like a danger action)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Ring: r=46, larger than original, with 'sec' label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Details pill: left-aligned · label · £4,118.00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Amber warning: shortened to one clear sentence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THE BIGGER PICTURE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WHY IT MATTERS — THE BIGGER PICTURE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Most UK businesses still file VAT via bridging software: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Accountant exports bank data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Accountant pastes into spreadsheet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Spreadsheet feeds into bridging software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Bridging software submits to HMRC MTD API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already holds all the transaction data.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This prototype shows that the bank could: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Auto-categorise every transaction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Calculate the VAT figures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Present the declaration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Submit directly to HMRC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the customer ever opening a spreadsheet.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an accountant involved in the mechanics.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Without bridging software.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bank becomes the tax agent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not just the ledger.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WORKFLOWS  ·  FURTHER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Bulk payments. International FX. Account closure. All paperless.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143000"/>
            <a:ext cx="36576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Bulk Payments — Wages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renderWages  ·  5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148840"/>
            <a:ext cx="3383280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CSV file → payee review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Each payee: name, sort code,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account, amount, reference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Mandate check: if total &gt; threshold,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co-signer approval required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Payment rail: BACS / Faster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Payments / CHAPS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10-second countdown before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execution — cancel anytime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Audit entry: each payee,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amount, time, authorising directors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6824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6824" y="1143000"/>
            <a:ext cx="3657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FX / International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renderFX  ·  4 steps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148840"/>
            <a:ext cx="3383280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Currency selection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Amount + rate lock (live mock rate)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SWIFT / SEPA / correspondent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Counterparty management: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saved payees with full bank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details + compliance flags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OTP confirmation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Supports: EUR, USD, CHF,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JPY, CAD, AUD — plus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SEPA zone countries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FX rate displayed with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spread and settlement date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0728" y="1143000"/>
            <a:ext cx="365760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10728" y="1143000"/>
            <a:ext cx="36576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298448"/>
            <a:ext cx="33832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1737360"/>
            <a:ext cx="338328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1">
                <a:solidFill>
                  <a:srgbClr val="78716C"/>
                </a:solidFill>
                <a:latin typeface="Calibri"/>
              </a:rPr>
              <a:t>renderClosure  ·  Form ANB9 0370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148840"/>
            <a:ext cx="3383280" cy="4160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Select account to close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State reason (regulatory)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Transfer remaining balance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Mandatory 24h cooling-off: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FCA consumer protection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Cannot close if: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Outstanding direct debits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Pending transactions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  · Only business account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Audit entry: full closure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record, timestamp, director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44403C"/>
                </a:solidFill>
                <a:latin typeface="Calibri"/>
              </a:rPr>
              <a:t>who authorised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86000"/>
            <a:ext cx="182880" cy="2286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05840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PRESENTER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91440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 i="0">
                <a:solidFill>
                  <a:srgbClr val="A8A29A"/>
                </a:solidFill>
                <a:latin typeface="Calibri"/>
              </a:rPr>
              <a:t>A complete Limited Company walkthrough — from open to submitted VAT return.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  ·  PART 1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Suggested script — 10 minutes, every headline feature. Opening + Command Centre + VAT.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OPENING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OPENING  (1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Open imscots-ui.github.io/santander on your phone.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'This is a fully working banking app — built as a prototype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to show what Business Banking could look like.'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VAT SUBMISSION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VAT SUBMISSION  (3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the Tax tab (bottom bar).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'Making Tax Digital. The bank has already categorised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your transactions. You review, declare, and submit.'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Walk through steps 1–3.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On step 3: 'Figures come directly from the bank's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transaction data — no spreadsheet, no bridging software.'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Submit → show the countdown: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'5 seconds. One last chance to cancel.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Then it goes to HMRC. Receipt in the audit log.'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COMMAND CENTRE SECTION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The Command Centre — 3 minutes of your 10-minute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115568"/>
            <a:ext cx="1118311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61872"/>
            <a:ext cx="1078992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THE COMMAND CENTRE  (3 min)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Point to the balance hero card: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'Total balance, one number, immediately.'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Forecast strip: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'The bank tells you what needs doing.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Payroll in 3 days. VAT in 22 days.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Companies House in 14 days.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Each one taps directly into the workflow.'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Tap 'Review payroll'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→ show the wages workflow briefly → back.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Actions grid: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'10 tasks. All the ones that currently require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a phone call or a letter to Sunderland.'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Scroll to the forecast chart: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'13 weeks of cash flow. The bank knows payroll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lands in week 3. It flags that the balance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1C1917"/>
                </a:solidFill>
                <a:latin typeface="Calibri"/>
              </a:rPr>
              <a:t>   dips below £80k — consider a Reserve transfer.'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LIMITED COMPANY WALKTHROUGH  ·  PART 2 OF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Mandate change. Entity switching. Closing line. Follow-up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43000"/>
            <a:ext cx="539496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MANDATE CHANGE + CLOSING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81328"/>
            <a:ext cx="5394960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00200"/>
            <a:ext cx="5166360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MANDATE CHANGE  (2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Home → Paperless Actions → 'Change mandate'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'Adding a signatory currently takes 5 days by post.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Here it takes 6 minutes. OTP confirmation.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Cooling-off if required by the mandate rule.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Audit trail automatically created.'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Show step 1: select account.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Show step 2: choose signing rule.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Cancel — no need to complete the workflow.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CLOSING  (1 min)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Tap the entity pill at the top of the Home screen.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'It supports 7 business types — Limited Company,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Sole Trader, LLP, Partnership, Charity, Club, Society.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Switch live in the demo and every screen updates.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Different accounts. Different mandate rules.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Different KYC requirements.'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Switch to Charity → show entity name changes.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Switch back to Limited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143000"/>
            <a:ext cx="5522976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CLOSING LINE + FOLLOW-UP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8" y="1481328"/>
            <a:ext cx="5522976" cy="502920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00200"/>
            <a:ext cx="5294376" cy="4846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THE CLOSING LINE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'This is one prototype.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Built alone. In spare time.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It's live right now — you can open it on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your phone in this room.',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'The question is: what could a team build?'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AFTER THE DEMO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Suggested follow-up questions: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What workflows are most painful for your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business customers right now?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Would you like to see any specific entity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type — Charity, LLP, Sole Trader?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What would you want to see in 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   production roadmap?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  •  Who else in your team should see this?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PRESENTER GUIDE  ·  ENTITY SWITCHING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"/>
            <a:ext cx="111556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1C1917"/>
                </a:solidFill>
                <a:latin typeface="Calibri"/>
              </a:rPr>
              <a:t>Switch between 7 business types live — mid-demo. Everything updates.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11183112" cy="320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97280"/>
            <a:ext cx="1115568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i="1">
                <a:solidFill>
                  <a:srgbClr val="78716C"/>
                </a:solidFill>
                <a:latin typeface="Calibri"/>
              </a:rPr>
              <a:t>Tap the entity pill on the Home screen (e.g. 'Limited Company') to open the Entity sheet.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77440"/>
            <a:ext cx="2466594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4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Any-1 · Any-2 · All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mandates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Directors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Companies House #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Form ANB9 0370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MTD VAT enabled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3562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9866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9866" y="2377440"/>
            <a:ext cx="2466594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2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Any-1 mandate only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directors —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just the owner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payroll tile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Self-assessment MTD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49340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5644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Charity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5644" y="2377440"/>
            <a:ext cx="2466594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3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All-signatory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Trustees not directors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Charity Commission #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Not Companies House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Gift Aid tile added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45118" y="1691640"/>
            <a:ext cx="2686050" cy="4572000"/>
          </a:xfrm>
          <a:prstGeom prst="rect">
            <a:avLst/>
          </a:prstGeom>
          <a:solidFill>
            <a:srgbClr val="F5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1422" y="1892808"/>
            <a:ext cx="2466594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 / Partnership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1422" y="2377440"/>
            <a:ext cx="2466594" cy="3657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3–4 accounts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Any-2 or All mandate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Designated members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or partners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LLP agreement refs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1C1917"/>
                </a:solidFill>
                <a:latin typeface="Calibri"/>
              </a:rPr>
              <a:t>No share capital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11183112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78716C"/>
                </a:solidFill>
                <a:latin typeface="Calibri"/>
              </a:rPr>
              <a:t>Club and Society entity types are also available — they use a Treasurer role rather than Director, and have simplified account structures.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0"/>
            <a:ext cx="164592" cy="1828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10058400" cy="914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C0BBB5"/>
                </a:solidFill>
                <a:latin typeface="Calibri"/>
              </a:rPr>
              <a:t>Alan Davidson  ·  Alan.Davidson@santander.co.uk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51960"/>
            <a:ext cx="100584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0" i="0">
                <a:solidFill>
                  <a:srgbClr val="C8102E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1">
                <a:solidFill>
                  <a:srgbClr val="55504C"/>
                </a:solidFill>
                <a:latin typeface="Calibri"/>
              </a:rPr>
              <a:t>Self-initiated concept piece. Prototype only — no backend, no real data. Built to demonstrate what's possible.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