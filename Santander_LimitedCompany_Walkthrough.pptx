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7" name="TextBox 6"/>
          <p:cNvSpPr txBox="1"/>
          <p:nvPr/>
        </p:nvSpPr>
        <p:spPr>
          <a:xfrm>
            <a:off x="457200" y="457200"/>
            <a:ext cx="4572000" cy="457200"/>
          </a:xfrm>
          <a:prstGeom prst="rect">
            <a:avLst/>
          </a:prstGeom>
          <a:noFill/>
        </p:spPr>
        <p:txBody>
          <a:bodyPr wrap="square">
            <a:spAutoFit/>
          </a:bodyPr>
          <a:lstStyle/>
          <a:p>
            <a:pPr algn="l"/>
            <a:r>
              <a:rPr sz="1100" b="0" i="0">
                <a:solidFill>
                  <a:srgbClr val="A8A299"/>
                </a:solidFill>
                <a:latin typeface="Calibri"/>
              </a:rPr>
              <a:t>Santander Business Banking</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C8102E"/>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~5,700 lines) and deployed on GitHub Pages.</a:t>
            </a:r>
          </a:p>
          <a:p>
            <a:pPr>
              <a:spcBef>
                <a:spcPts val="400"/>
              </a:spcBef>
            </a:pPr>
          </a:p>
          <a:p>
            <a:pPr>
              <a:spcBef>
                <a:spcPts val="800"/>
              </a:spcBef>
            </a:pPr>
            <a:r>
              <a:rPr sz="1400" b="1">
                <a:solidFill>
                  <a:srgbClr val="C8102E"/>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C8102E"/>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C8102E"/>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C8102E"/>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C8102E"/>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C8102E"/>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C8102E"/>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C8102E"/>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C8102E"/>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C8102E"/>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C8102E"/>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C8102E"/>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C8102E"/>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10 workflow tiles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C8102E"/>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C8102E"/>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C8102E"/>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C8102E"/>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C8102E"/>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C8102E"/>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C8102E"/>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C8102E"/>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C8102E"/>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C8102E"/>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C8102E"/>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C8102E"/>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C8102E"/>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C8102E"/>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C8102E"/>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C8102E"/>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C8102E"/>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C8102E"/>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11 paperless journeys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Mechanics</a:t>
            </a:r>
          </a:p>
          <a:p>
            <a:pPr lvl="1">
              <a:spcBef>
                <a:spcPts val="200"/>
              </a:spcBef>
            </a:pPr>
            <a:r>
              <a:rPr sz="1200">
                <a:solidFill>
                  <a:srgbClr val="1C1917"/>
                </a:solidFill>
                <a:latin typeface="Calibri"/>
              </a:rPr>
              <a:t>•  — Tapping an action tile or forecast card opens a full-screen workflow overlay.</a:t>
            </a:r>
          </a:p>
          <a:p>
            <a:pPr lvl="1">
              <a:spcBef>
                <a:spcPts val="200"/>
              </a:spcBef>
            </a:pPr>
            <a:r>
              <a:rPr sz="1200">
                <a:solidFill>
                  <a:srgbClr val="1C1917"/>
                </a:solidFill>
                <a:latin typeface="Calibri"/>
              </a:rPr>
              <a:t>•  — Each workflow is step-based (0-indexed). Progress dots across the top.</a:t>
            </a:r>
          </a:p>
          <a:p>
            <a:pPr lvl="1">
              <a:spcBef>
                <a:spcPts val="200"/>
              </a:spcBef>
            </a:pPr>
            <a:r>
              <a:rPr sz="1200">
                <a:solidFill>
                  <a:srgbClr val="1C1917"/>
                </a:solidFill>
                <a:latin typeface="Calibri"/>
              </a:rPr>
              <a:t>•  — Back button: goes to previous step. At step 0, closes the workflow entirely.</a:t>
            </a:r>
          </a:p>
          <a:p>
            <a:pPr lvl="1">
              <a:spcBef>
                <a:spcPts val="200"/>
              </a:spcBef>
            </a:pPr>
            <a:r>
              <a:rPr sz="1200">
                <a:solidFill>
                  <a:srgbClr val="1C1917"/>
                </a:solidFill>
                <a:latin typeface="Calibri"/>
              </a:rPr>
              <a:t>•  — 'Replaces' footer: shows which paper form or manual process this replaces.</a:t>
            </a:r>
          </a:p>
          <a:p>
            <a:pPr>
              <a:spcBef>
                <a:spcPts val="400"/>
              </a:spcBef>
            </a:pPr>
          </a:p>
          <a:p>
            <a:pPr>
              <a:spcBef>
                <a:spcPts val="800"/>
              </a:spcBef>
            </a:pPr>
            <a:r>
              <a:rPr sz="1400" b="1">
                <a:solidFill>
                  <a:srgbClr val="C8102E"/>
                </a:solidFill>
                <a:latin typeface="Calibri"/>
              </a:rPr>
              <a:t>The 11 workflows</a:t>
            </a:r>
          </a:p>
          <a:p>
            <a:pPr lvl="1">
              <a:spcBef>
                <a:spcPts val="200"/>
              </a:spcBef>
            </a:pPr>
            <a:r>
              <a:rPr sz="1200">
                <a:solidFill>
                  <a:srgbClr val="1C1917"/>
                </a:solidFill>
                <a:latin typeface="Calibri"/>
              </a:rPr>
              <a:t>•  1.  Account closure        — Form ANB9 0370 · 4 steps · 24h cooling-off</a:t>
            </a:r>
          </a:p>
          <a:p>
            <a:pPr lvl="1">
              <a:spcBef>
                <a:spcPts val="200"/>
              </a:spcBef>
            </a:pPr>
            <a:r>
              <a:rPr sz="1200">
                <a:solidFill>
                  <a:srgbClr val="1C1917"/>
                </a:solidFill>
                <a:latin typeface="Calibri"/>
              </a:rPr>
              <a:t>•  2.  Business details (Biz) — Name, address, authorised contact · 4 steps</a:t>
            </a:r>
          </a:p>
          <a:p>
            <a:pPr lvl="1">
              <a:spcBef>
                <a:spcPts val="200"/>
              </a:spcBef>
            </a:pPr>
            <a:r>
              <a:rPr sz="1200">
                <a:solidFill>
                  <a:srgbClr val="1C1917"/>
                </a:solidFill>
                <a:latin typeface="Calibri"/>
              </a:rPr>
              <a:t>•  3.  Mandate change         — Add/remove signatories, change signing rule · 5 steps</a:t>
            </a:r>
          </a:p>
          <a:p>
            <a:pPr lvl="1">
              <a:spcBef>
                <a:spcPts val="200"/>
              </a:spcBef>
            </a:pPr>
            <a:r>
              <a:rPr sz="1200">
                <a:solidFill>
                  <a:srgbClr val="1C1917"/>
                </a:solidFill>
                <a:latin typeface="Calibri"/>
              </a:rPr>
              <a:t>•  4.  Bulk payments (Wages)  — Persistent payee book, CSV upload, BACS · 4 steps</a:t>
            </a:r>
          </a:p>
          <a:p>
            <a:pPr lvl="1">
              <a:spcBef>
                <a:spcPts val="200"/>
              </a:spcBef>
            </a:pPr>
            <a:r>
              <a:rPr sz="1200">
                <a:solidFill>
                  <a:srgbClr val="1C1917"/>
                </a:solidFill>
                <a:latin typeface="Calibri"/>
              </a:rPr>
              <a:t>•  5.  Lending draw-down      — Pre-approved offer, term selector · 4 steps</a:t>
            </a:r>
          </a:p>
          <a:p>
            <a:pPr lvl="1">
              <a:spcBef>
                <a:spcPts val="200"/>
              </a:spcBef>
            </a:pPr>
            <a:r>
              <a:rPr sz="1200">
                <a:solidFill>
                  <a:srgbClr val="1C1917"/>
                </a:solidFill>
                <a:latin typeface="Calibri"/>
              </a:rPr>
              <a:t>•  6.  FX / International     — SWIFT/SEPA, rate lock, counterparty · 4 steps</a:t>
            </a:r>
          </a:p>
          <a:p>
            <a:pPr lvl="1">
              <a:spcBef>
                <a:spcPts val="200"/>
              </a:spcBef>
            </a:pPr>
            <a:r>
              <a:rPr sz="1200">
                <a:solidFill>
                  <a:srgbClr val="1C1917"/>
                </a:solidFill>
                <a:latin typeface="Calibri"/>
              </a:rPr>
              <a:t>•  7.  Dormancy management    — Reactivate or close dormant accounts · 3 steps</a:t>
            </a:r>
          </a:p>
          <a:p>
            <a:pPr lvl="1">
              <a:spcBef>
                <a:spcPts val="200"/>
              </a:spcBef>
            </a:pPr>
            <a:r>
              <a:rPr sz="1200">
                <a:solidFill>
                  <a:srgbClr val="1C1917"/>
                </a:solidFill>
                <a:latin typeface="Calibri"/>
              </a:rPr>
              <a:t>•  8.  Account unlinking      — Separate personal from business data · 3 steps</a:t>
            </a:r>
          </a:p>
          <a:p>
            <a:pPr lvl="1">
              <a:spcBef>
                <a:spcPts val="200"/>
              </a:spcBef>
            </a:pPr>
            <a:r>
              <a:rPr sz="1200">
                <a:solidFill>
                  <a:srgbClr val="1C1917"/>
                </a:solidFill>
                <a:latin typeface="Calibri"/>
              </a:rPr>
              <a:t>•  9.  Credit ring-fence      — Exclude personal data from credit decisions · 3 steps</a:t>
            </a:r>
          </a:p>
          <a:p>
            <a:pPr>
              <a:spcBef>
                <a:spcPts val="400"/>
              </a:spcBef>
            </a:pPr>
            <a:r>
              <a:rPr sz="1300" b="0">
                <a:solidFill>
                  <a:srgbClr val="1C1917"/>
                </a:solidFill>
                <a:latin typeface="Calibri"/>
              </a:rPr>
              <a:t>10.  ID register (KYB)      — KYC lists 1, 2 &amp; 3 per signatory · 4 steps</a:t>
            </a:r>
          </a:p>
          <a:p>
            <a:pPr>
              <a:spcBef>
                <a:spcPts val="400"/>
              </a:spcBef>
            </a:pPr>
            <a:r>
              <a:rPr sz="1300" b="0">
                <a:solidFill>
                  <a:srgbClr val="1C1917"/>
                </a:solidFill>
                <a:latin typeface="Calibri"/>
              </a:rPr>
              <a:t>11.  MTD VAT submission     — Transaction review, categorise, declare · 4 steps</a:t>
            </a:r>
          </a:p>
          <a:p>
            <a:pPr>
              <a:spcBef>
                <a:spcPts val="400"/>
              </a:spcBef>
            </a:pPr>
          </a:p>
          <a:p>
            <a:pPr>
              <a:spcBef>
                <a:spcPts val="800"/>
              </a:spcBef>
            </a:pPr>
            <a:r>
              <a:rPr sz="1400" b="1">
                <a:solidFill>
                  <a:srgbClr val="C8102E"/>
                </a:solidFill>
                <a:latin typeface="Calibri"/>
              </a:rPr>
              <a:t>Mandate logic</a:t>
            </a:r>
          </a:p>
          <a:p>
            <a:pPr lvl="1">
              <a:spcBef>
                <a:spcPts val="200"/>
              </a:spcBef>
            </a:pPr>
            <a:r>
              <a:rPr sz="1200">
                <a:solidFill>
                  <a:srgbClr val="1C1917"/>
                </a:solidFill>
                <a:latin typeface="Calibri"/>
              </a:rPr>
              <a:t>•  — getMandateFor() picks the strictest rule across selected accounts.</a:t>
            </a:r>
          </a:p>
          <a:p>
            <a:pPr lvl="1">
              <a:spcBef>
                <a:spcPts val="200"/>
              </a:spcBef>
            </a:pPr>
            <a:r>
              <a:rPr sz="120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C8102E"/>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C8102E"/>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C8102E"/>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C8102E"/>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C8102E"/>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C8102E"/>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C8102E"/>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C8102E"/>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C8102E"/>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C8102E"/>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C8102E"/>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C8102E"/>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C8102E"/>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C8102E"/>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C8102E"/>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C8102E"/>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