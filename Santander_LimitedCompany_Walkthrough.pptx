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1868912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</a:rPr>
              <a:t>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43891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SANTANDER BUSINESS BANKING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515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</a:rPr>
              <a:t>Limited Company
Portfolio Walkthrough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233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CCCCC"/>
                </a:solidFill>
              </a:rPr>
              <a:t>A step-by-step navigation guide to the prototype — screens, workflows, and the Director Command Centre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9377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88888"/>
                </a:solidFill>
              </a:rPr>
              <a:t>This document is intended for presenters and reviewers. All entity type: Limited Company (default).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09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</a:rPr>
              <a:t>June 2026  ·  Confidential  ·  HMS 1701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</a:rPr>
              <a:t>How to Access the Prototype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1127455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11274552" cy="100584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0972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Live URL: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109728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CCAA"/>
                </a:solidFill>
              </a:rPr>
              <a:t>https://imscots-ui.github.io/santander/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08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</a:rPr>
              <a:t>Works on any device · No login · No install · Fully self-contained single HTML file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94560"/>
            <a:ext cx="3566160" cy="3474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194560"/>
            <a:ext cx="3566160" cy="4572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2402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Mobile layout (default)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788920"/>
            <a:ext cx="329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Open URL on any phone or desktop browser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090672"/>
            <a:ext cx="329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Five-tab bottom navigation bar: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392424"/>
            <a:ext cx="329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  Home · Approve · Audit · MTD · Statements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3694176"/>
            <a:ext cx="329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Tap tiles on Home to launch workflows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995928"/>
            <a:ext cx="329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All 11 workflows open as full-screen overlays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0" y="2194560"/>
            <a:ext cx="3566160" cy="3474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97680" y="2194560"/>
            <a:ext cx="3566160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34840" y="22402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Desktop layout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2788920"/>
            <a:ext cx="329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Tap the monitor icon (bottom-right) to switch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3090672"/>
            <a:ext cx="329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Left sidebar replaces bottom nav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3392424"/>
            <a:ext cx="329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Full screen layout — same content, wider view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34840" y="3694176"/>
            <a:ext cx="329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Sidebar: direct links to all workflows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34840" y="3995928"/>
            <a:ext cx="329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Switch back at any time — state preserved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46720" y="2194560"/>
            <a:ext cx="3657600" cy="3474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46720" y="2194560"/>
            <a:ext cx="3657600" cy="457200"/>
          </a:xfrm>
          <a:prstGeom prst="rect">
            <a:avLst/>
          </a:prstGeom>
          <a:solidFill>
            <a:srgbClr val="787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83879" y="224028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Demo reset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83879" y="278892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Tap the accessibility icon (⚙) bottom-right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83879" y="3090672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Scroll to footer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83879" y="3392424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Tap "Reset demo"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79" y="3694176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Full page reload — clean slate guaranteed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83879" y="3995928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No localStorage used — reload is complete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88952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CCCC"/>
                </a:solidFill>
              </a:rPr>
              <a:t>SCREEN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Home Screen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CCCC"/>
                </a:solidFill>
              </a:rPr>
              <a:t>Account balances · Quick actions · Cash flow forecast · Director Command Centre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</a:rPr>
              <a:t>Home Screen — Account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10332720" y="182880"/>
            <a:ext cx="1554480" cy="41148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78440" y="2286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STEP 1 of 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04672"/>
            <a:ext cx="1127455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1_home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3200400" cy="6936681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20040" y="868680"/>
            <a:ext cx="3291840" cy="5166360"/>
          </a:xfrm>
          <a:prstGeom prst="rect">
            <a:avLst/>
          </a:prstGeom>
          <a:solidFill>
            <a:srgbClr val="E0D8D0"/>
          </a:solidFill>
          <a:ln>
            <a:solidFill>
              <a:srgbClr val="C0B8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0" y="960120"/>
            <a:ext cx="79552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What you see on opening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77639" y="1399032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Entity label: "Whitfield &amp; Associates Ltd." (limited company)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7639" y="1700784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Three active accounts with balances: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2002536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  Operating Account · £284,750.00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639" y="2304288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  Business Reserve · £1,240,500.00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77639" y="260604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  Payroll Account · £195,830.82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907792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Total funds: £1,721,080.82 (shown in hero card)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3209544"/>
            <a:ext cx="795527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8716C"/>
                </a:solidFill>
              </a:rPr>
              <a:t>Navigation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77639" y="3593592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Bottom bar: Home · Approve · Audit · MTD · Statements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3895344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Top-right: entity switcher, notifications bell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77639" y="4197096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Red top bar = Santander brand identifier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0" y="6080760"/>
            <a:ext cx="7955279" cy="594360"/>
          </a:xfrm>
          <a:prstGeom prst="rect">
            <a:avLst/>
          </a:prstGeom>
          <a:solidFill>
            <a:srgbClr val="F0E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77639" y="6126480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8716C"/>
                </a:solidFill>
              </a:rPr>
              <a:t>⟶  To navigate: tap a bottom-nav tab, or scroll down to see actions and forecast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</a:rPr>
              <a:t>Home Screen — Director Command Centre</a:t>
            </a:r>
          </a:p>
        </p:txBody>
      </p:sp>
      <p:sp>
        <p:nvSpPr>
          <p:cNvPr id="5" name="Rectangle 4"/>
          <p:cNvSpPr/>
          <p:nvPr/>
        </p:nvSpPr>
        <p:spPr>
          <a:xfrm>
            <a:off x="10332720" y="182880"/>
            <a:ext cx="1554480" cy="41148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78440" y="2286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STEP 2 of 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04672"/>
            <a:ext cx="1127455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2_director_cent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3200400" cy="6936681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20040" y="868680"/>
            <a:ext cx="3291840" cy="5166360"/>
          </a:xfrm>
          <a:prstGeom prst="rect">
            <a:avLst/>
          </a:prstGeom>
          <a:solidFill>
            <a:srgbClr val="E0D8D0"/>
          </a:solidFill>
          <a:ln>
            <a:solidFill>
              <a:srgbClr val="C0B8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0" y="960120"/>
            <a:ext cx="79552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What it 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77639" y="1399032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A live corporate governance panel on the Home screen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7639" y="1700784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Shows all 4 directors with real-time KYC status and pending-work badges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2002536"/>
            <a:ext cx="795527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8716C"/>
                </a:solidFill>
              </a:rPr>
              <a:t>The four directors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639" y="2386584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James Whitfield — Director — KYC Verified 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77639" y="2688336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Sarah Chen — Finance Director — KYC Verified 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990088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Tom Bridges — Operations Lead — KYC Under Review 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77639" y="329184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  (passport expired — amber status, action required)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77639" y="3593592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Anita Roy — Director — KYC Verified 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3895344"/>
            <a:ext cx="795527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8716C"/>
                </a:solidFill>
              </a:rPr>
              <a:t>Pending-approval badges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77639" y="4279392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Red numbered badges show each person's outstanding approvals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77639" y="4581144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"View all" top-right → navigates to the Approve/Sign screen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0" y="6080760"/>
            <a:ext cx="7955279" cy="594360"/>
          </a:xfrm>
          <a:prstGeom prst="rect">
            <a:avLst/>
          </a:prstGeom>
          <a:solidFill>
            <a:srgbClr val="F0E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77639" y="6126480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8716C"/>
                </a:solidFill>
              </a:rPr>
              <a:t>⟶  Scroll down past account tiles to reach the Director Command Centre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</a:rPr>
              <a:t>Director Command Centre — Full Description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1127455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11274552" cy="6858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024128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What is it?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1024128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CCC"/>
                </a:solidFill>
              </a:rPr>
              <a:t>A live corporate governance panel embedded in the Home screen giving the account holder a single-glance view of all authorised signatories, their identity-verification status, and their outstanding approval workload — without navigating away from the dashboard.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28800"/>
            <a:ext cx="11274552" cy="3657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874519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Why it exists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402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</a:rPr>
              <a:t>▪  FCA BCOBS 4A and AML regulations require companies to maintain verified KYC for every signatory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5146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</a:rPr>
              <a:t>▪  Compliance teams are penalised if any director KYC lapses — the amber badge is a live risk flag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78892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</a:rPr>
              <a:t>▪  In multi-director companies, the account holder cannot see at a glance who has outstanding approvals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063239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</a:rPr>
              <a:t>▪  This panel solves that: one screen, all directors, full status — no drilling through menus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447287"/>
            <a:ext cx="11274552" cy="3657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493007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How it functions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85876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</a:rPr>
              <a:t>▪  2×2 grid of signatory cards — one per director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133087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</a:rPr>
              <a:t>▪  Each card: initials avatar, full name, role, last-active timestamp, KYC badge, pending-count badge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407407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</a:rPr>
              <a:t>▪  KYC badge: green "Verified", amber "Under Review", red "Expired" — colour-coded for fast scanning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681727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</a:rPr>
              <a:t>▪  Pending badge (Santander red circle, white number): outstanding approvals awaiting that person's signature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956047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</a:rPr>
              <a:t>▪  "View all" link top-right routes to the Approve/Sign tab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230367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</a:rPr>
              <a:t>▪  Tom Bridges amber state: passport expired — clicking his card would route to KYC renewal workflow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614415"/>
            <a:ext cx="11274552" cy="365760"/>
          </a:xfrm>
          <a:prstGeom prst="rect">
            <a:avLst/>
          </a:prstGeom>
          <a:solidFill>
            <a:srgbClr val="787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60135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In context of the demo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025895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</a:rPr>
              <a:t>▪  Hardcoded to limited-company directors — NOT entity-aware (known limitation)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300215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</a:rPr>
              <a:t>▪  When switching to sole trader mid-demo the panel still shows the 4-director grid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574535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</a:rPr>
              <a:t>▪  Recommendation: keep entity on "limited company" when showcasing this feature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848855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</a:rPr>
              <a:t>▪  The reviewer who commented "really liked the command centre" was seeing the limited-company view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</a:rPr>
              <a:t>Home Screen — Cash Flow Forecast</a:t>
            </a:r>
          </a:p>
        </p:txBody>
      </p:sp>
      <p:sp>
        <p:nvSpPr>
          <p:cNvPr id="5" name="Rectangle 4"/>
          <p:cNvSpPr/>
          <p:nvPr/>
        </p:nvSpPr>
        <p:spPr>
          <a:xfrm>
            <a:off x="10332720" y="182880"/>
            <a:ext cx="1554480" cy="41148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78440" y="2286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STEP 3 of 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04672"/>
            <a:ext cx="1127455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3_forec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3200400" cy="6936681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20040" y="868680"/>
            <a:ext cx="3291840" cy="5166360"/>
          </a:xfrm>
          <a:prstGeom prst="rect">
            <a:avLst/>
          </a:prstGeom>
          <a:solidFill>
            <a:srgbClr val="E0D8D0"/>
          </a:solidFill>
          <a:ln>
            <a:solidFill>
              <a:srgbClr val="C0B8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0" y="960120"/>
            <a:ext cx="79552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13-week rolling cash flow forecast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77639" y="1399032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Bars use a zoomed-axis: scale = [min balance, max balance] over 13 weeks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7639" y="1700784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This prevents the "flat wall" problem on healthy entities (£1.72M balance)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2002536"/>
            <a:ext cx="795527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8716C"/>
                </a:solidFill>
              </a:rPr>
              <a:t>Named cash events (limited company)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639" y="2386584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Week 1: VAT settlement £41,614 — amber insight row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77639" y="2688336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Week 3: Payroll run £29,650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990088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Week 6: Quarterly supplier payment £8,400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77639" y="329184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Weeks 0/3/6/9: Customer receipts £28,000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3593592"/>
            <a:ext cx="795527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8716C"/>
                </a:solidFill>
              </a:rPr>
              <a:t>What the presenter should say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397764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"The bars compress to the actual swing range — we see real volatility"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77639" y="4279392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"Each dot = a named event; the weekly row tells you what it is"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0" y="4581144"/>
            <a:ext cx="795527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8716C"/>
                </a:solidFill>
              </a:rPr>
              <a:t>Switching to sole trader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4965192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Sole-trader balance: £61,250 — VAT settlement fires the amber warning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0" y="6080760"/>
            <a:ext cx="7955279" cy="594360"/>
          </a:xfrm>
          <a:prstGeom prst="rect">
            <a:avLst/>
          </a:prstGeom>
          <a:solidFill>
            <a:srgbClr val="F0E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77639" y="6126480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8716C"/>
                </a:solidFill>
              </a:rPr>
              <a:t>⟶  Scroll down past Director Command Centre to reach the forecast chart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</a:rPr>
              <a:t>Approve / Sign Screen</a:t>
            </a:r>
          </a:p>
        </p:txBody>
      </p:sp>
      <p:sp>
        <p:nvSpPr>
          <p:cNvPr id="5" name="Rectangle 4"/>
          <p:cNvSpPr/>
          <p:nvPr/>
        </p:nvSpPr>
        <p:spPr>
          <a:xfrm>
            <a:off x="10332720" y="182880"/>
            <a:ext cx="1554480" cy="41148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78440" y="2286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STEP 4 of 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04672"/>
            <a:ext cx="1127455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4_appro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3200400" cy="6936681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20040" y="868680"/>
            <a:ext cx="3291840" cy="5166360"/>
          </a:xfrm>
          <a:prstGeom prst="rect">
            <a:avLst/>
          </a:prstGeom>
          <a:solidFill>
            <a:srgbClr val="E0D8D0"/>
          </a:solidFill>
          <a:ln>
            <a:solidFill>
              <a:srgbClr val="C0B8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0" y="960120"/>
            <a:ext cx="79552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Co-sign authority hub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77639" y="1399032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Lists all pending requests requiring director signatures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7639" y="1700784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Each card shows: action type, initiator, date/time, accounts affected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2002536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Status badges: "Awaiting signature", "Cooling off (21h)", "Stalled"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2304288"/>
            <a:ext cx="795527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8716C"/>
                </a:solidFill>
              </a:rPr>
              <a:t>For limited company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77639" y="2688336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Dual-sig rule: "any-2" — any 2 of 4 directors must sign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990088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Sarah Chen shown as required co-signer (Finance Director)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77639" y="329184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Signatures meter: (1 of 2 required) with progress indicator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3593592"/>
            <a:ext cx="795527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8716C"/>
                </a:solidFill>
              </a:rPr>
              <a:t>Cooling-off period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397764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Certain actions (mandate changes, closures) hold for 24 working hours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77639" y="4279392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Live countdown bar refreshes every 30 seconds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77639" y="4581144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"Stalled" card: Priya (Relationship Manager) escalation path shown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0" y="6080760"/>
            <a:ext cx="7955279" cy="594360"/>
          </a:xfrm>
          <a:prstGeom prst="rect">
            <a:avLst/>
          </a:prstGeom>
          <a:solidFill>
            <a:srgbClr val="F0E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77639" y="6126480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8716C"/>
                </a:solidFill>
              </a:rPr>
              <a:t>⟶  Tap "Approve" in the bottom navigation bar to reach this screen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</a:rPr>
              <a:t>Audit Trail Screen</a:t>
            </a:r>
          </a:p>
        </p:txBody>
      </p:sp>
      <p:sp>
        <p:nvSpPr>
          <p:cNvPr id="5" name="Rectangle 4"/>
          <p:cNvSpPr/>
          <p:nvPr/>
        </p:nvSpPr>
        <p:spPr>
          <a:xfrm>
            <a:off x="10332720" y="182880"/>
            <a:ext cx="1554480" cy="41148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78440" y="2286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STEP 5 of 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04672"/>
            <a:ext cx="1127455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5_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3200400" cy="6936681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20040" y="868680"/>
            <a:ext cx="3291840" cy="5166360"/>
          </a:xfrm>
          <a:prstGeom prst="rect">
            <a:avLst/>
          </a:prstGeom>
          <a:solidFill>
            <a:srgbClr val="E0D8D0"/>
          </a:solidFill>
          <a:ln>
            <a:solidFill>
              <a:srgbClr val="C0B8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0" y="960120"/>
            <a:ext cx="79552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Immutable, exportable audit log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77639" y="1399032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Every action on every account is timestamped and logged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7639" y="1700784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FCA and internal compliance requirement — cannot be altered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2002536"/>
            <a:ext cx="795527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8716C"/>
                </a:solidFill>
              </a:rPr>
              <a:t>What each entry shows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639" y="2386584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Date · time · action type · initiator · authorising director(s)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77639" y="2688336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Account affected · amount (where applicable)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990088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Digital signature hash (simulated) for tamper evidence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3291840"/>
            <a:ext cx="795527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8716C"/>
                </a:solidFill>
              </a:rPr>
              <a:t>Filters available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77639" y="3675888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By account, by date range, by action type, by director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397764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Export to PDF or CSV — sent to registered email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4279392"/>
            <a:ext cx="795527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8716C"/>
                </a:solidFill>
              </a:rPr>
              <a:t>Why it matters in the demo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77639" y="466344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Shows regulators that every mandate change, closure, and payment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4965192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  has a complete, verifiable chain of authority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0" y="6080760"/>
            <a:ext cx="7955279" cy="594360"/>
          </a:xfrm>
          <a:prstGeom prst="rect">
            <a:avLst/>
          </a:prstGeom>
          <a:solidFill>
            <a:srgbClr val="F0E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77639" y="6126480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8716C"/>
                </a:solidFill>
              </a:rPr>
              <a:t>⟶  Tap "Audit" in the bottom navigation bar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</a:rPr>
              <a:t>Making Tax Digital (MTD) Screen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1127455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6_mt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3200400" cy="693668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20040" y="868680"/>
            <a:ext cx="3291840" cy="5166360"/>
          </a:xfrm>
          <a:prstGeom prst="rect">
            <a:avLst/>
          </a:prstGeom>
          <a:solidFill>
            <a:srgbClr val="E0D8D0"/>
          </a:solidFill>
          <a:ln>
            <a:solidFill>
              <a:srgbClr val="C0B8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0" y="960120"/>
            <a:ext cx="79552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HMRC Making Tax Digital integration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1399032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VAT returns submitted directly from the banking app — no third-party software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1700784"/>
            <a:ext cx="795527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8716C"/>
                </a:solidFill>
              </a:rPr>
              <a:t>VAT position summary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77639" y="2084832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Current period VAT output tax and input tax reconciled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7639" y="2386584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Liability or repayment figure shown in large format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2688336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Submission deadline countdown (e.g. "Due in 14 days")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2990088"/>
            <a:ext cx="795527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8716C"/>
                </a:solidFill>
              </a:rPr>
              <a:t>Submit workflow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77639" y="3374136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Tap "Submit VAT Return" → launches renderMtdSubmit workflow overlay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3675888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Multi-step: review figures → confirm identity → OTP → submit to HMRC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77639" y="397764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Confirmation: HMRC reference number returned inline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4279392"/>
            <a:ext cx="795527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8716C"/>
                </a:solidFill>
              </a:rPr>
              <a:t>Regulatory context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466344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MTD for VAT is mandatory for all VAT-registered businesses since April 2022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77639" y="4965192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Integration directly in the banking app removes the need for bridging software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0" y="6080760"/>
            <a:ext cx="7955279" cy="594360"/>
          </a:xfrm>
          <a:prstGeom prst="rect">
            <a:avLst/>
          </a:prstGeom>
          <a:solidFill>
            <a:srgbClr val="F0E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77639" y="6126480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8716C"/>
                </a:solidFill>
              </a:rPr>
              <a:t>⟶  Tap "MTD" in the bottom navigation bar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</a:rPr>
              <a:t>Statements Screen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1127455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7_state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3200400" cy="693668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20040" y="868680"/>
            <a:ext cx="3291840" cy="5166360"/>
          </a:xfrm>
          <a:prstGeom prst="rect">
            <a:avLst/>
          </a:prstGeom>
          <a:solidFill>
            <a:srgbClr val="E0D8D0"/>
          </a:solidFill>
          <a:ln>
            <a:solidFill>
              <a:srgbClr val="C0B8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0" y="960120"/>
            <a:ext cx="79552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Transaction history and statement download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1399032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Full transaction history across all accounts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1700784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Filter by account, date range, transaction type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2002536"/>
            <a:ext cx="795527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8716C"/>
                </a:solidFill>
              </a:rPr>
              <a:t>Each transaction shows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7639" y="2386584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Date · description · counterparty name · amount (in/out)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2688336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Running balance after each entry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639" y="2990088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Tabular-figures class (num-tab) for column alignment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3291840"/>
            <a:ext cx="795527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8716C"/>
                </a:solidFill>
              </a:rPr>
              <a:t>Statement options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3675888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Download PDF — generates formatted bank statement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77639" y="397764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Request postal — triggers CancelSheet flow (paperless opt-in check)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77639" y="4279392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Savings overview — opens SavingsSheet with 7 product forms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4581144"/>
            <a:ext cx="795527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8716C"/>
                </a:solidFill>
              </a:rPr>
              <a:t>Seven savings products available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77639" y="4965192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Business Money Market · Business Instant Saver · 32-Day Notice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77639" y="5266944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60-Day Notice · Fixed Rate 1yr · Fixed Rate 2yr · Ring-Fenced Reserves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0" y="6080760"/>
            <a:ext cx="7955279" cy="594360"/>
          </a:xfrm>
          <a:prstGeom prst="rect">
            <a:avLst/>
          </a:prstGeom>
          <a:solidFill>
            <a:srgbClr val="F0E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77639" y="6126480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8716C"/>
                </a:solidFill>
              </a:rPr>
              <a:t>⟶  Tap "Statements" in the bottom navigation bar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8102E"/>
                </a:solidFill>
              </a:rPr>
              <a:t>WORKFLOWS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Step-by-step overlays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99999"/>
                </a:solidFill>
              </a:rPr>
              <a:t>Eleven wizards — each launched from the Home screen action tiles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</a:rPr>
              <a:t>Workflow: Account Closure (renderClosure)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1127455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8_clo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3200400" cy="693668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20040" y="868680"/>
            <a:ext cx="3291840" cy="5166360"/>
          </a:xfrm>
          <a:prstGeom prst="rect">
            <a:avLst/>
          </a:prstGeom>
          <a:solidFill>
            <a:srgbClr val="E0D8D0"/>
          </a:solidFill>
          <a:ln>
            <a:solidFill>
              <a:srgbClr val="C0B8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0" y="960120"/>
            <a:ext cx="79552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Account Closure wizard — 4 steps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1399032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Step 1: Select account(s) to close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1700784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Step 2: Choose closure reason (options: dormant, consolidation, switching)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77639" y="2002536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Step 3: Confirm — mandate check fires; shows dual-sig requirement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7639" y="2304288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Step 4: OTP authentication → confirmation with ref number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2606040"/>
            <a:ext cx="795527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8716C"/>
                </a:solidFill>
              </a:rPr>
              <a:t>Cooling-off behaviour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639" y="2990088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Closure requests with "any-1" rule execute immediately after OTP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77639" y="329184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Requests under "any-2" or "all" rules enter 24h cooling-off queue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3593592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Live countdown visible in the Approve screen cooling-off card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3895344"/>
            <a:ext cx="795527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8716C"/>
                </a:solidFill>
              </a:rPr>
              <a:t>How to launch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77639" y="4279392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Home screen → scroll to action tiles → tap "Close account"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4581144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Or desktop sidebar → "Account closure" link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40480" y="6080760"/>
            <a:ext cx="7955279" cy="594360"/>
          </a:xfrm>
          <a:prstGeom prst="rect">
            <a:avLst/>
          </a:prstGeom>
          <a:solidFill>
            <a:srgbClr val="F0E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77639" y="6126480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8716C"/>
                </a:solidFill>
              </a:rPr>
              <a:t>⟶  Home screen → action tiles → "Close account"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</a:rPr>
              <a:t>Workflow: Mandate Change (renderMandate)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1127455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9_mand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3200400" cy="693668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20040" y="868680"/>
            <a:ext cx="3291840" cy="5166360"/>
          </a:xfrm>
          <a:prstGeom prst="rect">
            <a:avLst/>
          </a:prstGeom>
          <a:solidFill>
            <a:srgbClr val="E0D8D0"/>
          </a:solidFill>
          <a:ln>
            <a:solidFill>
              <a:srgbClr val="C0B8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0" y="960120"/>
            <a:ext cx="79552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Mandate Change wizard — 5 steps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1399032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Step 1: Select account(s) whose mandate to change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1700784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Step 2: Choose new rule (Any 1, Any 2, All signatories)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77639" y="2002536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Step 3: Review — shows current vs proposed rule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7639" y="2304288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Step 4: Co-signer invitation — sends request to Sarah Chen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260604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Step 5: OTP → 24h cooling-off period begins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2907792"/>
            <a:ext cx="795527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8716C"/>
                </a:solidFill>
              </a:rPr>
              <a:t>Why cooling-off matters here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77639" y="329184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Mandate changes are irreversible once executed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3593592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FCA BCOBS 4A requires a working-day hold to protect against coercion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77639" y="3895344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Progress bar appears in the Approve screen with live countdown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4197096"/>
            <a:ext cx="795527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8716C"/>
                </a:solidFill>
              </a:rPr>
              <a:t>Mandate rules in the prototype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4581144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Any-1: any single director can authorise (low-value accounts)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77639" y="4882896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Any-2: two directors must co-sign (high-value accounts)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77639" y="5184648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All: every director must sign (reserved for closures)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0" y="6080760"/>
            <a:ext cx="7955279" cy="594360"/>
          </a:xfrm>
          <a:prstGeom prst="rect">
            <a:avLst/>
          </a:prstGeom>
          <a:solidFill>
            <a:srgbClr val="F0E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77639" y="6126480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8716C"/>
                </a:solidFill>
              </a:rPr>
              <a:t>⟶  Home screen → action tiles → "Change mandate"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</a:rPr>
              <a:t>All 11 Workflow Wizards — Quick Reference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1127455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</a:rPr>
              <a:t>All 11 Workflow Wizards — Quick Reference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804672"/>
            <a:ext cx="1127455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32688"/>
            <a:ext cx="2926079" cy="34747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987552"/>
            <a:ext cx="2880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Workflow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720" y="932688"/>
            <a:ext cx="1920240" cy="34747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6160" y="987552"/>
            <a:ext cx="1874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Function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0" y="932688"/>
            <a:ext cx="1645920" cy="34747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77840" y="987552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Steps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23760" y="932688"/>
            <a:ext cx="2999232" cy="34747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0" y="987552"/>
            <a:ext cx="2880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Entry point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1298448"/>
            <a:ext cx="11274552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134416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</a:rPr>
              <a:t>Account Closure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134416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8716C"/>
                </a:solidFill>
              </a:rPr>
              <a:t>renderClosure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77840" y="1344168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</a:rPr>
              <a:t>4 steps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134416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</a:rPr>
              <a:t>Home → Close account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1627631"/>
            <a:ext cx="11274552" cy="329184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1673351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</a:rPr>
              <a:t>KYC / KYB Identity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1673351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8716C"/>
                </a:solidFill>
              </a:rPr>
              <a:t>renderBiz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77840" y="1673351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</a:rPr>
              <a:t>5 steps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1673351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</a:rPr>
              <a:t>Home → Verify business identity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1956815"/>
            <a:ext cx="11274552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2002535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</a:rPr>
              <a:t>Mandate Change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66160" y="2002535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8716C"/>
                </a:solidFill>
              </a:rPr>
              <a:t>renderMandate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77840" y="2002535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</a:rPr>
              <a:t>5 steps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0" y="2002535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</a:rPr>
              <a:t>Home → Change mandate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2285999"/>
            <a:ext cx="11274552" cy="329184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2331719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</a:rPr>
              <a:t>Bulk Wages Payment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66160" y="2331719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8716C"/>
                </a:solidFill>
              </a:rPr>
              <a:t>renderWages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77840" y="2331719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</a:rPr>
              <a:t>6 steps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0" y="2331719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</a:rPr>
              <a:t>Home → Pay wages / salaries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2615183"/>
            <a:ext cx="11274552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2660903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</a:rPr>
              <a:t>Business Lending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66160" y="2660903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8716C"/>
                </a:solidFill>
              </a:rPr>
              <a:t>renderLending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2660903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</a:rPr>
              <a:t>4 steps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0" y="2660903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</a:rPr>
              <a:t>Home tiles or Desktop sidebar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2944367"/>
            <a:ext cx="11274552" cy="329184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2990087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</a:rPr>
              <a:t>FX / International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2990087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8716C"/>
                </a:solidFill>
              </a:rPr>
              <a:t>renderFX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2990087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</a:rPr>
              <a:t>4 steps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0" y="2990087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</a:rPr>
              <a:t>Home tiles or Desktop sidebar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3273551"/>
            <a:ext cx="11274552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48640" y="3319271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</a:rPr>
              <a:t>Account Dormancy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66160" y="3319271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8716C"/>
                </a:solidFill>
              </a:rPr>
              <a:t>renderDormancy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577840" y="3319271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</a:rPr>
              <a:t>3 steps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15200" y="3319271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</a:rPr>
              <a:t>Home → Dormant account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3602735"/>
            <a:ext cx="11274552" cy="329184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8640" y="3648455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</a:rPr>
              <a:t>Account Unlink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566160" y="3648455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8716C"/>
                </a:solidFill>
              </a:rPr>
              <a:t>renderUnlink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577840" y="3648455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</a:rPr>
              <a:t>3 steps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15200" y="3648455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</a:rPr>
              <a:t>Home → Unlink account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7200" y="3931919"/>
            <a:ext cx="11274552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8640" y="3977639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</a:rPr>
              <a:t>Ring-Fencing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566160" y="3977639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8716C"/>
                </a:solidFill>
              </a:rPr>
              <a:t>renderRingfence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577840" y="3977639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</a:rPr>
              <a:t>4 steps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315200" y="3977639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</a:rPr>
              <a:t>Home → Ring-fence funds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57200" y="4261103"/>
            <a:ext cx="11274552" cy="329184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8640" y="4306823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</a:rPr>
              <a:t>ID / Biometric Check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566160" y="4306823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8716C"/>
                </a:solidFill>
              </a:rPr>
              <a:t>renderIdCheck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577840" y="4306823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</a:rPr>
              <a:t>3 steps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315200" y="4306823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</a:rPr>
              <a:t>Home → Verify identity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57200" y="4590288"/>
            <a:ext cx="11274552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48640" y="4636007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</a:rPr>
              <a:t>MTD VAT Submission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566160" y="4636007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8716C"/>
                </a:solidFill>
              </a:rPr>
              <a:t>renderMtdSubmit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577840" y="4636007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</a:rPr>
              <a:t>5 steps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5200" y="4636007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</a:rPr>
              <a:t>MTD tab → Submit VAT return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57200" y="5010912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</a:rPr>
              <a:t>All workflows launched from Home screen action tiles. Desktop sidebar also provides direct links to all 11.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</a:rPr>
              <a:t>Switching Entity Type — Live Mid-Demo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1127455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</a:rPr>
              <a:t>Switching Entity Type — Live Mid-Demo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804672"/>
            <a:ext cx="1127455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394960" cy="5303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960120"/>
            <a:ext cx="5394960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0058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Limited Company (default — demo here)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5544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Operating Account: £284,750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8470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Business Reserve: £1,240,500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1396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Payroll Account: £195,830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2432303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Total: £1,721,080.82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017519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Mandate: "any-2" (dual-sig)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310127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Directors: James, Sarah, Tom, Anita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602735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KYC: 3 verified, 1 under review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3895343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Director Command Centre: FULL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4187951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Forecast: healthy (no amber warning)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4480559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Cooling-off: standard 24h working day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960120"/>
            <a:ext cx="5422392" cy="5303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09360" y="960120"/>
            <a:ext cx="5422392" cy="4572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10058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Sole Trader (switch ONLY for forecast moment)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15544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Trading Account: £48,750.32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18470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Tax Reserve: £12,500.00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21396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Total: £61,250.32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2724911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Mandate: "any-1" (sole authority)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6520" y="3017519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Signatory: single owner only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20" y="3602735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Director Command Centre: ⚠ shows limited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3895343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  company directors (known limitation)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6520" y="4187951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Forecast: AMBER — "VAT direct debit £41,614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46520" y="4480559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  — 23 July" fires the warning correctly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6520" y="477316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▪  Cooling-off: same-day execution (any-1 rule)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6172200"/>
            <a:ext cx="11274552" cy="502920"/>
          </a:xfrm>
          <a:prstGeom prst="rect">
            <a:avLst/>
          </a:prstGeom>
          <a:solidFill>
            <a:srgbClr val="F0E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" y="62179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8716C"/>
                </a:solidFill>
              </a:rPr>
              <a:t>⟶  How to switch: Home screen → top-right entity label → select entity from dropdown → all state, accounts and rules update instantly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</a:rPr>
              <a:t>Suggested Presenter Script — Limited Company Demo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1127455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</a:rPr>
              <a:t>Suggested Presenter Script — Limited Company Demo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804672"/>
            <a:ext cx="1127455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11274552" cy="3657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1498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ACT 1 — Opening (2 min)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71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"Open the app on your phone or follow along on the screen."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6420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"This is Whitfield &amp; Associates Ltd — a limited company with four directors."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956816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"We can see all three active accounts and our total position of £1.72 million."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249424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"Scroll down — here's the Director Command Centre. Four directors, live KYC status."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2542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"Tom Bridges has an amber badge — his passport has expired. We can route him to renewal from here."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2834639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"The red badges show each director's pending approvals — no hunting through emails."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218687"/>
            <a:ext cx="11274552" cy="3657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273551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ACT 2 — Workflows (4 min)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3630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"Let's raise a mandate change — we want dual-sig on the Operating Account."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3922776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"Home → Change mandate. Select account. Choose Any-2. Sarah Chen gets a co-sign request."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4215384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"It enters a 24-hour cooling-off — FCA requirement, protects against coercion."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5079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"Meanwhile let's look at the Approve screen — live countdown, signatures meter."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800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"Now the Audit trail — every action, every director, immutable. FCA ready."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184648"/>
            <a:ext cx="11274552" cy="365760"/>
          </a:xfrm>
          <a:prstGeom prst="rect">
            <a:avLst/>
          </a:prstGeom>
          <a:solidFill>
            <a:srgbClr val="787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523951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ACT 3 — Forecast switch (2 min)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55961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"Switch entity to Sole Trader — top-right corner."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5888736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"Same app. Same workflows. But now the forecast changes completely."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6181344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"Balance drops to £61,250 — VAT direct debit of £41,614 on 23 July triggers an amber warning."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64739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"We name every event: payroll, VAT, supplier, customer receipts — not just a chart."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67665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</a:rPr>
              <a:t>"Switch back to limited company to close — the company view is where we started."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1868912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</a:rPr>
              <a:t>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43891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SANTANDER BUSINESS BANKING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CCCCCC"/>
                </a:solidFill>
              </a:rPr>
              <a:t>Live demo: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228600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C8102E"/>
                </a:solidFill>
              </a:rPr>
              <a:t>https://imscots-ui.github.io/santander/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00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888888"/>
                </a:solidFill>
              </a:rPr>
              <a:t>Author: Alan Davidson · Business Banking Advisor Capacity Build
June 2026 · Confidential · HMS 1701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</a:rPr>
              <a:t>For questions about the prototype or this walkthrough, contact the HMS 1701 project.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