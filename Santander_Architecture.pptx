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FFFF"/>
                </a:solidFill>
                <a:latin typeface="Calibri"/>
              </a:rPr>
              <a:t>Architecture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E5E5E4"/>
                </a:solidFill>
                <a:latin typeface="Calibri"/>
              </a:rPr>
              <a:t>Santander Business Banking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C8102E"/>
                </a:solidFill>
                <a:latin typeface="Calibri"/>
              </a:rPr>
              <a:t>June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12680" y="274320"/>
            <a:ext cx="1783080" cy="31089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310896"/>
            <a:ext cx="1783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Calibri"/>
              </a:rPr>
              <a:t>INTERNAL ·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The Single-File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App.jsx — ~5,700 lines, one React function component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Intentional choice: read the entire product top-to-bottom without navigating modules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backend, no real API calls (except Google Fonts)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Build output: single self-contained HTML file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Bundle size: ~870 KB total, ~190 KB gzip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Deployed to GitHub Pages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Trade-off: monolith size vs. navigation simplicity for a prototype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9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C8102E"/>
                </a:solidFill>
                <a:latin typeface="Calibri"/>
              </a:rPr>
              <a:t>INTERNAL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Internal Component Order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46304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lines ~28–685 (120+ state variables)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2996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2996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029968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ENTITY_INFO, accounts (useMemo), mtdData, statementsData (useMemo)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59689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9689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Inline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596896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css template literal: brand colours, animations, glass effects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163824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163824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Primitive components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163824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ProgressDots, StepFrame, Input, Field, Toggle (closures, no hooks)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30752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30752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Workflow renderers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730752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renderClosure, renderBiz, renderMandate, renderWages, renderLending, renderFX, renderDormancy, renderUnlink, renderRingfence, renderIdCheck, renderMtdSubmit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9768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9768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Screen components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297680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HomeScreen, ApproveScreen, AuditScreen, StatementsScreen, MTDScreen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6460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64608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Sheet/modal components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864608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15 sheets: OTPSheet, ComplianceSheet, SavingsSheet, RMSheet, EntitySheet, CancelSheet, ReceiptSheet, PinSheet, OBSheet, VoiceMemoSheet, SequencerSheet, VoiceIdSheet, NotificationsSheet, CounterpartySheet, A11ySheet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43153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C8102E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3153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Calibri"/>
              </a:rPr>
              <a:t>Main render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5431536"/>
            <a:ext cx="9235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E5E5E4"/>
                </a:solidFill>
                <a:latin typeface="Calibri"/>
              </a:rPr>
              <a:t>desktop sidebar + mobile bottom nav code paths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Hook Discipline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120+ state variables declared at the top of App (lines ~28–685)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Strict rule: no hook may appear after line ~744 (the closeWorkflow boundary)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All renderXxx functions and screen components are closures — they cannot hold their own hooks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All workflow state must be reset in closeWorkflow() to prevent ghost state between workflows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useEffect used sparingly: tick timer (30s interval), font loading, scroll resets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useMemo for accounts and statementsData — derived from entityType and payment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Navigation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7132320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tab state (main screen)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'home' | 'approve' | 'audit' | 'mtd'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'statements'         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▼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workflow state (full-screen overlay)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null | 'closure' | 'biz' | 'mandate'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'wages' | 'lending' | 'fx' | 'dormancy'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'unlink' | 'ringfence' | 'idcheck'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| 'mtd-submit'               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              ▼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┌─────────────────────────────────────────────┐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│  step state (0-based position in workflow)  │</a:t>
            </a:r>
          </a:p>
          <a:p>
            <a:r>
              <a:rPr sz="1000">
                <a:solidFill>
                  <a:srgbClr val="1C1917"/>
                </a:solidFill>
                <a:latin typeface="Courier New"/>
              </a:rPr>
              <a:t>└─────────────────────────────────────────────┘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64592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• viewMode: 'mobile' (default) | 'desktop'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  → toggles sidebar vs bottom nav layout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/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• All state is shared — switching mobile↔desktop</a:t>
            </a:r>
          </a:p>
          <a:p>
            <a:pPr>
              <a:spcBef>
                <a:spcPts val="500"/>
              </a:spcBef>
            </a:pPr>
            <a:r>
              <a:rPr sz="1200">
                <a:solidFill>
                  <a:srgbClr val="1C1917"/>
                </a:solidFill>
                <a:latin typeface="Calibri"/>
              </a:rPr>
              <a:t>  preserves workflow in 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Entity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7 entity types: sole-trader, partnership, limited, llp, charity, club, society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ENTITY_INFO static map (~line 264) — each type configures: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Entity object: labels ('director' vs 'trustee'), required documents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Registration numbers: Companies House / Charity Commission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accounts array (via useMemo ~line 334): different accounts per entity</a:t>
            </a:r>
          </a:p>
          <a:p>
            <a:pPr>
              <a:spcBef>
                <a:spcPts val="600"/>
              </a:spcBef>
            </a:pPr>
            <a:r>
              <a:rPr sz="1100">
                <a:solidFill>
                  <a:srgbClr val="78716C"/>
                </a:solidFill>
                <a:latin typeface="Calibri"/>
              </a:rPr>
              <a:t>    → UI copy throughout: mandate rules, workflow steps, compliance requirements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Active entity: entityType state — switching entity changes everything derived from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Mandate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Per-account mandate rule: 'any-1' | 'any-2' | 'all'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getMandateFor(accountNos) — line ~420 — picks the STRICTEST rule across selected accounts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Strictness order: 'all' &gt; 'any-2' &gt; 'any-1'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'any-1'  → single authoriser sufficient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'any-2'  → two authorisers required → triggers co-signer workflow</a:t>
            </a:r>
          </a:p>
          <a:p>
            <a:pPr>
              <a:spcBef>
                <a:spcPts val="700"/>
              </a:spcBef>
            </a:pPr>
            <a:r>
              <a:rPr sz="1500" b="0">
                <a:solidFill>
                  <a:srgbClr val="1C1917"/>
                </a:solidFill>
                <a:latin typeface="Calibri"/>
              </a:rPr>
              <a:t>• 'all'    → every signatory must approve → cooling-off period enforced</a:t>
            </a:r>
          </a:p>
          <a:p>
            <a:pPr>
              <a:spcBef>
                <a:spcPts val="700"/>
              </a:spcBef>
            </a:pPr>
            <a:r>
              <a:rPr sz="1500" b="1">
                <a:solidFill>
                  <a:srgbClr val="C8102E"/>
                </a:solidFill>
                <a:latin typeface="Calibri"/>
              </a:rPr>
              <a:t>• Impact: determines whether workflow requires co-signer and/or 24h cooling-off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Cooling-off &amp; Stalled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8102E"/>
                </a:solidFill>
                <a:latin typeface="Calibri"/>
              </a:rPr>
              <a:t>Cooling-off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5303520" cy="2560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cooling array: requests pending 24h execution delay (working days only)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tick state refreshes every 30s — keeps progress bars live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User can Cancel or Fast-Track a cooling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5303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8102E"/>
                </a:solidFill>
                <a:latin typeface="Calibri"/>
              </a:rPr>
              <a:t>Stalled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74519"/>
            <a:ext cx="530352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stalled array: co-signer missed the approval window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System auto-escalates to Relationship Manager (Priya)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UI shows 'Priya's on it' card with direct 'Call Priya' button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1C1917"/>
                </a:solidFill>
                <a:latin typeface="Calibri"/>
              </a:rPr>
              <a:t>• Escalation path: failed co-sign → RM notification → manual override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9048" y="1325880"/>
            <a:ext cx="18288" cy="5029200"/>
          </a:xfrm>
          <a:prstGeom prst="rect">
            <a:avLst/>
          </a:prstGeom>
          <a:solidFill>
            <a:srgbClr val="E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Workflow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1C1917"/>
                </a:solidFill>
                <a:latin typeface="Calibri"/>
              </a:rPr>
              <a:t>• 11 workflows, each a renderXxx closure reading/writing top-level App state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renderClosure (~1021) — account closure with regulatory compliance steps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renderBiz (~1332) — business KYC/KYB verification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renderMandate (~1428) — signatory mandate changes with cooling-off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renderWages (~1630) — bulk wages payment (CSV import + approval)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renderLending (~1915) — business lending application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renderFX (~2018) — foreign exchange payments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renderDormancy (~2149) — dormant account reactivation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renderUnlink (~2177) — account unlinking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renderRingfence (~2310) — ring-fencing workflow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renderIdCheck (~2390) — identity verification (Voice ID, biometrics)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1C1917"/>
                </a:solidFill>
                <a:latin typeface="Calibri"/>
              </a:rPr>
              <a:t>• renderMtdSubmit (~4998) — Making Tax Digital HMRC submission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Design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Brand red: #c8102e (CTAs, active states, top bar)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Background: #faf6ef (warm off-white, page/body)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Fonts: Fraunces (display headings, Google Fonts), Geist (body), Geist Mono (account numbers)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Spacing scale: 4·8·12·16·24·32·48·64·96·128 px  →  Tailwind: 1·2·3·4·6·8·12·16·24·32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Never text-gray-* or text-zinc-* — always text-stone-*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Never text-stone-400/500 on dark/red surfaces — use text-white/65 or text-red-100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One primary CTA per view: bg-[#c8102e] or bg-stone-900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num-tab CSS class: font-variant-numeric: tabular-nums — used on all monetary amounts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Inline CSS template literal (~line 779): hero-card, cool-card, anim-fade, anim-slide, shimmer, stagger-1 through stagger-7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Tech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5577840" cy="5029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React 18.3 — single large function component, closures as sub-components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Vite 5 — fast dev server (http://localhost:5173), production build to dist/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Tailwind CSS 3 — utility-first styling, custom stone-* palette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viteSingleFile plugin — inlines all JS/CSS into one self-contained HTML file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Lucide React — icon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325880"/>
            <a:ext cx="5577840" cy="5029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python-pptx — documentation tooling only (not in the app)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Build output: ~870 KB HTML, ~190 KB gzip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Deployment: GitHub Pages (static hosting)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backend, no database, no API server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Dev commands: npm run dev | npm run build | npm run preview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325880"/>
            <a:ext cx="18288" cy="5029200"/>
          </a:xfrm>
          <a:prstGeom prst="rect">
            <a:avLst/>
          </a:prstGeom>
          <a:solidFill>
            <a:srgbClr val="E5E5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C1917"/>
                </a:solidFill>
                <a:latin typeface="Calibri"/>
              </a:rPr>
              <a:t>Security &amp; Accessibility Decisions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1064240" cy="27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1064240" cy="5212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dangerouslySetInnerHTML on any dynamic content — static strings only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focus:outline-none without focus-visible: — every bare removal is an accessibility breach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WCAG 2.1 AA compliance target — focus rings preserved for keyboard navigation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real credentials, account numbers, API keys, or secrets in source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No git push --force — ever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Git hooks: run /ship-ready before every push — one RED finding = stand down and fix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Prototype data only — all account numbers, names, and amounts are fictional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1C1917"/>
                </a:solidFill>
                <a:latin typeface="Calibri"/>
              </a:rPr>
              <a:t>• Google Fonts is the only external network request in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2025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ECACA"/>
                </a:solidFill>
                <a:latin typeface="Calibri"/>
              </a:rPr>
              <a:t>INTERNAL ·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6620256"/>
            <a:ext cx="7863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1">
                <a:solidFill>
                  <a:srgbClr val="D6D3D1"/>
                </a:solidFill>
                <a:latin typeface="Calibri"/>
              </a:rPr>
              <a:t>Alan Davidson · Business Banking Advisor · Self-initiated · Own time ·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50040" y="6620256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D6D3D1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