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Santander  · 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94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8716C"/>
                </a:solidFill>
                <a:latin typeface="Calibri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System Design, Data Flow &amp;
Integration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716C"/>
                </a:solidFill>
                <a:latin typeface="Calibri"/>
              </a:rPr>
              <a:t>HMS 1701 · Santander Business Banking Prototype ·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4251960"/>
            <a:ext cx="523951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288536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572000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Prototype Architecture: Component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BROWSER (any device — no install required)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0232" cy="4754880"/>
          </a:xfrm>
          <a:prstGeom prst="rect">
            <a:avLst/>
          </a:prstGeom>
          <a:solidFill>
            <a:srgbClr val="F5F5F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index.html  ·  350KB  ·  Fully self-contained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4472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1848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React 18 — App.jsx  (~3,200 lines, single component)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State Layer (60+ useState)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useMemo Derivations (6)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01952"/>
            <a:ext cx="320040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197510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Event Handlers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 · workflow · step · viewMode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cooling[] · stalled[] · tick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entityType · approvalState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payees[] · wagesSource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accounts (by entity type)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statementsData (5 months)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counterpartyStats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searchResults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1284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closeWorkflow() — resets all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0487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getMandateFor(accountNos)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96896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addWorkingHours(date, hrs)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78892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formatExecuteTime()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182112"/>
            <a:ext cx="512064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2186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Tailwind CSS + Inline CSS Block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4564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Custom tokens: brand-red · warm-bg · stone scale · lift-1/2/hero shadows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Lucide Icons (tree-shaken)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Only imported icons in bundle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95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Google Fonts CDN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995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· Geist Sans · Geist Mono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Statements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MTD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Closure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4892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64892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Mandate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52544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52544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Wages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0196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0196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Biz Details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27848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27848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Dormancy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15500" y="4590288"/>
            <a:ext cx="1691640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15500" y="459028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ID Check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" y="5138928"/>
            <a:ext cx="10634472" cy="54864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5193792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BUILD PIPELINE:   Vite 5 + vite-plugin-singlefile  →  Single 350KB HTML  →  GitHub Pages (gh-pages branch)  →  Vercel (static serve)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 FLOW — UNIDIRECTIONAL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lives at the top of App(). Sub-components are closures — they read and write via captured references. No prop drilling, no context, no external store. Single source of truth.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tab — active screen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workflow — active overlay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step — wizard position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viewMode — mobile/desktop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ENTITY &amp; ACCOUNTS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entityType — 7 types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accounts (useMemo, by entity)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approvalState — sign/reject map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 — label/doc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3608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3608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cooling[] — active holds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stalled[] — timed-out requests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tick — 30s re-render timer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pendingCancelId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closureSel, closureDest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mandateAction, newPerson*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payees[], wagesSource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mtdReviewedTransactions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98264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UI / OVERLAYS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toast, showRMSheet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showCompliance, showSavings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showEntitySwitcher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rmReason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93608" y="4498848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3608" y="4498848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03336" y="45902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STATEMENTS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48463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statementMonth, statementView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counterpartyQuery, methodFilter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openCounterparty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moneyView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useMEMO DERIVED STATE (never stored, always computed)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Entity-aware account list — mandate rules, balances, account types per entity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47288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statementsData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7016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5 months × N transactions — categories, methods, counterparty rollups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91656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counterpartyStats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1384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Aggregated totals per supplier/customer — YTD amounts, methods, frequency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5752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searchResults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Live-filtered counterparty search — top 5 matches on query change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7900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8102E"/>
                </a:solidFill>
                <a:latin typeface="Calibri"/>
              </a:rPr>
              <a:t>closeWorkflow() INVARIANT: Every workflow-specific state variable MUST be reset here. Ghost state between workflows is the primary known failure mode.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Production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57432" cy="987552"/>
          </a:xfrm>
          <a:prstGeom prst="rect">
            <a:avLst/>
          </a:prstGeom>
          <a:solidFill>
            <a:srgbClr val="ECFDF5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50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6B3C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Mobile Web (PWA)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React 18 · Tailwind · Geist · Fraunces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Desktop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Same codebase · Sidebar layout · Wide viewport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iOS /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Add-to-home-screen PWA · theme-color #C8102E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8716C"/>
                </a:solidFill>
                <a:latin typeface="Calibri"/>
              </a:rPr>
              <a:t>↕  HTTPS + JWT HttpOnly Cookie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21408"/>
            <a:ext cx="11457432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488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Calibri"/>
              </a:rPr>
              <a:t>API TIER (FastAPI / AWS API Gateway)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Accounts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/accounts · /transactions · /statements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0632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Mandate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2072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/signatories · /rules · /cooling-off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9783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Auth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3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/login · /refresh · /logout (JWT)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06055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7496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MTD API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/mtd/obligations · /mtd/submit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73768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5208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KYC Webhook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8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/kyc/callback (One Login)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29000"/>
            <a:ext cx="11457432" cy="120700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DATA TIER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Accounts · Signatories · Entities · Mandates
Indexed: account_no · entity_id · created_at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Audit Event Store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Append-only · EventBridge · S3 Glacier
7-year retention · FCA SYSC 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08776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Redis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Session tokens · Rate limiting
HMRC OAuth tokens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61704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53144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3144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Digital records 6yr · Obligation history
VAT100 submissions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773168"/>
            <a:ext cx="11457432" cy="1353312"/>
          </a:xfrm>
          <a:prstGeom prst="rect">
            <a:avLst/>
          </a:prstGeom>
          <a:solidFill>
            <a:srgbClr val="FDF2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800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EXTERNAL INTEGRATIONS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GOV.UK One Login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KYC · List 1 biometric ID
OAuth2 PKCE · JWKS verify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0632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2072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VAT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62072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VAT obligations · Submit VAT100
OAuth2 client_credentials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38344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9783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Vocalink CoP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9783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Confirmation of Payee
Pre-payment account validation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06055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7496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SNS / 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Co-signer push alerts
Face ID deep-link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73768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5208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Companies House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65208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Director/member register
Real-time entity verification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Security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JWT — RS256 signed, 15min access token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HttpOnly · Secure · SameSite=Strict cookies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Refresh token rotation (7-day sliding)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tokens in localStorage — ever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Face ID via WebAuthn (Biometric Authenticator)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PKCE flow for GOV.UK One Login handoff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AUTHORISATION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Account-level mandate enforcement (Any-1/2/All)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Signatory role validation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Read-only for non-signatories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Cooling-off state enforced at API layer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PEP / Sanctions check before signatory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Board minutes required at API for treasurer accts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DATA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TLS 1.3 in transit — HSTS max-age=31536000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AES-256 at rest (RDS encryption + S3 SSE)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GDPR Art.5 data minimisation on KYC fields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Right to erasure: pseudonymise, not delete (audit reqs)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DPIA (Art.35) required before go-live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scope: no card data stored, SAQ-A eligible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INPUT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dangerouslySetInnerHTML on user content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All monetary values: Number, not string eval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Sort code / account validated: regex + CoP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Country of residence: whitelist, not freetext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File uploads: MIME type + size check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CSRF protection: SameSite=Strict + Origin header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WCAG 2.1 AA ACCESSIBILITY:  focus-visible:ring on all interactive elements  ·  Colour contrast ≥4.5:1  ·  tabular-nums on all monetary amounts  ·  Error messages describe how to fix  ·  Screen reader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24 working-hour hold on Any-1 actions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Bank holiday + weekend aware (not calendar)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Customer cancel at zero cost, any time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Progress bar: live countdown every 30s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Execution blocked until hold expires server-side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GOV.UK One Login: List 1 photo ID (biometric)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Address proof &lt; 3 months: List 2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Trading address proof: List 3 (if differs)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Sanctions country: auto RM escalation + EDD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PEP: Enhanced Due Diligence, MLR s.35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Visitor visa: rejected — settled status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7-year immutable event log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Every action: actor · timestamp · action type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Append-only — no mutation post-commit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Export-ready: PDF/CSV per period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FCA on-demand production capability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VAT: mandatory for all VAT-registered businesses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ITSA: mandatory Apr 2026 (SMEs &gt;£50k turnover)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Digital links: bank→HMRC, no copy-paste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Records: 6-year digital retention minimum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HMRC-recognised software badge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Entity &amp; Mandate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7 ENTITY TYPES — EACH WITH DIVERGENT COMPLIANCE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Entity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Default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Co. House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Charity Comm.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Board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511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Principal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415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Any-1/2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Partner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7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415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486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 (RM on rename)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Limited Co.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5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511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Director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7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Yes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100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7415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55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3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5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511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Member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7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963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(LLP no.)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100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7415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486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7743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5059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5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2511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Trustee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7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9963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0100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7415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(CC no.)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755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486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7743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5059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5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2511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647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9963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0100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7415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755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486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60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7743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5059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5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2511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2647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9963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00100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7415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486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462686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MANDATE RULE ENFORCEMENT LOGIC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02920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Single signature sufficient. Cooling-off triggers automatically after execution.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sole-trader, basic current account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98264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98264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35424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35424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2 of N signatories required. Co-signer notified. 48hr window before RM escalation.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35424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limited companies, LLPs, partnerships with 2+ directors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93608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293608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30768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All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0768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Every verified signatory must sign. Treasurer acts last. Board minutes required.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30768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charities, clubs, societies — getMandateFor() returns strictest across accounts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API Integration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GOV.UK ONE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KYC/AML · Identity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Flow: PKCE OAuth2 → ID assertion JWT → verify JWKS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Scopes: openid · email · phone · address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Returns: VC (Verifiable Credential) with ID confidence P2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identity_assurance_completed → trigger List 1 approval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Error states: low_confidence → RM escalation, fraud_signal →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HMRC MTD VAT API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Auth: OAuth2 client_credentials, VRN-scoped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/obligations/{vrn} — current quarter, status, deadline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 /returns/{vrn} — VAT100 boxes 1–9, period key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formBundleNumber (receipt) in &lt; 5 seconds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Fraud headers: Gov-Client-Device-ID · Gov-Client-User-IDs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VOCALINK CoP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Confirmation of Payee · PSR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Request: account name + sort code + account number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MATCHED · CLOSE_MATCH · NOT_MATCHED · UNAVAILABLE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Timing: pre-payment, non-blocking (shown in payee add flow)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Required for: all CHAPS, FP &gt; £250k, any new payee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Mismatch: warn user + require explicit override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COMPANIES HOUSE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Director/member register · Entity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/company/{number} — registered name, status, officers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Sync on: entity onboarding + mandate add (director check)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Officers list: validate proposed signatory against register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company_status_changed → alert RM if dissolved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Rate limit: 600/5min — cache responses 1hr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Design System — Tokens &amp;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COLOUR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97864"/>
            <a:ext cx="384048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197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3807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nav, top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09928"/>
            <a:ext cx="384048" cy="384048"/>
          </a:xfrm>
          <a:prstGeom prst="rect">
            <a:avLst/>
          </a:prstGeom>
          <a:solidFill>
            <a:srgbClr val="A00D2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#A00D24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892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brand-dark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46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Hover / pressed on 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21992"/>
            <a:ext cx="384048" cy="384048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219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404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258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340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29169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70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46120"/>
            <a:ext cx="384048" cy="384048"/>
          </a:xfrm>
          <a:prstGeom prst="rect">
            <a:avLst/>
          </a:prstGeom>
          <a:solidFill>
            <a:srgbClr val="78716C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461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4290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58184"/>
            <a:ext cx="384048" cy="384048"/>
          </a:xfrm>
          <a:prstGeom prst="rect">
            <a:avLst/>
          </a:prstGeom>
          <a:solidFill>
            <a:srgbClr val="A8A29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7581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#A8A29E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394106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Tertiary / placeholder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70248"/>
            <a:ext cx="384048" cy="384048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2702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4531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red surfaces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782312"/>
            <a:ext cx="384048" cy="384048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7823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651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8188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dark surfaces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1143000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64608" y="1179576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(font-display)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1399032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editorial headings, large balance numbers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1709928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1746504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tight (font-display-tight)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1965960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+ tight letter-spacing, hero figures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276856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4608" y="2313432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Sans (font-body)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4608" y="2532888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nav, buttons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43784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2880360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Mono (font-mono)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099815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410712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64608" y="3447288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num-tab class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4608" y="3666744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— ALL monetary amounts, ensures alignment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8412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0" y="2326640"/>
            <a:ext cx="438912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75840"/>
            <a:ext cx="438912" cy="10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78240" y="2225040"/>
            <a:ext cx="438912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26880" y="2174240"/>
            <a:ext cx="438912" cy="203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75520" y="2072640"/>
            <a:ext cx="438912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552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424160" y="1971040"/>
            <a:ext cx="438912" cy="406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4241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72800" y="1767840"/>
            <a:ext cx="438912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521440" y="1564640"/>
            <a:ext cx="438912" cy="812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5214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5214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29260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680960" y="324612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08975" y="33009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8975" y="3538727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1px 2px 4px rgba(0,0,0,.06)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333756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List items, inline cards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3959352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08975" y="4014215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08975" y="4251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4px 16px rgba(0,0,0,.10)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26880" y="40507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Primary cards, panels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80960" y="4672583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75" y="472744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5" y="49651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20px 60px rgba(0,0,0,.22)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6880" y="4764023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Balance hero card only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KEY COMPONENT PATTERNS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52628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64608" y="458114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StepFrame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52360" y="461772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Workflow wrapper — back/close/progress/next. No hooks inside.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754880" y="502920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64608" y="508406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52360" y="512064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focus-visible:ring-2 — WCAG keyboard visible, mouse unaffected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553212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64608" y="558698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Toggle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562356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Switch component — focus-visible:ring — screen reader announced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754880" y="603504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64608" y="608990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52360" y="612648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Label + child + hint — uppercase tracking, 11px hint text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6537960"/>
            <a:ext cx="2606040" cy="42062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64608" y="6592824"/>
            <a:ext cx="2395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ProgressDots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52360" y="6629400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Step indicator — red active, stone complete, stone-300 future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