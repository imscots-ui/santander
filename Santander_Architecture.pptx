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100584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Architecture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697480"/>
            <a:ext cx="100584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0" i="0">
                <a:solidFill>
                  <a:srgbClr val="FECACA"/>
                </a:solidFill>
                <a:latin typeface="Calibri"/>
              </a:rPr>
              <a:t>Santander Business Banking Prototype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310128"/>
            <a:ext cx="7772400" cy="36576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520440"/>
            <a:ext cx="2286000" cy="8229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520440"/>
            <a:ext cx="2286000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3584448"/>
            <a:ext cx="21031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7,400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4041648"/>
            <a:ext cx="2011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lines · 1 file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71800" y="3520440"/>
            <a:ext cx="2286000" cy="8229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71800" y="3520440"/>
            <a:ext cx="2286000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81528" y="3584448"/>
            <a:ext cx="21031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99816" y="4041648"/>
            <a:ext cx="2011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workflows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40680" y="3520440"/>
            <a:ext cx="2286000" cy="8229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40680" y="3520440"/>
            <a:ext cx="2286000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0408" y="3584448"/>
            <a:ext cx="21031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68696" y="4041648"/>
            <a:ext cx="2011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entity types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09560" y="3520440"/>
            <a:ext cx="2286000" cy="8229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520440"/>
            <a:ext cx="2286000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9288" y="3584448"/>
            <a:ext cx="21031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16:9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37576" y="4041648"/>
            <a:ext cx="2011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deck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617720"/>
            <a:ext cx="10515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D6D3D1"/>
                </a:solidFill>
                <a:latin typeface="Calibri"/>
              </a:rPr>
              <a:t>Technical deep-dive  ·  single-file React architecture  ·  state model  ·  entity &amp; mandate logic  ·  design system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46520"/>
            <a:ext cx="1005840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FECACA"/>
                </a:solidFill>
                <a:latin typeface="Calibri"/>
              </a:rPr>
              <a:t>Alan Davidson  ·  Business Banking Advisor  ·  Self-initiated  ·  July 2026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12680" y="274320"/>
            <a:ext cx="1783080" cy="310896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12680" y="310896"/>
            <a:ext cx="17830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INTERNAL · CONFIDENTIAL</a:t>
            </a:r>
          </a:p>
        </p:txBody>
      </p:sp>
      <p:pic>
        <p:nvPicPr>
          <p:cNvPr id="29" name="Santander logo" descr="santander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2377440" cy="4112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EC0000"/>
                </a:solidFill>
                <a:latin typeface="Calibri"/>
              </a:rPr>
              <a:t>WHY ONE 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The Single-File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App.jsx — one React function component, read top-to-bottom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14173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34440"/>
            <a:ext cx="3703320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44168"/>
            <a:ext cx="3520439" cy="7936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7,400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056485"/>
            <a:ext cx="3483863" cy="5669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lines of code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70832" y="1234440"/>
            <a:ext cx="3703320" cy="14173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0832" y="1234440"/>
            <a:ext cx="3703320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62272" y="1344168"/>
            <a:ext cx="3520439" cy="7936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870 KB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056485"/>
            <a:ext cx="3483863" cy="5669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self-contained HTML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84464" y="1234440"/>
            <a:ext cx="3703320" cy="14173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84464" y="1234440"/>
            <a:ext cx="3703320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75904" y="1344168"/>
            <a:ext cx="3520439" cy="7936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190 KB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2056485"/>
            <a:ext cx="3483863" cy="5669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gzipped — fast on 3G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907792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907792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3026664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Intentional monolith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" y="3364992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One file means the entire product reads top-to-bottom with no module navigation — ideal for a prototype meant to be understood at a glance.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70832" y="2907792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70832" y="2907792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7136" y="3026664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No backend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17136" y="3364992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No real API calls except Google Fonts. All data is in-memory, fictional, and front-end only.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84464" y="2907792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84464" y="2907792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30768" y="3026664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Single HTML output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0768" y="3364992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viteSingleFile inlines all JS and CSS into one portable file — runs from any browser, no install.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425696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425696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504" y="454456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GitHub Pages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" y="4882896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Static hosting, zero server cost. Deployed and live at imscots-ui.github.io/santander.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70832" y="4425696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70832" y="4425696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17136" y="454456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The trade-off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17136" y="4882896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Monolith size vs. navigation simplicity — a deliberate choice for a demo/research context, not a production pattern.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84464" y="4425696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284464" y="4425696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30768" y="454456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Composition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30768" y="4882896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Sub-components are closures inside App — they share state directly without prop-drilling or context.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July 2026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EC0000"/>
                </a:solidFill>
                <a:latin typeface="Calibri"/>
              </a:rPr>
              <a:t>INTERNAL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Internal Component Order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D6D3D1"/>
                </a:solidFill>
                <a:latin typeface="Calibri"/>
              </a:rPr>
              <a:t>The fixed top-to-bottom order inside the App() component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457200" cy="10789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5564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150876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Hooks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8308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120+ state variables, lines ~28–685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41732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417320"/>
            <a:ext cx="457200" cy="10789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9632" y="175564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150876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Static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178308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ENTITY_INFO, accounts/mtdData/statementsData (useMemo)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60604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606040"/>
            <a:ext cx="457200" cy="10789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94436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269748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Inline CSS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297180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css template literal: brand, animations, glass effects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9632" y="260604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9632" y="2606040"/>
            <a:ext cx="457200" cy="10789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99632" y="294436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69748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Primitives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297180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ProgressDots, StepFrame, Input, Field, Toggle (closures)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79476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3794760"/>
            <a:ext cx="457200" cy="10789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13308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388620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Workflow renderers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" y="416052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renderClosure … renderMtdSubmit (12 closures)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99632" y="379476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99632" y="3794760"/>
            <a:ext cx="457200" cy="10789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99632" y="413308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60" y="388620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Screen components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416052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Home, Approve, Audit, Statements, MTD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98348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4983480"/>
            <a:ext cx="457200" cy="10789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532180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507492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Sheets / modals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4128" y="534924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15 overlay sheets (OTP, Compliance, VoiceId, A11y …)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99632" y="498348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99632" y="4983480"/>
            <a:ext cx="457200" cy="10789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99632" y="532180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507492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Main render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66560" y="534924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desktop sidebar + mobile bottom-nav code paths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July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EC0000"/>
                </a:solidFill>
                <a:latin typeface="Calibri"/>
              </a:rPr>
              <a:t>THE ONE HARD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Hook Discipline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Why closures cannot hold hooks — and how the boundary is enforced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11274552" cy="91440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89888"/>
            <a:ext cx="86868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No hook may appear after line ~744 — the closeWorkflow() boundary.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107899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FECACA"/>
                </a:solidFill>
                <a:latin typeface="Calibri"/>
              </a:rPr>
              <a:t>Everything below that line is a closure. Closures can't call useState / useEffect / useMemo.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68880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State at the top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2926080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120+ state variables declared at the top of App (lines ~28–685), before any logic.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2468880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0832" y="2468880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17136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Closures, not components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7136" y="2926080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renderXxx functions and screen/sheet components are closures inside App — they read/write top-level state directly.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84464" y="2468880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84464" y="2468880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8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closeWorkflow() resets 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0768" y="2926080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Every workflow-specific state must be reset in closeWorkflow() — ghost state between workflows is a known failure mode.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42816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242816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436168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useEffect, sparingly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4700016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Only: 30s tick timer, font loading, scroll resets. No data fetching — there is no backend.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70832" y="4242816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70832" y="4242816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7136" y="436168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useMemo for derived data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4700016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accounts and statementsData are memoised from entityType and payment history — recompute only when inputs change.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84464" y="4242816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84464" y="4242816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30768" y="436168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The awk caveat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8" y="4700016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The /ship-ready hook flags hooks past line 120 — a known false positive at this file size; the real boundary is line ~744.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July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EC0000"/>
                </a:solidFill>
                <a:latin typeface="Calibri"/>
              </a:rPr>
              <a:t>STATE DRIVES THE SCREEN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Navigation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Three layers of state compose every 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70408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864" cy="9601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81328"/>
            <a:ext cx="6729984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tab  —  main screen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'home' · 'approve' · 'audit' · 'mtd' · 'statements'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59" y="2359152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EC0000"/>
                </a:solidFill>
                <a:latin typeface="Calibri"/>
              </a:rPr>
              <a:t>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697480"/>
            <a:ext cx="70408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697480"/>
            <a:ext cx="54864" cy="13716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807208"/>
            <a:ext cx="6729984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workflow  —  full-screen overlay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null · closure · biz · mandate · wages · lending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fx · dormancy · unlink · ringfence · idcheck · mtd-submit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complaint · recurring · dispute · beneficiary · certificate · trusted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59" y="4096512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EC0000"/>
                </a:solidFill>
                <a:latin typeface="Calibri"/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34840"/>
            <a:ext cx="704088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434840"/>
            <a:ext cx="54864" cy="7772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544568"/>
            <a:ext cx="6729984" cy="5943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step  —  0-based position within the active workflow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0" y="1371600"/>
            <a:ext cx="3959352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0" y="1371600"/>
            <a:ext cx="3959352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18704" y="1490472"/>
            <a:ext cx="3666744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viewMode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18704" y="1828800"/>
            <a:ext cx="3666744" cy="2148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'mobile' (default) | 'desktop'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Toggles bottom-nav vs. sidebar layout.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/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All state is shared between shells —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switching mobile ↔ desktop preserves any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workflow already in progress.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4206240"/>
            <a:ext cx="395935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0" y="4206240"/>
            <a:ext cx="3959352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18704" y="4325112"/>
            <a:ext cx="3666744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Why this matters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18704" y="4663440"/>
            <a:ext cx="3666744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A workflow overlay renders on top of the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current screen; closing it returns you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exactly where you were. One state tree,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two render paths, zero duplication.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July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EC0000"/>
                </a:solidFill>
                <a:latin typeface="Calibri"/>
              </a:rPr>
              <a:t>ONE SWITCH RESHAPES EVERYTHING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Entity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ENTITY_INFO (~line 264) — entityType drives all derived config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1508760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Sole Trader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93976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93976" y="1325880"/>
            <a:ext cx="1508760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9696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Partnership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30752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30752" y="1325880"/>
            <a:ext cx="1508760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6472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Limited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67528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67528" y="1325880"/>
            <a:ext cx="1508760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248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LLP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04304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04304" y="1325880"/>
            <a:ext cx="1508760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0024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Charity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41080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641080" y="1325880"/>
            <a:ext cx="1508760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Club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77856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277856" y="1325880"/>
            <a:ext cx="1508760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23576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Society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2103120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44403C"/>
                </a:solidFill>
                <a:latin typeface="Calibri"/>
              </a:rPr>
              <a:t>Switching entityType re-derives all of the following: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468880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2468880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4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Entity object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504" y="2926080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Labels (‘director’ vs ‘trustee’), required documents, and the principal terminology used throughout the UI.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70832" y="2468880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70832" y="2468880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17136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Registration numbers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17136" y="2926080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Companies House number, LLP number, or Charity Commission number — shown and validated per type.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84464" y="2468880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84464" y="2468880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30768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accounts array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30768" y="2926080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useMemo (~line 334) returns a different set of accounts and mandate rules for each entity type.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3986784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3986784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" y="4105656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Mandate defaults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" y="4443984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Sole trader → any-1; limited/LLP → any-2; charity/club/society → all signatories required.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70832" y="3986784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370832" y="3986784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17136" y="4105656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Board minutes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17136" y="4443984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Clubs, charities, and societies require board-minute upload on every change; companies do not.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84464" y="3986784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284464" y="3986784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30768" y="4105656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UI copy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30768" y="4443984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Workflow steps, compliance prompts, and document checklists all re-render from the active entity.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July 2026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EC0000"/>
                </a:solidFill>
                <a:latin typeface="Calibri"/>
              </a:rPr>
              <a:t>WHO MUST AUTHORISE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Mandate 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getMandateFor(accountNos) — line ~420 — picks the strictest rule across selected accounts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70332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370332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333756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any-1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48840"/>
            <a:ext cx="33375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Single authoriser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606040"/>
            <a:ext cx="33375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0">
                <a:solidFill>
                  <a:srgbClr val="78716C"/>
                </a:solidFill>
                <a:latin typeface="Calibri"/>
              </a:rPr>
              <a:t>One signatory is sufficient. No co-signer, no cooling-off.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1371600"/>
            <a:ext cx="370332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371600"/>
            <a:ext cx="3703320" cy="6400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1463040"/>
            <a:ext cx="333756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any-2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148840"/>
            <a:ext cx="33375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Two authorisers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606040"/>
            <a:ext cx="33375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0">
                <a:solidFill>
                  <a:srgbClr val="78716C"/>
                </a:solidFill>
                <a:latin typeface="Calibri"/>
              </a:rPr>
              <a:t>Two signatories required → triggers the co-signer workflow and 48h window.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84464" y="1371600"/>
            <a:ext cx="370332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84464" y="1371600"/>
            <a:ext cx="3703320" cy="64008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67344" y="1463040"/>
            <a:ext cx="333756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2148840"/>
            <a:ext cx="33375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Every signatory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7344" y="2606040"/>
            <a:ext cx="33375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0">
                <a:solidFill>
                  <a:srgbClr val="78716C"/>
                </a:solidFill>
                <a:latin typeface="Calibri"/>
              </a:rPr>
              <a:t>All signatories must approve → 24h cooling-off period is enforced.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931920"/>
            <a:ext cx="11274552" cy="64008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069080"/>
            <a:ext cx="54864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Strictness order:   all  &gt;  any-2  &gt;  any-1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4087368"/>
            <a:ext cx="53035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Select multiple accounts → the toughest rule wins.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800600"/>
            <a:ext cx="11274552" cy="86868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4901184"/>
            <a:ext cx="18288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193792"/>
            <a:ext cx="109728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FECACA"/>
                </a:solidFill>
                <a:latin typeface="Calibri"/>
              </a:rPr>
              <a:t>The chosen rule determines whether a workflow requires a co-signer and/or a 24-hour cooling-off period before execution — the core control behind dual authorisation.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July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EC0000"/>
                </a:solidFill>
                <a:latin typeface="Calibri"/>
              </a:rPr>
              <a:t>TIME-BASED SAFEGUARDS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Cooling-off &amp; Stalled Requests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Two live mechanisms that keep high-risk actions reversible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5321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532120" cy="54864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512064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Cooling-off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103120"/>
            <a:ext cx="5120640" cy="3566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cooling array — requests pending a 24-hour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execution delay (working days only, bank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holidays skipped).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tick state refreshes every 30 seconds —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keeps the progress bars live and accurate.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The user can Cancel or Fast-Track any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request while it sits in the cooling window.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Regulatory basis: FCA BCOBS 4A.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1371600"/>
            <a:ext cx="55321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1371600"/>
            <a:ext cx="5532120" cy="54864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463040"/>
            <a:ext cx="512064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Stalled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03120"/>
            <a:ext cx="5120640" cy="3566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stalled array — a co-signer missed the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approval window.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The system auto-escalates to the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Relationship Manager (Priya Desai).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The UI shows a “Priya’s on it” card with a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direct ‘Call Priya’ action button.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Escalation path: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failed co-sign → RM notification → manual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override and resolution.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July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EC0000"/>
                </a:solidFill>
                <a:latin typeface="Calibri"/>
              </a:rPr>
              <a:t>17 STEP-BASED WIZARDS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Workflow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Each is a renderXxx closure reading and writing top-level App state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July 2026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9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7200" y="137160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57200" y="1371600"/>
            <a:ext cx="54864" cy="85953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21792" y="148132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renderClosure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21792" y="177393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Account closure + compliance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392424" y="137160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92424" y="1371600"/>
            <a:ext cx="54864" cy="85953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557016" y="148132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renderBiz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557016" y="177393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Business KYC / KYB verification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327648" y="137160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327648" y="1371600"/>
            <a:ext cx="54864" cy="85953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492240" y="148132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renderMandate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92240" y="177393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Signatory mandate changes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262872" y="137160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262872" y="1371600"/>
            <a:ext cx="54864" cy="85953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427464" y="148132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renderWages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27464" y="177393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Bulk wages (CSV + approval)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57200" y="237744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57200" y="2377440"/>
            <a:ext cx="54864" cy="85953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21792" y="248716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renderLending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1792" y="277977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Business lending application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392424" y="237744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392424" y="2377440"/>
            <a:ext cx="54864" cy="85953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557016" y="248716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renderFX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557016" y="277977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Foreign exchange payments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27648" y="237744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327648" y="2377440"/>
            <a:ext cx="54864" cy="85953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492240" y="248716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renderDormancy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92240" y="277977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Dormant account reactivation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262872" y="237744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262872" y="2377440"/>
            <a:ext cx="54864" cy="85953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427464" y="248716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renderUnlink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27464" y="277977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Personal/business unlinking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57200" y="338328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57200" y="3383280"/>
            <a:ext cx="54864" cy="85953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21792" y="349300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renderRingfence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21792" y="378561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Credit ring-fencing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392424" y="338328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3392424" y="3383280"/>
            <a:ext cx="54864" cy="85953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557016" y="349300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renderIdCheck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557016" y="378561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Identity / Voice ID checks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327648" y="338328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327648" y="3383280"/>
            <a:ext cx="54864" cy="85953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492240" y="349300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renderMtdSubmit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492240" y="378561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Making Tax Digital submission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262872" y="338328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262872" y="3383280"/>
            <a:ext cx="54864" cy="85953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427464" y="349300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renderComplaint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27464" y="378561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FCA DISP complaint handling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457200" y="438912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57200" y="4389120"/>
            <a:ext cx="54864" cy="85953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21792" y="449884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renderRecurring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1792" y="479145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Standing orders &amp; Direct Debits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392424" y="438912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3392424" y="4389120"/>
            <a:ext cx="54864" cy="85953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557016" y="449884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renderDispute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557016" y="479145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Payment dispute &amp; chargeback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327648" y="438912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6327648" y="4389120"/>
            <a:ext cx="54864" cy="85953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492240" y="449884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renderBeneficiary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492240" y="479145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International beneficiary onboarding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262872" y="438912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9262872" y="4389120"/>
            <a:ext cx="54864" cy="85953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427464" y="449884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renderCertificate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427464" y="479145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Balance certificate issuance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457200" y="539496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57200" y="5394960"/>
            <a:ext cx="54864" cy="85953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21792" y="550468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renderTrusted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21792" y="579729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Trusted devices &amp; sessions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EC0000"/>
                </a:solidFill>
                <a:latin typeface="Calibri"/>
              </a:rPr>
              <a:t>BOSUN'S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Design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Brand tokens, spacing scale, and the colour rules enforced on every commit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2697480" cy="868680"/>
          </a:xfrm>
          <a:prstGeom prst="rect">
            <a:avLst/>
          </a:prstGeom>
          <a:solidFill>
            <a:srgbClr val="EC0000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417320"/>
            <a:ext cx="23774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#EC0000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783080"/>
            <a:ext cx="23774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Santander 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82696" y="1325880"/>
            <a:ext cx="2697480" cy="868680"/>
          </a:xfrm>
          <a:prstGeom prst="rect">
            <a:avLst/>
          </a:prstGeom>
          <a:solidFill>
            <a:srgbClr val="FBF1EA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417320"/>
            <a:ext cx="23774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#FBF1EA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1783080"/>
            <a:ext cx="23774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Lisbon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08192" y="1325880"/>
            <a:ext cx="2697480" cy="868680"/>
          </a:xfrm>
          <a:prstGeom prst="rect">
            <a:avLst/>
          </a:prstGeom>
          <a:solidFill>
            <a:srgbClr val="1C1917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1417320"/>
            <a:ext cx="23774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#1c1917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1783080"/>
            <a:ext cx="23774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Stone-900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33688" y="1325880"/>
            <a:ext cx="2697480" cy="868680"/>
          </a:xfrm>
          <a:prstGeom prst="rect">
            <a:avLst/>
          </a:prstGeom>
          <a:solidFill>
            <a:srgbClr val="78716C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0848" y="1417320"/>
            <a:ext cx="23774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#78716c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0848" y="1783080"/>
            <a:ext cx="23774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Stone-500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377440"/>
            <a:ext cx="11274552" cy="68580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468880"/>
            <a:ext cx="201168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EC0000"/>
                </a:solidFill>
                <a:latin typeface="Calibri"/>
              </a:rPr>
              <a:t>Spacing scale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2542032"/>
            <a:ext cx="89611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onsolas"/>
              </a:rPr>
              <a:t>4 · 8 · 12 · 16 · 24 · 32 · 48 · 64 · 96 · 128 px      →      Tailwind  1 · 2 · 3 · 4 · 6 · 8 · 12 · 16 · 24 · 32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246120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246120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364991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Typography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3703320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Santander Text — display + body (named family; Geist fallback). Geist Mono — account numbers and figures.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70832" y="3246120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70832" y="3246120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7136" y="3364991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Colour law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3703320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Never text-gray-* or text-zinc-* — always text-stone-*. Never stone-400/500 on dark or red surfaces.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84464" y="3246120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84464" y="3246120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30768" y="3364991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One primary CTA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8" y="3703320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Exactly one bg-[#EC0000] or bg-stone-900 primary button per view — hierarchy stays clear.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672583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4672583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4791455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Tabular figures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504" y="5129783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num-tab class (font-variant-numeric: tabular-nums) on every monetary amount for clean alignment.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70832" y="4672583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70832" y="4672583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17136" y="4791455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Inline CSS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17136" y="5129783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css template literal (~line 779): hero-card, cool-card, anim-fade, anim-slide, shimmer, stagger-1…7.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84464" y="4672583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84464" y="4672583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30768" y="4791455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Enforcement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30768" y="5129783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Bosun station in /ship-ready scans for spacing, colour, and CTA violations before every push.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July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EC0000"/>
                </a:solidFill>
                <a:latin typeface="Calibri"/>
              </a:rPr>
              <a:t>BUILD &amp;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Tech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Minimal, modern, front-end only — no backend, no database, no API server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4864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EC0000"/>
                </a:solidFill>
                <a:latin typeface="Calibri"/>
              </a:rPr>
              <a:t>FRONTEND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4592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45920"/>
            <a:ext cx="55321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176479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React 18.3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210312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Single large function component; closures as sub-components.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6324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63240"/>
            <a:ext cx="55321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" y="318211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Tailwind CSS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352044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Utility-first styling with a custom stone-* palette.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48056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480560"/>
            <a:ext cx="55321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459943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Lucide React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" y="493776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Icon library used throughout the UI.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9632" y="1325880"/>
            <a:ext cx="54864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EC0000"/>
                </a:solidFill>
                <a:latin typeface="Calibri"/>
              </a:rPr>
              <a:t>BUILD &amp; DEPLOY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9632" y="164592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1645920"/>
            <a:ext cx="55321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176479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Vite 5 + viteSingleFile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210312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Fast dev server; inlines all JS/CSS into one HTML file.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9632" y="306324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9632" y="3063240"/>
            <a:ext cx="55321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318211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Output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352044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~870 KB HTML · ~190 KB gzip · GitHub Pages static hosting.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9632" y="448056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4480560"/>
            <a:ext cx="55321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45936" y="459943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Commands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493776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npm run dev · npm run build · npm run preview.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897880"/>
            <a:ext cx="11274552" cy="54864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1">
                <a:solidFill>
                  <a:srgbClr val="FFFFFF"/>
                </a:solidFill>
                <a:latin typeface="Calibri"/>
              </a:rPr>
              <a:t>python-pptx is documentation tooling only — it builds these decks, it is not part of the app.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July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EC0000"/>
                </a:solidFill>
                <a:latin typeface="Calibri"/>
              </a:rPr>
              <a:t>STANDING ORDERS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Security &amp; Accessibility 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The non-negotiable rules enforced before every commit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5321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49047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No dangerous 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182880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No dangerouslySetInnerHTML on dynamic content — hardcoded static strings only.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137160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1371600"/>
            <a:ext cx="55321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9047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Focus visible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82880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No focus:outline-none without a focus-visible: companion — every bare removal is an a11y breach.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56032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560320"/>
            <a:ext cx="55321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2679191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WCAG 2.1 AA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301752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Contrast ≥ 4.5:1, focus rings preserved for keyboard navigation, ARIA labels where needed.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9632" y="256032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99632" y="2560320"/>
            <a:ext cx="55321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936" y="2679191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No secrets in source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301752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No real credentials, account numbers, API keys, or emails beyond the author credit.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749039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749039"/>
            <a:ext cx="55321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3867911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No force push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" y="420624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git push --force is forbidden — ever. History stays intact.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9632" y="3749039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9632" y="3749039"/>
            <a:ext cx="55321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45936" y="3867911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/ship-ready gate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45936" y="420624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Seven-station pre-commit checklist — one RED finding and the ship stands down to fix.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93776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937760"/>
            <a:ext cx="55321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504" y="505663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Fictional data only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" y="539496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Every account number, name, and amount in the prototype is invented.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99632" y="493776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99632" y="4937760"/>
            <a:ext cx="55321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45936" y="505663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One external call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45936" y="539496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Google Fonts is the only external network request in production — nothing else leaves the browser.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July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