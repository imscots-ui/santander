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Santander  ·  Business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94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8716C"/>
                </a:solidFill>
                <a:latin typeface="Calibri"/>
              </a:rPr>
              <a:t>TECHNICAL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94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System Design, Data Flow &amp;
Integration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16C"/>
                </a:solidFill>
                <a:latin typeface="Calibri"/>
              </a:rPr>
              <a:t>HMS 1701 · Santander Business Banking Prototype ·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251960"/>
            <a:ext cx="5239512" cy="65836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288536"/>
            <a:ext cx="5239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BUSINESS BANKING ADVISOR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572000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ECACA"/>
                </a:solidFill>
                <a:latin typeface="Calibri"/>
              </a:rPr>
              <a:t>Self-initiated  ·  Completed out of hours  ·  Own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Prototype Architecture: Component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5743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716C"/>
                </a:solidFill>
                <a:latin typeface="Calibri"/>
              </a:rPr>
              <a:t>BROWSER (any device — no install required)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1000232" cy="4754880"/>
          </a:xfrm>
          <a:prstGeom prst="rect">
            <a:avLst/>
          </a:prstGeom>
          <a:solidFill>
            <a:srgbClr val="F5F5F4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618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index.html  ·  350KB  ·  Fully self-contained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72768"/>
            <a:ext cx="10634472" cy="1508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React 18 — App.jsx  (~3,700 lines, single component)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901952"/>
            <a:ext cx="3017520" cy="10515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75104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State Layer (60+ useState)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901952"/>
            <a:ext cx="3017520" cy="10515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975104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useMemo Derivations (6)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01952"/>
            <a:ext cx="3200400" cy="10515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1975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Event Handlers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128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tab · workflow · step · viewMode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40487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cooling[] · stalled[] · tick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59689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entityType · approvalState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7889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payees[] · wagesSource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2128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accounts (by entity type)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40487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statementsData (5 months)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59689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counterpartyStats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78892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searchResults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21284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closeWorkflow() — resets all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40487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getMandateFor(accountNos)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9689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addWorkingHours(date, hrs)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7889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formatExecuteTime()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182112"/>
            <a:ext cx="5120640" cy="6858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218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Tailwind CSS + Inline CSS 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456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Custom tokens: brand-red · warm-bg · stone scale · lift-1/2/hero shadows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182112"/>
            <a:ext cx="2560320" cy="6858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Lucide Icons (tree-shaken)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Only imported icons in bundle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3182112"/>
            <a:ext cx="2560320" cy="6858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952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Google Fonts CDN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9952" y="3456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Fraunces · Geist Sans · Geist Mono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77639"/>
            <a:ext cx="201168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97763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16936" y="3977639"/>
            <a:ext cx="201168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16936" y="397763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56631" y="3977639"/>
            <a:ext cx="201168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56631" y="397763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Statements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96327" y="3977639"/>
            <a:ext cx="201168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96327" y="397763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MTD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36024" y="3977639"/>
            <a:ext cx="2011680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36024" y="397763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Closure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59559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59559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Mandate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41878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41878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Wages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4197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4197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Biz Details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06516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06516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Dormancy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88836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88836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ID Check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71155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71155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53474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3474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35793" y="4590288"/>
            <a:ext cx="1115568" cy="43891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35793" y="4590288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Receipt Scan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5138928"/>
            <a:ext cx="10634472" cy="548640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5193792"/>
            <a:ext cx="10332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BUILD PIPELINE:   Vite 5 + vite-plugin-singlefile  →  Single 350KB HTML  →  GitHub Pages (gh-pages branch)  →  Vercel (static serve)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Data &amp; State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STATE FLOW — UNIDIRECTIONAL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All state lives at the top of App(). Sub-components are closures — they read and write via captured references. No prop drilling, no context, no external store. Single source of truth.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36576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105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66543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tab — active screen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workflow — active overlay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step — wizard position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viewMode — mobile/desktop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1719072"/>
            <a:ext cx="36576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719072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8105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ENTITY &amp;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066543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entityType — 7 types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accounts (useMemo, by entity)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approvalState — sign/reject map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entity — label/doc 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3608" y="3108960"/>
            <a:ext cx="36576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3608" y="3108960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32004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COOLING-OFF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3456432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cooling[] — active holds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stalled[] — timed-out requests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tick — 30s re-render timer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pendingCancelId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08960"/>
            <a:ext cx="36576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108960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2004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456432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closureSel, closureDest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lendingTerm, lendingCompleted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fxAmount, fxCurrency, fxIBAN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receiptStep, scannedTxns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8264" y="4498848"/>
            <a:ext cx="36576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8264" y="4498848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5902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UI / OVERLAYS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8463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toast, showRMSheet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showCompliance, showSavings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showOBSheet, showPinSheet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showReceiptSheet, frozenCards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93608" y="4498848"/>
            <a:ext cx="36576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93608" y="4498848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45902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STATEMENTS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48463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statementMonth, statementView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counterpartyQuery, methodFilter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openCounterparty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C8102E"/>
                </a:solidFill>
                <a:latin typeface="Calibri"/>
              </a:rPr>
              <a:t>▪  </a:t>
            </a:r>
            <a:r>
              <a:rPr sz="850">
                <a:solidFill>
                  <a:srgbClr val="78716C"/>
                </a:solidFill>
                <a:latin typeface="Calibri"/>
              </a:rPr>
              <a:t>moneyView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720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useMEMO DERIVED STATE (never stored, always computed)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864608"/>
            <a:ext cx="274320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9194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16636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D3D1"/>
                </a:solidFill>
                <a:latin typeface="Calibri"/>
              </a:rPr>
              <a:t>Entity-aware account list — mandate rules, balances, account types per entity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47288" y="4864608"/>
            <a:ext cx="274320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7016" y="49194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statementsData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7016" y="516636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D3D1"/>
                </a:solidFill>
                <a:latin typeface="Calibri"/>
              </a:rPr>
              <a:t>5 months × N transactions — categories, methods, counterparty rollups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91656" y="4864608"/>
            <a:ext cx="274320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4" y="49194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counterpartyStats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1384" y="516636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D3D1"/>
                </a:solidFill>
                <a:latin typeface="Calibri"/>
              </a:rPr>
              <a:t>Aggregated totals per supplier/customer — YTD amounts, methods, frequency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36024" y="4864608"/>
            <a:ext cx="274320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45752" y="49194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searchResults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5752" y="516636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D3D1"/>
                </a:solidFill>
                <a:latin typeface="Calibri"/>
              </a:rPr>
              <a:t>Live-filtered counterparty search — top 5 matches on query change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779008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C8102E"/>
                </a:solidFill>
                <a:latin typeface="Calibri"/>
              </a:rPr>
              <a:t>closeWorkflow() INVARIANT: Every workflow-specific state variable MUST be reset here. Ghost state between workflows is the primary known failure mode.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Production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57432" cy="987552"/>
          </a:xfrm>
          <a:prstGeom prst="rect">
            <a:avLst/>
          </a:prstGeom>
          <a:solidFill>
            <a:srgbClr val="ECFDF5"/>
          </a:solidFill>
          <a:ln w="12700">
            <a:solidFill>
              <a:srgbClr val="06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50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6B3C"/>
                </a:solidFill>
                <a:latin typeface="Calibri"/>
              </a:rPr>
              <a:t>CLIENT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15568"/>
            <a:ext cx="3520440" cy="594360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52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Mobile Web (PWA)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898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ECACA"/>
                </a:solidFill>
                <a:latin typeface="Calibri"/>
              </a:rPr>
              <a:t>React 18 · Tailwind · Geist · Fraunces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15568"/>
            <a:ext cx="3520440" cy="594360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152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Desktop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3898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ECACA"/>
                </a:solidFill>
                <a:latin typeface="Calibri"/>
              </a:rPr>
              <a:t>Same codebase · Sidebar layout · Wide viewport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115568"/>
            <a:ext cx="3520440" cy="594360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1521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iOS /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3898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ECACA"/>
                </a:solidFill>
                <a:latin typeface="Calibri"/>
              </a:rPr>
              <a:t>Add-to-home-screen PWA · theme-color #C8102E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8716C"/>
                </a:solidFill>
                <a:latin typeface="Calibri"/>
              </a:rPr>
              <a:t>↕  HTTPS + JWT HttpOnly Cookie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21408"/>
            <a:ext cx="11457432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148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  <a:latin typeface="Calibri"/>
              </a:rPr>
              <a:t>API TIER (FastAPI / AWS API Gateway)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450592"/>
            <a:ext cx="205740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4871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Accounts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706624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BFF"/>
                </a:solidFill>
                <a:latin typeface="Calibri"/>
              </a:rPr>
              <a:t>/accounts · /transactions · /statements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0632" y="2450592"/>
            <a:ext cx="205740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2072" y="24871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Mandate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2072" y="2706624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BFF"/>
                </a:solidFill>
                <a:latin typeface="Calibri"/>
              </a:rPr>
              <a:t>/signatories · /rules · /cooling-off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8344" y="2450592"/>
            <a:ext cx="205740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9783" y="24871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Auth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9783" y="2706624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BFF"/>
                </a:solidFill>
                <a:latin typeface="Calibri"/>
              </a:rPr>
              <a:t>/login · /refresh · /logout (JWT)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6055" y="2450592"/>
            <a:ext cx="205740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7496" y="24871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MTD API Proxy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2706624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BFF"/>
                </a:solidFill>
                <a:latin typeface="Calibri"/>
              </a:rPr>
              <a:t>/mtd/obligations · /mtd/submit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73768" y="2450592"/>
            <a:ext cx="2057400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5208" y="24871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KYC Webhook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2706624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FDBFF"/>
                </a:solidFill>
                <a:latin typeface="Calibri"/>
              </a:rPr>
              <a:t>/kyc/callback (One Login)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29000"/>
            <a:ext cx="11457432" cy="120700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DATA TIER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749039"/>
            <a:ext cx="2633472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78561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005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917"/>
                </a:solidFill>
                <a:latin typeface="Calibri"/>
              </a:rPr>
              <a:t>Accounts · Signatories · Entities · Mandates
Indexed: account_no · entity_id · created_at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5848" y="3749039"/>
            <a:ext cx="2633472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378561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Audit Event 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7288" y="4005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917"/>
                </a:solidFill>
                <a:latin typeface="Calibri"/>
              </a:rPr>
              <a:t>Append-only · EventBridge · S3 Glacier
7-year retention · FCA SYSC 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8776" y="3749039"/>
            <a:ext cx="2633472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216" y="378561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Redis Cache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216" y="4005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917"/>
                </a:solidFill>
                <a:latin typeface="Calibri"/>
              </a:rPr>
              <a:t>Session tokens · Rate limiting
HMRC OAuth tokens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61704" y="3749039"/>
            <a:ext cx="2633472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53144" y="378561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HMRC MTD Records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53144" y="40050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917"/>
                </a:solidFill>
                <a:latin typeface="Calibri"/>
              </a:rPr>
              <a:t>Digital records 6yr · Obligation history
VAT100 submissions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773168"/>
            <a:ext cx="11457432" cy="1353312"/>
          </a:xfrm>
          <a:prstGeom prst="rect">
            <a:avLst/>
          </a:prstGeom>
          <a:solidFill>
            <a:srgbClr val="FDF2F8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800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102E"/>
                </a:solidFill>
                <a:latin typeface="Calibri"/>
              </a:rPr>
              <a:t>EXTERNAL INTEGRATIONS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084064"/>
            <a:ext cx="2057400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120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GOV.UK One Login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340096"/>
            <a:ext cx="1920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ECACA"/>
                </a:solidFill>
                <a:latin typeface="Calibri"/>
              </a:rPr>
              <a:t>KYC · List 1 biometric ID
OAuth2 PKCE · JWKS verify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70632" y="5084064"/>
            <a:ext cx="2057400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62072" y="5120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HMRC MTD VAT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62072" y="5340096"/>
            <a:ext cx="1920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ECACA"/>
                </a:solidFill>
                <a:latin typeface="Calibri"/>
              </a:rPr>
              <a:t>VAT obligations · Submit VAT100
OAuth2 client_credentials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38344" y="5084064"/>
            <a:ext cx="2057400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9783" y="5120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Vocalink CoP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9783" y="5340096"/>
            <a:ext cx="1920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ECACA"/>
                </a:solidFill>
                <a:latin typeface="Calibri"/>
              </a:rPr>
              <a:t>Confirmation of Payee
Pre-payment account validation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06055" y="5084064"/>
            <a:ext cx="2057400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97496" y="5120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SNS / 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97496" y="5340096"/>
            <a:ext cx="1920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ECACA"/>
                </a:solidFill>
                <a:latin typeface="Calibri"/>
              </a:rPr>
              <a:t>Co-signer push alerts
Face ID deep-link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73768" y="5084064"/>
            <a:ext cx="2057400" cy="914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65208" y="5120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Companies House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5208" y="5340096"/>
            <a:ext cx="1920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ECACA"/>
                </a:solidFill>
                <a:latin typeface="Calibri"/>
              </a:rPr>
              <a:t>Director/member register
Real-time entity verification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Security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26517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265176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0058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98448"/>
            <a:ext cx="2450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JWT — RS256 signed, 15min access token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HttpOnly · Secure · SameSite=Strict cookies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Refresh token rotation (7-day sliding)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No tokens in localStorage — ever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Face ID via WebAuthn (Biometric Authenticator)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PKCE flow for GOV.UK One Login handoff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914400"/>
            <a:ext cx="26517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914400"/>
            <a:ext cx="265176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0058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AUTHORISATION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298448"/>
            <a:ext cx="2450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Account-level mandate enforcement (Any-1/2/All)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Signatory role validation server-side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Read-only for non-signatories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Cooling-off state enforced at API layer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PEP / Sanctions check before signatory add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Board minutes required at API for treasurer accts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914400"/>
            <a:ext cx="26517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914400"/>
            <a:ext cx="265176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0058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DATA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298448"/>
            <a:ext cx="2450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TLS 1.3 in transit — HSTS max-age=31536000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AES-256 at rest (RDS encryption + S3 SSE)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GDPR Art.5 data minimisation on KYC fields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Right to erasure: pseudonymise, not delete (audit reqs)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DPIA (Art.35) required before go-live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PCI DSS scope: no card data stored, SAQ-A eligible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914400"/>
            <a:ext cx="26517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914400"/>
            <a:ext cx="265176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00584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INPUT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298448"/>
            <a:ext cx="245059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No dangerouslySetInnerHTML on user content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All monetary values: Number, not string eval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Sort code / account validated: regex + CoP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Country of residence: whitelist, not freetext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File uploads: MIME type + size check server-side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CSRF protection: SameSite=Strict + Origin header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917"/>
                </a:solidFill>
                <a:latin typeface="Calibri"/>
              </a:rPr>
              <a:t>WCAG 2.1 AA ACCESSIBILITY:  focus-visible:ring on all interactive elements  ·  Colour contrast ≥4.5:1  ·  tabular-nums on all monetary amounts  ·  Error messages describe how to fix  ·  Screen reader 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Regulatory &amp; Compliance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1417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00584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FCA BCOBS 4A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10424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COOLING-OFF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24 working-hour hold on Any-1 actions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Bank holiday + weekend aware (not calendar)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Customer cancel at zero cost, any time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Progress bar: live countdown every 30s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Execution blocked until hold expires server-side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91440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914400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005840"/>
            <a:ext cx="1417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00584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MLR 2017 / JMLSG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10424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KYC / KYB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GOV.UK One Login: List 1 photo ID (biometric)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Address proof &lt; 3 months: List 2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Trading address proof: List 3 (if differs)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Sanctions country: auto RM escalation + EDD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PEP: Enhanced Due Diligence, MLR s.35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Visitor visa: rejected — settled status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47872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47872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39312"/>
            <a:ext cx="1417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639312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FCA SYSC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8" y="3675887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42232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7-year immutable event log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Every action: actor · timestamp · action type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Append-only — no mutation post-commit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Export-ready: PDF/CSV per period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FCA on-demand production capability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547872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547872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639312"/>
            <a:ext cx="1417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3639312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HMRC MTD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675887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917"/>
                </a:solidFill>
                <a:latin typeface="Calibri"/>
              </a:rPr>
              <a:t>MAKING TAX DIGITAL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42232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VAT: mandatory for all VAT-registered businesses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ITSA: mandatory Apr 2026 (SMEs &gt;£50k turnover)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Digital links: bank→HMRC, no copy-paste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Records: 6-year digital retention minimum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8102E"/>
                </a:solidFill>
                <a:latin typeface="Calibri"/>
              </a:rPr>
              <a:t>▪  </a:t>
            </a:r>
            <a:r>
              <a:rPr sz="950">
                <a:solidFill>
                  <a:srgbClr val="78716C"/>
                </a:solidFill>
                <a:latin typeface="Calibri"/>
              </a:rPr>
              <a:t>HMRC-recognised software badge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Privacy &amp; Account Separation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THE GAP — TWO INDEPENDENT LOOKUP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App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personalLinked flag removes personal accounts from React render tree — JSX conditional, not CSS hide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58568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58568"/>
            <a:ext cx="54864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Call Centre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24327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Inbound call on customer mobile triggers CLI lookup — sees all linked accounts regardless of app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74136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74136"/>
            <a:ext cx="54864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65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Credit Decisioning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39896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Business loan underwriting can pull personal transaction history by default — no firewall between data 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89704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89704"/>
            <a:ext cx="54864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811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Open Banking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5546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PSD2 consent granted to third parties (Funding Circle) may include personal + business accounts in same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841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ARCHITECTURE SOLUTION — THREE 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14300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143000"/>
            <a:ext cx="5486400" cy="54864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234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App Separation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React state: personalLinked=false removes section from DOM. unlinkConfirm + declaration with case ref stored server-side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258568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258568"/>
            <a:ext cx="5486400" cy="54864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3500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CRM Separation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624327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unlinkAllChannels toggle triggers back-office CRM update (ref REL-2026-0291). CLI query excludes personal accounts within 2 working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374136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374136"/>
            <a:ext cx="5486400" cy="54864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4655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Credit Ring-Fence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739896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creditRingfenced flag writes formal instruction to credit system. Personal account data excluded from business scorecard. GDPR Art.5(1)(c) purpose limitation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489704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489704"/>
            <a:ext cx="5486400" cy="54864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5811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917"/>
                </a:solidFill>
                <a:latin typeface="Calibri"/>
              </a:rPr>
              <a:t>PSD2 Consent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85546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OB consent registry shows scope per app. Funding Circle 'full read' scope flagged. Revocation completes within 90s per PSD2 RTS Art.29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06440"/>
            <a:ext cx="11274552" cy="80467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8887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Regulatory basis:  GDPR Art.5(1)(c) data minimisation  ·  PSD2 RTS Art.29 revocation  ·  FCA PS22/9 Consumer Duty  ·  ICO Legitimate Interests Assessment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1813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D6D3D1"/>
                </a:solidFill>
                <a:latin typeface="Calibri"/>
              </a:rPr>
              <a:t>Personal financial difficulty cannot affect business credit decisions · Personal transactions excluded from all business analytics and underwriting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Entity &amp; Mandate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7 ENTITY TYPES — EACH WITH DIVERGENT COMPLIANCE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178308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1521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Entity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39" y="1133856"/>
            <a:ext cx="178308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2303" y="11521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Default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33856"/>
            <a:ext cx="178308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3" y="11521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133856"/>
            <a:ext cx="178308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3" y="11521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Co. House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133856"/>
            <a:ext cx="178308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5864" y="11521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Charity Comm.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1133856"/>
            <a:ext cx="178308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0384" y="11521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Board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81328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14996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1917"/>
                </a:solidFill>
                <a:latin typeface="Calibri"/>
              </a:rPr>
              <a:t>Sole Trader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39" y="1481328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1" y="14996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Any-1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481328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14996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Principal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79" y="1481328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14996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481328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2" y="14996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1481328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14996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920240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1938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1917"/>
                </a:solidFill>
                <a:latin typeface="Calibri"/>
              </a:rPr>
              <a:t>Partnership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39" y="1920240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0591" y="1938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Any-1/2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1920240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1938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Partner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79" y="1920240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1" y="1938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1920240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74152" y="1938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1920240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48672" y="1938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No (RM on rename)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359152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1917"/>
                </a:solidFill>
                <a:latin typeface="Calibri"/>
              </a:rPr>
              <a:t>Limited Co.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39" y="2359152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50591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Any-2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59" y="2359152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5112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Director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79" y="2359152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1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102E"/>
                </a:solidFill>
                <a:latin typeface="Calibri"/>
              </a:rPr>
              <a:t>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01000" y="2359152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4152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2359152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48672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798064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1917"/>
                </a:solidFill>
                <a:latin typeface="Calibri"/>
              </a:rPr>
              <a:t>LLP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39" y="2798064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50591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Any-2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59" y="2798064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Member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79" y="2798064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9631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Yes (LLP no.)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1000" y="2798064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74152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0" y="2798064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48672" y="2816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3236976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072" y="325526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1917"/>
                </a:solidFill>
                <a:latin typeface="Calibri"/>
              </a:rPr>
              <a:t>Charity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77439" y="3236976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50591" y="325526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102E"/>
                </a:solidFill>
                <a:latin typeface="Calibri"/>
              </a:rPr>
              <a:t>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51959" y="3236976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25112" y="325526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Trustee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79" y="3236976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99631" y="325526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01000" y="3236976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74152" y="325526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Yes (CC no.)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75520" y="3236976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48672" y="325526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Yes (all changes)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3675887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2" y="36941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1917"/>
                </a:solidFill>
                <a:latin typeface="Calibri"/>
              </a:rPr>
              <a:t>Club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77439" y="3675887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50591" y="36941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102E"/>
                </a:solidFill>
                <a:latin typeface="Calibri"/>
              </a:rPr>
              <a:t>All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51959" y="3675887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25112" y="36941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Committee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79" y="3675887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9631" y="36941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01000" y="3675887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74152" y="36941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75520" y="3675887"/>
            <a:ext cx="1783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48672" y="36941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Yes (all changes)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4114800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6072" y="41330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1917"/>
                </a:solidFill>
                <a:latin typeface="Calibri"/>
              </a:rPr>
              <a:t>Society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77439" y="4114800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50591" y="41330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102E"/>
                </a:solidFill>
                <a:latin typeface="Calibri"/>
              </a:rPr>
              <a:t>All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51959" y="4114800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25112" y="41330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Committee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26479" y="4114800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99631" y="41330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01000" y="4114800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74152" y="41330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4114800"/>
            <a:ext cx="1783080" cy="411480"/>
          </a:xfrm>
          <a:prstGeom prst="rect">
            <a:avLst/>
          </a:prstGeom>
          <a:solidFill>
            <a:srgbClr val="FFF5F5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48672" y="41330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716C"/>
                </a:solidFill>
                <a:latin typeface="Calibri"/>
              </a:rPr>
              <a:t>Yes (all changes)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46268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MANDATE RULE ENFORCEMENT LOGIC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02920" y="4919472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02920" y="4919472"/>
            <a:ext cx="361188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4974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917"/>
                </a:solidFill>
                <a:latin typeface="Calibri"/>
              </a:rPr>
              <a:t>Any-1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" y="5230368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Single signature sufficient. Cooling-off triggers automatically after execution.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574243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8102E"/>
                </a:solidFill>
                <a:latin typeface="Calibri"/>
              </a:rPr>
              <a:t>→ sole-trader, basic current account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98264" y="4919472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98264" y="4919472"/>
            <a:ext cx="361188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35424" y="4974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917"/>
                </a:solidFill>
                <a:latin typeface="Calibri"/>
              </a:rPr>
              <a:t>Any-2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35424" y="5230368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2 of N signatories required. Co-signer notified. 48hr window before RM escalation.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35424" y="574243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8102E"/>
                </a:solidFill>
                <a:latin typeface="Calibri"/>
              </a:rPr>
              <a:t>→ limited companies, LLPs, partnerships with 2+ directors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93608" y="4919472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93608" y="4919472"/>
            <a:ext cx="361188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30768" y="4974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917"/>
                </a:solidFill>
                <a:latin typeface="Calibri"/>
              </a:rPr>
              <a:t>All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30768" y="5230368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716C"/>
                </a:solidFill>
                <a:latin typeface="Calibri"/>
              </a:rPr>
              <a:t>Every verified signatory must sign. Treasurer acts last. Board minutes required.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30768" y="5742432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8102E"/>
                </a:solidFill>
                <a:latin typeface="Calibri"/>
              </a:rPr>
              <a:t>→ charities, clubs, societies — getMandateFor() returns strictest across accounts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API Integration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GOV.UK ONE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4358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16C"/>
                </a:solidFill>
                <a:latin typeface="Calibri"/>
              </a:rPr>
              <a:t>KYC/AML · Identity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Flow: PKCE OAuth2 → ID assertion JWT → verify JWKS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Scopes: openid · email · phone · address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Returns: VC (Verifiable Credential) with ID confidence P2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Webhook: identity_assurance_completed → trigger List 1 approval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Error states: low_confidence → RM escalation, fraud_signal →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914400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914400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05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HMRC MTD VAT API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24358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16C"/>
                </a:solidFill>
                <a:latin typeface="Calibri"/>
              </a:rPr>
              <a:t>Making Tax Digital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81328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Auth: OAuth2 client_credentials, VRN-scoped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GET /obligations/{vrn} — current quarter, status, deadline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POST /returns/{vrn} — VAT100 boxes 1–9, period key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Response: formBundleNumber (receipt) in &lt; 5 seconds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Fraud headers: Gov-Client-Device-ID · Gov-Client-User-IDs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57600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VOCALINK CoP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8678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16C"/>
                </a:solidFill>
                <a:latin typeface="Calibri"/>
              </a:rPr>
              <a:t>Confirmation of Payee · PSR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Request: account name + sort code + account number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Response: MATCHED · CLOSE_MATCH · NOT_MATCHED · UNAVAILABLE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Timing: pre-payment, non-blocking (shown in payee add flow)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Required for: all CHAPS, FP &gt; £250k, any new payee add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Mismatch: warn user + require explicit override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657600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657600"/>
            <a:ext cx="5577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917"/>
                </a:solidFill>
                <a:latin typeface="Calibri"/>
              </a:rPr>
              <a:t>COMPANIES HOUSE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8678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16C"/>
                </a:solidFill>
                <a:latin typeface="Calibri"/>
              </a:rPr>
              <a:t>Director/member register · Entity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24528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GET /company/{number} — registered name, status, officers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Sync on: entity onboarding + mandate add (director check)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Officers list: validate proposed signatory against register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Webhook: company_status_changed → alert RM if dissolved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C8102E"/>
                </a:solidFill>
                <a:latin typeface="Calibri"/>
              </a:rPr>
              <a:t>▪  </a:t>
            </a:r>
            <a:r>
              <a:rPr sz="900">
                <a:solidFill>
                  <a:srgbClr val="78716C"/>
                </a:solidFill>
                <a:latin typeface="Calibri"/>
              </a:rPr>
              <a:t>Rate limit: 600/5min — cache responses 1hr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Design System — Tokens &amp;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D6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COLOUR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97864"/>
            <a:ext cx="384048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197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#C8102E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38074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brand-red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CTAs, active nav, top 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solidFill>
            <a:srgbClr val="A00D24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#A00D24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8928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brand-dark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46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Hover / pressed on 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21992"/>
            <a:ext cx="384048" cy="384048"/>
          </a:xfrm>
          <a:prstGeom prst="rect">
            <a:avLst/>
          </a:prstGeom>
          <a:solidFill>
            <a:srgbClr val="1C1917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2219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#1C1917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40487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stone-900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258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Primary text, dark cards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34056"/>
            <a:ext cx="384048" cy="384048"/>
          </a:xfrm>
          <a:prstGeom prst="rect">
            <a:avLst/>
          </a:prstGeom>
          <a:solidFill>
            <a:srgbClr val="FAF6E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7340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#FAF6EF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91693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warm-bg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770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Page background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78716C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246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#78716C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4290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stone-500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282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Secondary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58184"/>
            <a:ext cx="384048" cy="384048"/>
          </a:xfrm>
          <a:prstGeom prst="rect">
            <a:avLst/>
          </a:prstGeom>
          <a:solidFill>
            <a:srgbClr val="A8A29E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7581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#A8A29E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39410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stone-400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Tertiary / placeholder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70248"/>
            <a:ext cx="384048" cy="384048"/>
          </a:xfrm>
          <a:prstGeom prst="rect">
            <a:avLst/>
          </a:prstGeom>
          <a:solidFill>
            <a:srgbClr val="FECACA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2702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#FECACA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453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red-200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306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Accent on red surfaces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782312"/>
            <a:ext cx="384048" cy="384048"/>
          </a:xfrm>
          <a:prstGeom prst="rect">
            <a:avLst/>
          </a:prstGeom>
          <a:solidFill>
            <a:srgbClr val="D6D3D1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7823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917"/>
                </a:solidFill>
                <a:latin typeface="Calibri"/>
              </a:rPr>
              <a:t>#D6D3D1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49651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102E"/>
                </a:solidFill>
                <a:latin typeface="Calibri"/>
              </a:rPr>
              <a:t>stone-300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4818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Accent on dark surfaces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841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TYPOGRAPHY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1143000"/>
            <a:ext cx="2743200" cy="4754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1179576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Fraunces (font-display)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1399032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Serif — editorial headings, large balance numbers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1709928"/>
            <a:ext cx="2743200" cy="4754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4608" y="1746504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Fraunces tight (font-display-tight)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8" y="1965960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Fraunces + tight letter-spacing, hero figures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276856"/>
            <a:ext cx="2743200" cy="4754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8" y="2313432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Geist Sans (font-body)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4608" y="2532888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All body text, labels, nav, buttons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843784"/>
            <a:ext cx="2743200" cy="4754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64608" y="2880360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Geist Mono (font-mono)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4608" y="3099815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Account numbers, sort codes, financial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410712"/>
            <a:ext cx="2743200" cy="4754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64608" y="3447288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num-tab class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64608" y="3666744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6D3D1"/>
                </a:solidFill>
                <a:latin typeface="Calibri"/>
              </a:rPr>
              <a:t>tabular-nums — ALL monetary amounts, ensures alignment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8412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SPACING SCALE (4px base)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2326640"/>
            <a:ext cx="438912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2275840"/>
            <a:ext cx="438912" cy="10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240" y="2225040"/>
            <a:ext cx="438912" cy="152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0" y="2174240"/>
            <a:ext cx="438912" cy="203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75520" y="2072640"/>
            <a:ext cx="438912" cy="30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2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24160" y="1971040"/>
            <a:ext cx="438912" cy="406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2416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32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972800" y="1767840"/>
            <a:ext cx="438912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7280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21440" y="1564640"/>
            <a:ext cx="438912" cy="812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521440" y="2423160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C1917"/>
                </a:solidFill>
                <a:latin typeface="Calibri"/>
              </a:rPr>
              <a:t>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521440" y="26334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8716C"/>
                </a:solidFill>
                <a:latin typeface="Calibri"/>
              </a:rPr>
              <a:t>tw-16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8096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SHADOW SYSTEM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80960" y="324612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08975" y="330098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lift-1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08975" y="3538727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1px 2px 4px rgba(0,0,0,.06)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33375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List items, inline cards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80960" y="3959352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08975" y="4014215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lift-2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08975" y="42519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0 4px 16px rgba(0,0,0,.10)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26880" y="4050791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Primary cards, panels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0960" y="4672583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08975" y="4727447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Calibri"/>
              </a:rPr>
              <a:t>lift-hero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08975" y="496519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8716C"/>
                </a:solidFill>
                <a:latin typeface="Calibri"/>
              </a:rPr>
              <a:t>0 20px 60px rgba(0,0,0,.22)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6880" y="4764023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917"/>
                </a:solidFill>
                <a:latin typeface="Calibri"/>
              </a:rPr>
              <a:t>Balance hero card only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0" y="4224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16C"/>
                </a:solidFill>
                <a:latin typeface="Calibri"/>
              </a:rPr>
              <a:t>KEY COMPONENT PATTERNS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4526280"/>
            <a:ext cx="2606040" cy="420624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64608" y="458114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StepFrame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52360" y="46177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Workflow wrapper — back/close/progress/next. No hooks inside.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754880" y="5029200"/>
            <a:ext cx="2606040" cy="420624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64608" y="508406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52360" y="512064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focus-visible:ring-2 — WCAG keyboard visible, mouse unaffected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754880" y="5532120"/>
            <a:ext cx="2606040" cy="420624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64608" y="558698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Toggle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52360" y="562356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Switch component — focus-visible:ring — screen reader announced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54880" y="6035040"/>
            <a:ext cx="2606040" cy="420624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64608" y="608990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52360" y="612648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Label + child + hint — uppercase tracking, 11px hint text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54880" y="6537960"/>
            <a:ext cx="2606040" cy="420624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64608" y="659282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ProgressDots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52360" y="662940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716C"/>
                </a:solidFill>
                <a:latin typeface="Calibri"/>
              </a:rPr>
              <a:t>Step indicator — red active, stone complete, stone-300 future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60196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8716C"/>
                </a:solidFill>
                <a:latin typeface="Calibri"/>
              </a:rPr>
              <a:t>Business Banking Advisor  ·  Self-initiated  ·  Own time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871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