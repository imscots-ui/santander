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457200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00584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Architecture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97480"/>
            <a:ext cx="100584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0" i="0">
                <a:solidFill>
                  <a:srgbClr val="FECACA"/>
                </a:solidFill>
                <a:latin typeface="Calibri"/>
              </a:rPr>
              <a:t>Santander Business Banking Prototype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310128"/>
            <a:ext cx="777240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520440"/>
            <a:ext cx="228600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5,700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lines · 1 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7180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71800" y="3520440"/>
            <a:ext cx="228600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8152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9981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workflows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068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40680" y="3520440"/>
            <a:ext cx="228600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040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6869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entity types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956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520440"/>
            <a:ext cx="228600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928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16:9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757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17720"/>
            <a:ext cx="10515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D6D3D1"/>
                </a:solidFill>
                <a:latin typeface="Calibri"/>
              </a:rPr>
              <a:t>Technical deep-dive  ·  single-file React architecture  ·  state model  ·  entity &amp; mandate logic  ·  design 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1005840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ECACA"/>
                </a:solidFill>
                <a:latin typeface="Calibri"/>
              </a:rPr>
              <a:t>Alan Davidson  ·  Business Banking Advisor  ·  Self-initiated  ·  June 2026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C8102E"/>
                </a:solidFill>
                <a:latin typeface="Calibri"/>
              </a:rPr>
              <a:t>WHY ONE 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The Single-File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App.jsx — one React function component, read top-to-bottom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14173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37033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44168"/>
            <a:ext cx="3520439" cy="7936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5,700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056485"/>
            <a:ext cx="3483863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lines of code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0832" y="1234440"/>
            <a:ext cx="3703320" cy="14173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1234440"/>
            <a:ext cx="37033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1344168"/>
            <a:ext cx="3520439" cy="7936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870 KB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56485"/>
            <a:ext cx="3483863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self-contained HTML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84464" y="1234440"/>
            <a:ext cx="3703320" cy="14173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84464" y="1234440"/>
            <a:ext cx="37033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1344168"/>
            <a:ext cx="3520439" cy="7936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190 KB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056485"/>
            <a:ext cx="3483863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gzipped — fast on 3G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907792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907792"/>
            <a:ext cx="37033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026664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Intentional monolith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3364992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One file means the entire product reads top-to-bottom with no module navigation — ideal for a prototype meant to be understood at a glance.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70832" y="2907792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70832" y="2907792"/>
            <a:ext cx="37033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7136" y="3026664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backend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7136" y="3364992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No real API calls except Google Fonts. All data is in-memory, fictional, and front-end only.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84464" y="2907792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84464" y="2907792"/>
            <a:ext cx="37033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0768" y="3026664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Single HTML output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viteSingleFile inlines all JS and CSS into one portable file — runs from any browser, no install.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425696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25696"/>
            <a:ext cx="37033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" y="454456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882896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Static hosting, zero server cost. Deployed and live at imscots-ui.github.io/santander.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70832" y="4425696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70832" y="4425696"/>
            <a:ext cx="37033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17136" y="454456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The trade-off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17136" y="4882896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Monolith size vs. navigation simplicity — a deliberate choice for a demo/research context, not a production pattern.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84464" y="4425696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84464" y="4425696"/>
            <a:ext cx="37033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30768" y="454456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Composition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8" y="4882896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Sub-components are closures inside App — they share state directly without prop-drilling or context.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C8102E"/>
                </a:solidFill>
                <a:latin typeface="Calibri"/>
              </a:rPr>
              <a:t>INTERNAL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Internal Component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D6D3D1"/>
                </a:solidFill>
                <a:latin typeface="Calibri"/>
              </a:rPr>
              <a:t>The fixed top-to-bottom order inside the App() component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457200" cy="10789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150876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Hooks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8308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120+ state variables, lines ~28–685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41732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417320"/>
            <a:ext cx="457200" cy="10789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175564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150876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Static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78308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ENTITY_INFO, accounts/mtdData/statementsData (useMemo)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0604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606040"/>
            <a:ext cx="457200" cy="10789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94436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269748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Inline CSS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297180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css template literal: brand, animations, glass effects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260604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9632" y="2606040"/>
            <a:ext cx="457200" cy="10789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294436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69748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Primitives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97180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ProgressDots, StepFrame, Input, Field, Toggle (closures)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79476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794760"/>
            <a:ext cx="457200" cy="10789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13308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388620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Workflow renderers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" y="416052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renderClosure … renderMtdSubmit (12 closures)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99632" y="379476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99632" y="3794760"/>
            <a:ext cx="457200" cy="10789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9632" y="413308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388620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Screen components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16052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Home, Approve, Audit, Statements, MTD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98348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457200" cy="10789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32180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507492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Sheets / modals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" y="534924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15 overlay sheets (OTP, Compliance, VoiceId, A11y …)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99632" y="498348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99632" y="4983480"/>
            <a:ext cx="457200" cy="10789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2" y="532180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507492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Main render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66560" y="534924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desktop sidebar + mobile bottom-nav code paths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C8102E"/>
                </a:solidFill>
                <a:latin typeface="Calibri"/>
              </a:rPr>
              <a:t>THE ONE HARD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Hook Discipline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Why closures cannot hold hooks — and how the boundary is enforced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1274552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89888"/>
            <a:ext cx="86868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No hook may appear after line ~744 — the closeWorkflow() boundary.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107899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FECACA"/>
                </a:solidFill>
                <a:latin typeface="Calibri"/>
              </a:rPr>
              <a:t>Everything below that line is a closure. Closures can't call useState / useEffect / useMemo.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37033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State at the top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2926080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120+ state variables declared at the top of App (lines ~28–685), before any logic.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2468880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2468880"/>
            <a:ext cx="37033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Closures, not components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2926080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renderXxx functions and screen/sheet components are closures inside App — they read/write top-level state directly.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84464" y="2468880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84464" y="2468880"/>
            <a:ext cx="37033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8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closeWorkflow() resets 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0768" y="2926080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Every workflow-specific state must be reset in closeWorkflow() — ghost state between workflows is a known failure mode.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42816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42816"/>
            <a:ext cx="37033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436168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useEffect, sparingly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4700016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Only: 30s tick timer, font loading, scroll resets. No data fetching — there is no backend.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70832" y="4242816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0832" y="4242816"/>
            <a:ext cx="37033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436168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useMemo for derived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700016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accounts and statementsData are memoised from entityType and payment history — recompute only when inputs change.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84464" y="4242816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84464" y="4242816"/>
            <a:ext cx="37033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0768" y="436168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The awk caveat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4700016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The /ship-ready hook flags hooks past line 120 — a known false positive at this file size; the real boundary is line ~744.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C8102E"/>
                </a:solidFill>
                <a:latin typeface="Calibri"/>
              </a:rPr>
              <a:t>STATE DRIVES THE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Navigation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Three layers of state compose every 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70408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864" cy="9601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81328"/>
            <a:ext cx="6729984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tab  —  main screen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'home' · 'approve' · 'audit' · 'mtd' · 'statements'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59" y="2359152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C8102E"/>
                </a:solidFill>
                <a:latin typeface="Calibri"/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97480"/>
            <a:ext cx="70408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697480"/>
            <a:ext cx="54864" cy="1371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807208"/>
            <a:ext cx="6729984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workflow  —  full-screen overlay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null · closure · biz · mandate · wages · lending · fx ·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dormancy · unlink · ringfence · idcheck · mtd-submit · complaint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59" y="4096512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C8102E"/>
                </a:solidFill>
                <a:latin typeface="Calibri"/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34840"/>
            <a:ext cx="70408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434840"/>
            <a:ext cx="54864" cy="7772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544568"/>
            <a:ext cx="6729984" cy="5943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step  —  0-based position within the active 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1371600"/>
            <a:ext cx="3959352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1371600"/>
            <a:ext cx="3959352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1490472"/>
            <a:ext cx="3666744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viewMode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18704" y="1828800"/>
            <a:ext cx="3666744" cy="2148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'mobile' (default) | 'desktop'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Toggles bottom-nav vs. sidebar layout.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All state is shared between shells —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switching mobile ↔ desktop preserves any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workflow already in progress.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4206240"/>
            <a:ext cx="39593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0" y="4206240"/>
            <a:ext cx="3959352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18704" y="4325112"/>
            <a:ext cx="3666744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Why this matters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18704" y="4663440"/>
            <a:ext cx="3666744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A workflow overlay renders on top of the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current screen; closing it returns you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exactly where you were. One state tree,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two render paths, zero duplication.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C8102E"/>
                </a:solidFill>
                <a:latin typeface="Calibri"/>
              </a:rPr>
              <a:t>ONE SWITCH RESHAPES EVERYTHING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Entity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ENTITY_INFO (~line 264) — entityType drives all derived config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5087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Sole Trader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93976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93976" y="1325880"/>
            <a:ext cx="15087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9696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Partnership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30752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30752" y="1325880"/>
            <a:ext cx="15087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6472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Limited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67528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67528" y="1325880"/>
            <a:ext cx="15087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248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LLP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04304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04304" y="1325880"/>
            <a:ext cx="15087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0024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Charity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41080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641080" y="1325880"/>
            <a:ext cx="15087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Club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77856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277856" y="1325880"/>
            <a:ext cx="15087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23576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Society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210312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44403C"/>
                </a:solidFill>
                <a:latin typeface="Calibri"/>
              </a:rPr>
              <a:t>Switching entityType re-derives all of the following: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6888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2468880"/>
            <a:ext cx="37033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Entity object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" y="2926080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Labels (‘director’ vs ‘trustee’), required documents, and the principal terminology used throughout the UI.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70832" y="246888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0832" y="2468880"/>
            <a:ext cx="37033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17136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Registration numbers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7136" y="2926080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Companies House number, LLP number, or Charity Commission number — shown and validated per type.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84464" y="246888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84464" y="2468880"/>
            <a:ext cx="37033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30768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accounts array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30768" y="2926080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useMemo (~line 334) returns a different set of accounts and mandate rules for each entity type.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986784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3986784"/>
            <a:ext cx="37033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" y="4105656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Mandate defaults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" y="4443984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Sole trader → any-1; limited/LLP → any-2; charity/club/society → all signatories required.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70832" y="3986784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370832" y="3986784"/>
            <a:ext cx="37033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17136" y="4105656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Board minutes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17136" y="4443984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Clubs, charities, and societies require board-minute upload on every change; companies do not.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84464" y="3986784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84464" y="3986784"/>
            <a:ext cx="37033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30768" y="4105656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UI copy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30768" y="4443984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Workflow steps, compliance prompts, and document checklists all re-render from the active entity.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C8102E"/>
                </a:solidFill>
                <a:latin typeface="Calibri"/>
              </a:rPr>
              <a:t>WHO MUST AUTHORISE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Mandate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getMandateFor(accountNos) — line ~420 — picks the strictest rule across selected accounts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7033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370332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33375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any-1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48840"/>
            <a:ext cx="3337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Single authoriser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33375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78716C"/>
                </a:solidFill>
                <a:latin typeface="Calibri"/>
              </a:rPr>
              <a:t>One signatory is sufficient. No co-signer, no cooling-off.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371600"/>
            <a:ext cx="37033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371600"/>
            <a:ext cx="3703320" cy="6400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463040"/>
            <a:ext cx="33375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any-2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148840"/>
            <a:ext cx="3337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Two authorisers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606040"/>
            <a:ext cx="33375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78716C"/>
                </a:solidFill>
                <a:latin typeface="Calibri"/>
              </a:rPr>
              <a:t>Two signatories required → triggers the co-signer workflow and 48h window.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371600"/>
            <a:ext cx="37033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371600"/>
            <a:ext cx="3703320" cy="6400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7344" y="1463040"/>
            <a:ext cx="33375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148840"/>
            <a:ext cx="3337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Every signatory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2606040"/>
            <a:ext cx="33375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78716C"/>
                </a:solidFill>
                <a:latin typeface="Calibri"/>
              </a:rPr>
              <a:t>All signatories must approve → 24h cooling-off period is enforced.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31920"/>
            <a:ext cx="11274552" cy="64008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069080"/>
            <a:ext cx="54864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Strictness order:   all  &gt;  any-2  &gt;  any-1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087368"/>
            <a:ext cx="53035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Select multiple accounts → the toughest rule wins.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800600"/>
            <a:ext cx="11274552" cy="8686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901184"/>
            <a:ext cx="1828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193792"/>
            <a:ext cx="109728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FECACA"/>
                </a:solidFill>
                <a:latin typeface="Calibri"/>
              </a:rPr>
              <a:t>The chosen rule determines whether a workflow requires a co-signer and/or a 24-hour cooling-off period before execution — the core control behind dual authorisation.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C8102E"/>
                </a:solidFill>
                <a:latin typeface="Calibri"/>
              </a:rPr>
              <a:t>TIME-BASED SAFEGUARDS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Cooling-off &amp; Stalled Requests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Two live mechanisms that keep high-risk actions reversible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321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53212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512064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Cooling-off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03120"/>
            <a:ext cx="5120640" cy="3566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cooling array — requests pending a 24-hour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execution delay (working days only, bank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holidays skipped).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tick state refreshes every 30 seconds —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keeps the progress bars live and accurate.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The user can Cancel or Fast-Track any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request while it sits in the cooling window.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Regulatory basis: FCA BCOBS 4A.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371600"/>
            <a:ext cx="55321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371600"/>
            <a:ext cx="5532120" cy="54864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463040"/>
            <a:ext cx="512064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Stalled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03120"/>
            <a:ext cx="5120640" cy="3566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stalled array — a co-signer missed the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approval window.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The system auto-escalates to the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Relationship Manager (Priya Desai).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The UI shows a “Priya’s on it” card with a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direct ‘Call Priya’ action button.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Escalation path: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failed co-sign → RM notification → manual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override and resolution.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C8102E"/>
                </a:solidFill>
                <a:latin typeface="Calibri"/>
              </a:rPr>
              <a:t>12 STEP-BASED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Workflow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Each is a renderXxx closure reading and writing top-level App state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0292" cy="10241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81328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renderClosure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39" y="1481328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C8102E"/>
                </a:solidFill>
                <a:latin typeface="Calibri"/>
              </a:rPr>
              <a:t>~1021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28800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Account closure + compliance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371600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371600"/>
            <a:ext cx="50292" cy="10241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1481328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renderBiz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5472" y="1481328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C8102E"/>
                </a:solidFill>
                <a:latin typeface="Calibri"/>
              </a:rPr>
              <a:t>~1332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1828800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Business KYC / KYB verification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371600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371600"/>
            <a:ext cx="50292" cy="10241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49056" y="1481328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renderMandate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19104" y="1481328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C8102E"/>
                </a:solidFill>
                <a:latin typeface="Calibri"/>
              </a:rPr>
              <a:t>~1428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6" y="1828800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Signatory mandate changes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532888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2532888"/>
            <a:ext cx="50292" cy="10241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2642616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renderWages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39" y="2642616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C8102E"/>
                </a:solidFill>
                <a:latin typeface="Calibri"/>
              </a:rPr>
              <a:t>~1630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2990088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Bulk wages (CSV + approval)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70832" y="2532888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70832" y="2532888"/>
            <a:ext cx="50292" cy="10241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35424" y="2642616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renderLending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05472" y="2642616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C8102E"/>
                </a:solidFill>
                <a:latin typeface="Calibri"/>
              </a:rPr>
              <a:t>~1915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5424" y="2990088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Business lending application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84464" y="2532888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84464" y="2532888"/>
            <a:ext cx="50292" cy="10241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49056" y="2642616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renderFX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19104" y="2642616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C8102E"/>
                </a:solidFill>
                <a:latin typeface="Calibri"/>
              </a:rPr>
              <a:t>~2018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9056" y="2990088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Foreign exchange payments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694176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694176"/>
            <a:ext cx="50292" cy="10241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" y="3803904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renderDormancy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1839" y="3803904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C8102E"/>
                </a:solidFill>
                <a:latin typeface="Calibri"/>
              </a:rPr>
              <a:t>~2149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" y="4151376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Dormant account reactivation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70832" y="3694176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70832" y="3694176"/>
            <a:ext cx="50292" cy="10241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35424" y="3803904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renderUnlink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05472" y="3803904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C8102E"/>
                </a:solidFill>
                <a:latin typeface="Calibri"/>
              </a:rPr>
              <a:t>~2177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35424" y="4151376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Personal/business unlinking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84464" y="3694176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284464" y="3694176"/>
            <a:ext cx="50292" cy="10241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49056" y="3803904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renderRingfence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19104" y="3803904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C8102E"/>
                </a:solidFill>
                <a:latin typeface="Calibri"/>
              </a:rPr>
              <a:t>~2310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49056" y="4151376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Credit ring-fencing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855464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57200" y="4855464"/>
            <a:ext cx="50292" cy="10241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1792" y="4965192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renderIdCheck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91839" y="4965192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C8102E"/>
                </a:solidFill>
                <a:latin typeface="Calibri"/>
              </a:rPr>
              <a:t>~2390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" y="5312664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Identity / Voice ID checks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70832" y="4855464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70832" y="4855464"/>
            <a:ext cx="50292" cy="10241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35424" y="4965192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renderMtdSubmit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05472" y="4965192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C8102E"/>
                </a:solidFill>
                <a:latin typeface="Calibri"/>
              </a:rPr>
              <a:t>~4998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35424" y="5312664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Making Tax Digital submission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84464" y="4855464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84464" y="4855464"/>
            <a:ext cx="50292" cy="10241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49056" y="4965192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renderComplaint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19104" y="4965192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C8102E"/>
                </a:solidFill>
                <a:latin typeface="Calibri"/>
              </a:rPr>
              <a:t>new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49056" y="5312664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FCA DISP complaint handling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C8102E"/>
                </a:solidFill>
                <a:latin typeface="Calibri"/>
              </a:rPr>
              <a:t>BOSUN'S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Design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Brand tokens, spacing scale, and the colour rules enforced on every commit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2697480" cy="868680"/>
          </a:xfrm>
          <a:prstGeom prst="rect">
            <a:avLst/>
          </a:prstGeom>
          <a:solidFill>
            <a:srgbClr val="C8102E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#c8102e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Brand 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2696" y="1325880"/>
            <a:ext cx="2697480" cy="868680"/>
          </a:xfrm>
          <a:prstGeom prst="rect">
            <a:avLst/>
          </a:prstGeom>
          <a:solidFill>
            <a:srgbClr val="FAF6E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Warm bg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08192" y="1325880"/>
            <a:ext cx="2697480" cy="868680"/>
          </a:xfrm>
          <a:prstGeom prst="rect">
            <a:avLst/>
          </a:prstGeom>
          <a:solidFill>
            <a:srgbClr val="1C1917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#1c1917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Stone-900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33688" y="1325880"/>
            <a:ext cx="2697480" cy="868680"/>
          </a:xfrm>
          <a:prstGeom prst="rect">
            <a:avLst/>
          </a:prstGeom>
          <a:solidFill>
            <a:srgbClr val="78716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0848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#78716c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Stone-500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377440"/>
            <a:ext cx="11274552" cy="68580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468880"/>
            <a:ext cx="20116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C8102E"/>
                </a:solidFill>
                <a:latin typeface="Calibri"/>
              </a:rPr>
              <a:t>Spacing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2542032"/>
            <a:ext cx="89611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onsolas"/>
              </a:rPr>
              <a:t>4 · 8 · 12 · 16 · 24 · 32 · 48 · 64 · 96 · 128 px      →      Tailwind  1 · 2 · 3 · 4 · 6 · 8 · 12 · 16 · 24 · 32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246120"/>
            <a:ext cx="37033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364991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Typography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703320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Fraunces — display headings (Google Fonts). Geist — body. Geist Mono — account numbers and figures.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70832" y="3246120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0832" y="3246120"/>
            <a:ext cx="37033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3364991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Colour law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3703320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Never text-gray-* or text-zinc-* — always text-stone-*. Never stone-400/500 on dark or red surfaces.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84464" y="3246120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84464" y="3246120"/>
            <a:ext cx="37033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0768" y="3364991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One primary CTA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3703320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Exactly one bg-[#c8102e] or bg-stone-900 primary button per view — hierarchy stays clear.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672583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4672583"/>
            <a:ext cx="37033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4791455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Tabular figures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" y="5129783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num-tab class (font-variant-numeric: tabular-nums) on every monetary amount for clean alignment.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70832" y="4672583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70832" y="4672583"/>
            <a:ext cx="37033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17136" y="4791455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Inline CSS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17136" y="5129783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css template literal (~line 779): hero-card, cool-card, anim-fade, anim-slide, shimmer, stagger-1…7.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84464" y="4672583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84464" y="4672583"/>
            <a:ext cx="37033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30768" y="4791455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Enforcement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0768" y="5129783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Bosun station in /ship-ready scans for spacing, colour, and CTA violations before every push.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C8102E"/>
                </a:solidFill>
                <a:latin typeface="Calibri"/>
              </a:rPr>
              <a:t>BUILD &amp;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Tech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Minimal, modern, front-end only — no backend, no database, no API server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4864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FRONTEND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4592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45920"/>
            <a:ext cx="55321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76479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React 18.3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10312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Single large function component; closures as sub-components.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6324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63240"/>
            <a:ext cx="55321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318211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Tailwind CSS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352044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Utility-first styling with a custom stone-* palette.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48056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480560"/>
            <a:ext cx="55321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45994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493776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Icon library used throughout the UI.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2" y="1325880"/>
            <a:ext cx="54864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BUILD &amp; DEPLOY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9632" y="164592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1645920"/>
            <a:ext cx="55321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176479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Vite 5 + viteSingleFile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210312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Fast dev server; inlines all JS/CSS into one HTML file.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9632" y="306324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9632" y="3063240"/>
            <a:ext cx="55321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318211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352044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~870 KB HTML · ~190 KB gzip · GitHub Pages static hosting.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9632" y="448056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4480560"/>
            <a:ext cx="55321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5936" y="45994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Commands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493776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npm run dev · npm run build · npm run preview.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897880"/>
            <a:ext cx="11274552" cy="54864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1">
                <a:solidFill>
                  <a:srgbClr val="FFFFFF"/>
                </a:solidFill>
                <a:latin typeface="Calibri"/>
              </a:rPr>
              <a:t>python-pptx is documentation tooling only — it builds these decks, it is not part of the app.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C8102E"/>
                </a:solidFill>
                <a:latin typeface="Calibri"/>
              </a:rPr>
              <a:t>STANDING ORDERS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Security &amp; Accessibility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The non-negotiable rules enforced before every commit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5321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49047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dangerous 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182880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No dangerouslySetInnerHTML on dynamic content — hardcoded static strings only.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37160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371600"/>
            <a:ext cx="55321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9047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Focus 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82880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No focus:outline-none without a focus-visible: companion — every bare removal is an a11y breach.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56032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560320"/>
            <a:ext cx="55321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67919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WCAG 2.1 AA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301752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Contrast ≥ 4.5:1, focus rings preserved for keyboard navigation, ARIA labels where needed.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256032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2" y="2560320"/>
            <a:ext cx="55321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267919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secrets in source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301752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No real credentials, account numbers, API keys, or emails beyond the author credit.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749039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749039"/>
            <a:ext cx="55321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386791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force push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420624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git push --force is forbidden — ever. History stays intact.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9632" y="3749039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9632" y="3749039"/>
            <a:ext cx="55321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5936" y="386791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/ship-ready 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5936" y="420624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Seven-station pre-commit checklist — one RED finding and the ship stands down to fix.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93776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937760"/>
            <a:ext cx="55321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" y="50566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Fictional data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539496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Every account number, name, and amount in the prototype is invented.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9632" y="493776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99632" y="4937760"/>
            <a:ext cx="55321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45936" y="50566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One external call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539496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Google Fonts is the only external network request in production — nothing else leaves the browser.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