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Santander  ·  Business Banking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645920"/>
            <a:ext cx="99943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78716C"/>
                </a:solidFill>
                <a:latin typeface="Calibri"/>
              </a:rPr>
              <a:t>TECHNICAL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94560"/>
            <a:ext cx="999439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  <a:latin typeface="Calibri"/>
              </a:rPr>
              <a:t>System Design, Data Flow &amp;
Integration Blueprint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749039"/>
            <a:ext cx="99943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78716C"/>
                </a:solidFill>
                <a:latin typeface="Calibri"/>
              </a:rPr>
              <a:t>HMS 1701 · Santander Business Banking Prototype · June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3474720" y="4251960"/>
            <a:ext cx="5239512" cy="65836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74720" y="4288536"/>
            <a:ext cx="52395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BUSINESS BANKING ADVISOR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4572000"/>
            <a:ext cx="52395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FECACA"/>
                </a:solidFill>
                <a:latin typeface="Calibri"/>
              </a:rPr>
              <a:t>Self-initiated  ·  Completed out of hours  ·  Own time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601968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Business Banking Advisor  ·  Self-initiated  ·  Own time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521440" y="6537960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C8102E"/>
                </a:solidFill>
                <a:latin typeface="Calibri"/>
              </a:rPr>
              <a:t>Prototype Architecture: Component Map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13232"/>
            <a:ext cx="11274552" cy="18288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868680"/>
            <a:ext cx="11457432" cy="5394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914400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78716C"/>
                </a:solidFill>
                <a:latin typeface="Calibri"/>
              </a:rPr>
              <a:t>BROWSER (any device — no install required)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11000232" cy="4754880"/>
          </a:xfrm>
          <a:prstGeom prst="rect">
            <a:avLst/>
          </a:prstGeom>
          <a:solidFill>
            <a:srgbClr val="F5F5F4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261872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index.html  ·  350KB  ·  Fully self-contained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572768"/>
            <a:ext cx="10634472" cy="150876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18488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React 18 — App.jsx  (~3,700 lines, single component)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1901952"/>
            <a:ext cx="3017520" cy="105156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1975104"/>
            <a:ext cx="28346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State Layer (60+ useState)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0" y="1901952"/>
            <a:ext cx="3017520" cy="105156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0" y="1975104"/>
            <a:ext cx="28346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useMemo Derivations (6)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32320" y="1901952"/>
            <a:ext cx="3200400" cy="105156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59" y="1975104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Event Handlers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221284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tab · workflow · step · viewMode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2404872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cooling[] · stalled[] · tick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2596896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entityType · approvalState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2788920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payees[] · wagesSource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0" y="221284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accounts (by entity type)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0" y="2404872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statementsData (5 months)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0" y="2596896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counterpartyStats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0" y="2788920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searchResults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2212848"/>
            <a:ext cx="3017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closeWorkflow() — resets all state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23760" y="2404872"/>
            <a:ext cx="3017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getMandateFor(accountNos)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23760" y="2596896"/>
            <a:ext cx="3017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addWorkingHours(date, hrs)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23760" y="2788920"/>
            <a:ext cx="3017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formatExecuteTime()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77240" y="3182112"/>
            <a:ext cx="5120640" cy="6858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112" y="32186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Tailwind CSS + Inline CSS Block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6112" y="3456432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Custom tokens: brand-red · warm-bg · stone scale · lift-1/2/hero shadows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989320" y="3182112"/>
            <a:ext cx="2560320" cy="6858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08192" y="3218688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Lucide Icons (tree-shaken)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08192" y="3456432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Only imported icons in bundle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641080" y="3182112"/>
            <a:ext cx="2560320" cy="6858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759952" y="3218688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Google Fonts CDN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759952" y="3456432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Fraunces · Geist Sans · Geist Mono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7240" y="3977639"/>
            <a:ext cx="2011680" cy="5029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77240" y="3977639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Home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916936" y="3977639"/>
            <a:ext cx="2011680" cy="5029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916936" y="3977639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Approve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56631" y="3977639"/>
            <a:ext cx="2011680" cy="5029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056631" y="3977639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Statements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196327" y="3977639"/>
            <a:ext cx="2011680" cy="5029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196327" y="3977639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MTD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336024" y="3977639"/>
            <a:ext cx="2011680" cy="5029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336024" y="3977639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Audit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7240" y="4590288"/>
            <a:ext cx="1115568" cy="43891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77240" y="4590288"/>
            <a:ext cx="111556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Closure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959559" y="4590288"/>
            <a:ext cx="1115568" cy="43891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959559" y="4590288"/>
            <a:ext cx="111556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Mandate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141878" y="4590288"/>
            <a:ext cx="1115568" cy="43891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141878" y="4590288"/>
            <a:ext cx="111556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Wages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324197" y="4590288"/>
            <a:ext cx="1115568" cy="43891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324197" y="4590288"/>
            <a:ext cx="111556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Biz Details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506516" y="4590288"/>
            <a:ext cx="1115568" cy="43891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506516" y="4590288"/>
            <a:ext cx="111556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Dormancy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688836" y="4590288"/>
            <a:ext cx="1115568" cy="43891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688836" y="4590288"/>
            <a:ext cx="111556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ID Check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871155" y="4590288"/>
            <a:ext cx="1115568" cy="43891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871155" y="4590288"/>
            <a:ext cx="111556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Lending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053474" y="4590288"/>
            <a:ext cx="1115568" cy="43891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053474" y="4590288"/>
            <a:ext cx="111556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FX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235793" y="4590288"/>
            <a:ext cx="1115568" cy="43891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235793" y="4590288"/>
            <a:ext cx="111556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Receipt Scan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77240" y="5138928"/>
            <a:ext cx="10634472" cy="54864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14400" y="5193792"/>
            <a:ext cx="103327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BUILD PIPELINE:   Vite 5 + vite-plugin-singlefile  →  Single 350KB HTML  →  GitHub Pages (gh-pages branch)  →  Vercel (static serve)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57200" y="6601968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Business Banking Advisor  ·  Self-initiated  ·  Own time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521440" y="6537960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C8102E"/>
                </a:solidFill>
                <a:latin typeface="Calibri"/>
              </a:rPr>
              <a:t>Data &amp; State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13232"/>
            <a:ext cx="11274552" cy="18288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822960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8716C"/>
                </a:solidFill>
                <a:latin typeface="Calibri"/>
              </a:rPr>
              <a:t>STATE FLOW — UNIDIRECTIONAL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115568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C1917"/>
                </a:solidFill>
                <a:latin typeface="Calibri"/>
              </a:rPr>
              <a:t>All state lives at the top of App(). Sub-components are closures — they read and write via captured references. No prop drilling, no context, no external store. Single source of truth.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719072"/>
            <a:ext cx="365760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719072"/>
            <a:ext cx="3657600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" y="1810512"/>
            <a:ext cx="3383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NAVIGATION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" y="2066543"/>
            <a:ext cx="3383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C8102E"/>
                </a:solidFill>
                <a:latin typeface="Calibri"/>
              </a:rPr>
              <a:t>▪  </a:t>
            </a:r>
            <a:r>
              <a:rPr sz="850">
                <a:solidFill>
                  <a:srgbClr val="78716C"/>
                </a:solidFill>
                <a:latin typeface="Calibri"/>
              </a:rPr>
              <a:t>tab — active screen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C8102E"/>
                </a:solidFill>
                <a:latin typeface="Calibri"/>
              </a:rPr>
              <a:t>▪  </a:t>
            </a:r>
            <a:r>
              <a:rPr sz="850">
                <a:solidFill>
                  <a:srgbClr val="78716C"/>
                </a:solidFill>
                <a:latin typeface="Calibri"/>
              </a:rPr>
              <a:t>workflow — active overlay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C8102E"/>
                </a:solidFill>
                <a:latin typeface="Calibri"/>
              </a:rPr>
              <a:t>▪  </a:t>
            </a:r>
            <a:r>
              <a:rPr sz="850">
                <a:solidFill>
                  <a:srgbClr val="78716C"/>
                </a:solidFill>
                <a:latin typeface="Calibri"/>
              </a:rPr>
              <a:t>step — wizard position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C8102E"/>
                </a:solidFill>
                <a:latin typeface="Calibri"/>
              </a:rPr>
              <a:t>▪  </a:t>
            </a:r>
            <a:r>
              <a:rPr sz="850">
                <a:solidFill>
                  <a:srgbClr val="78716C"/>
                </a:solidFill>
                <a:latin typeface="Calibri"/>
              </a:rPr>
              <a:t>viewMode — mobile/desktop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98264" y="1719072"/>
            <a:ext cx="365760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98264" y="1719072"/>
            <a:ext cx="3657600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07992" y="1810512"/>
            <a:ext cx="3383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ENTITY &amp; ACCOUNTS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07992" y="2066543"/>
            <a:ext cx="3383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C8102E"/>
                </a:solidFill>
                <a:latin typeface="Calibri"/>
              </a:rPr>
              <a:t>▪  </a:t>
            </a:r>
            <a:r>
              <a:rPr sz="850">
                <a:solidFill>
                  <a:srgbClr val="78716C"/>
                </a:solidFill>
                <a:latin typeface="Calibri"/>
              </a:rPr>
              <a:t>entityType — 7 types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C8102E"/>
                </a:solidFill>
                <a:latin typeface="Calibri"/>
              </a:rPr>
              <a:t>▪  </a:t>
            </a:r>
            <a:r>
              <a:rPr sz="850">
                <a:solidFill>
                  <a:srgbClr val="78716C"/>
                </a:solidFill>
                <a:latin typeface="Calibri"/>
              </a:rPr>
              <a:t>accounts (useMemo, by entity)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C8102E"/>
                </a:solidFill>
                <a:latin typeface="Calibri"/>
              </a:rPr>
              <a:t>▪  </a:t>
            </a:r>
            <a:r>
              <a:rPr sz="850">
                <a:solidFill>
                  <a:srgbClr val="78716C"/>
                </a:solidFill>
                <a:latin typeface="Calibri"/>
              </a:rPr>
              <a:t>approvalState — sign/reject map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C8102E"/>
                </a:solidFill>
                <a:latin typeface="Calibri"/>
              </a:rPr>
              <a:t>▪  </a:t>
            </a:r>
            <a:r>
              <a:rPr sz="850">
                <a:solidFill>
                  <a:srgbClr val="78716C"/>
                </a:solidFill>
                <a:latin typeface="Calibri"/>
              </a:rPr>
              <a:t>entity — label/doc config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93608" y="3108960"/>
            <a:ext cx="365760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93608" y="3108960"/>
            <a:ext cx="3657600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03336" y="3200400"/>
            <a:ext cx="3383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COOLING-OFF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03336" y="3456432"/>
            <a:ext cx="3383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C8102E"/>
                </a:solidFill>
                <a:latin typeface="Calibri"/>
              </a:rPr>
              <a:t>▪  </a:t>
            </a:r>
            <a:r>
              <a:rPr sz="850">
                <a:solidFill>
                  <a:srgbClr val="78716C"/>
                </a:solidFill>
                <a:latin typeface="Calibri"/>
              </a:rPr>
              <a:t>cooling[] — active holds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C8102E"/>
                </a:solidFill>
                <a:latin typeface="Calibri"/>
              </a:rPr>
              <a:t>▪  </a:t>
            </a:r>
            <a:r>
              <a:rPr sz="850">
                <a:solidFill>
                  <a:srgbClr val="78716C"/>
                </a:solidFill>
                <a:latin typeface="Calibri"/>
              </a:rPr>
              <a:t>stalled[] — timed-out requests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C8102E"/>
                </a:solidFill>
                <a:latin typeface="Calibri"/>
              </a:rPr>
              <a:t>▪  </a:t>
            </a:r>
            <a:r>
              <a:rPr sz="850">
                <a:solidFill>
                  <a:srgbClr val="78716C"/>
                </a:solidFill>
                <a:latin typeface="Calibri"/>
              </a:rPr>
              <a:t>tick — 30s re-render timer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C8102E"/>
                </a:solidFill>
                <a:latin typeface="Calibri"/>
              </a:rPr>
              <a:t>▪  </a:t>
            </a:r>
            <a:r>
              <a:rPr sz="850">
                <a:solidFill>
                  <a:srgbClr val="78716C"/>
                </a:solidFill>
                <a:latin typeface="Calibri"/>
              </a:rPr>
              <a:t>pendingCancelId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108960"/>
            <a:ext cx="365760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3108960"/>
            <a:ext cx="3657600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2648" y="3200400"/>
            <a:ext cx="3383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WORKFLOWS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648" y="3456432"/>
            <a:ext cx="3383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C8102E"/>
                </a:solidFill>
                <a:latin typeface="Calibri"/>
              </a:rPr>
              <a:t>▪  </a:t>
            </a:r>
            <a:r>
              <a:rPr sz="850">
                <a:solidFill>
                  <a:srgbClr val="78716C"/>
                </a:solidFill>
                <a:latin typeface="Calibri"/>
              </a:rPr>
              <a:t>closureSel, closureDest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C8102E"/>
                </a:solidFill>
                <a:latin typeface="Calibri"/>
              </a:rPr>
              <a:t>▪  </a:t>
            </a:r>
            <a:r>
              <a:rPr sz="850">
                <a:solidFill>
                  <a:srgbClr val="78716C"/>
                </a:solidFill>
                <a:latin typeface="Calibri"/>
              </a:rPr>
              <a:t>lendingTerm, lendingCompleted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C8102E"/>
                </a:solidFill>
                <a:latin typeface="Calibri"/>
              </a:rPr>
              <a:t>▪  </a:t>
            </a:r>
            <a:r>
              <a:rPr sz="850">
                <a:solidFill>
                  <a:srgbClr val="78716C"/>
                </a:solidFill>
                <a:latin typeface="Calibri"/>
              </a:rPr>
              <a:t>fxAmount, fxCurrency, fxIBAN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C8102E"/>
                </a:solidFill>
                <a:latin typeface="Calibri"/>
              </a:rPr>
              <a:t>▪  </a:t>
            </a:r>
            <a:r>
              <a:rPr sz="850">
                <a:solidFill>
                  <a:srgbClr val="78716C"/>
                </a:solidFill>
                <a:latin typeface="Calibri"/>
              </a:rPr>
              <a:t>receiptStep, scannedTxns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98264" y="4498848"/>
            <a:ext cx="365760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98264" y="4498848"/>
            <a:ext cx="3657600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07992" y="4590288"/>
            <a:ext cx="3383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UI / OVERLAYS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07992" y="4846320"/>
            <a:ext cx="3383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C8102E"/>
                </a:solidFill>
                <a:latin typeface="Calibri"/>
              </a:rPr>
              <a:t>▪  </a:t>
            </a:r>
            <a:r>
              <a:rPr sz="850">
                <a:solidFill>
                  <a:srgbClr val="78716C"/>
                </a:solidFill>
                <a:latin typeface="Calibri"/>
              </a:rPr>
              <a:t>toast, showRMSheet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C8102E"/>
                </a:solidFill>
                <a:latin typeface="Calibri"/>
              </a:rPr>
              <a:t>▪  </a:t>
            </a:r>
            <a:r>
              <a:rPr sz="850">
                <a:solidFill>
                  <a:srgbClr val="78716C"/>
                </a:solidFill>
                <a:latin typeface="Calibri"/>
              </a:rPr>
              <a:t>showCompliance, showSavings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C8102E"/>
                </a:solidFill>
                <a:latin typeface="Calibri"/>
              </a:rPr>
              <a:t>▪  </a:t>
            </a:r>
            <a:r>
              <a:rPr sz="850">
                <a:solidFill>
                  <a:srgbClr val="78716C"/>
                </a:solidFill>
                <a:latin typeface="Calibri"/>
              </a:rPr>
              <a:t>showOBSheet, showPinSheet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C8102E"/>
                </a:solidFill>
                <a:latin typeface="Calibri"/>
              </a:rPr>
              <a:t>▪  </a:t>
            </a:r>
            <a:r>
              <a:rPr sz="850">
                <a:solidFill>
                  <a:srgbClr val="78716C"/>
                </a:solidFill>
                <a:latin typeface="Calibri"/>
              </a:rPr>
              <a:t>showReceiptSheet, frozenCards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93608" y="4498848"/>
            <a:ext cx="365760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293608" y="4498848"/>
            <a:ext cx="3657600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03336" y="4590288"/>
            <a:ext cx="3383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STATEMENTS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03336" y="4846320"/>
            <a:ext cx="3383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C8102E"/>
                </a:solidFill>
                <a:latin typeface="Calibri"/>
              </a:rPr>
              <a:t>▪  </a:t>
            </a:r>
            <a:r>
              <a:rPr sz="850">
                <a:solidFill>
                  <a:srgbClr val="78716C"/>
                </a:solidFill>
                <a:latin typeface="Calibri"/>
              </a:rPr>
              <a:t>statementMonth, statementView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C8102E"/>
                </a:solidFill>
                <a:latin typeface="Calibri"/>
              </a:rPr>
              <a:t>▪  </a:t>
            </a:r>
            <a:r>
              <a:rPr sz="850">
                <a:solidFill>
                  <a:srgbClr val="78716C"/>
                </a:solidFill>
                <a:latin typeface="Calibri"/>
              </a:rPr>
              <a:t>counterpartyQuery, methodFilter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C8102E"/>
                </a:solidFill>
                <a:latin typeface="Calibri"/>
              </a:rPr>
              <a:t>▪  </a:t>
            </a:r>
            <a:r>
              <a:rPr sz="850">
                <a:solidFill>
                  <a:srgbClr val="78716C"/>
                </a:solidFill>
                <a:latin typeface="Calibri"/>
              </a:rPr>
              <a:t>openCounterparty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C8102E"/>
                </a:solidFill>
                <a:latin typeface="Calibri"/>
              </a:rPr>
              <a:t>▪  </a:t>
            </a:r>
            <a:r>
              <a:rPr sz="850">
                <a:solidFill>
                  <a:srgbClr val="78716C"/>
                </a:solidFill>
                <a:latin typeface="Calibri"/>
              </a:rPr>
              <a:t>moneyView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45720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8716C"/>
                </a:solidFill>
                <a:latin typeface="Calibri"/>
              </a:rPr>
              <a:t>useMEMO DERIVED STATE (never stored, always computed)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4864608"/>
            <a:ext cx="2743200" cy="82296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2648" y="4919472"/>
            <a:ext cx="252374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accounts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2648" y="5166360"/>
            <a:ext cx="254203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D6D3D1"/>
                </a:solidFill>
                <a:latin typeface="Calibri"/>
              </a:rPr>
              <a:t>Entity-aware account list — mandate rules, balances, account types per entity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47288" y="4864608"/>
            <a:ext cx="2743200" cy="82296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57016" y="4919472"/>
            <a:ext cx="252374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statementsData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57016" y="5166360"/>
            <a:ext cx="254203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D6D3D1"/>
                </a:solidFill>
                <a:latin typeface="Calibri"/>
              </a:rPr>
              <a:t>5 months × N transactions — categories, methods, counterparty rollups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91656" y="4864608"/>
            <a:ext cx="2743200" cy="82296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01384" y="4919472"/>
            <a:ext cx="252374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counterpartyStats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01384" y="5166360"/>
            <a:ext cx="254203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D6D3D1"/>
                </a:solidFill>
                <a:latin typeface="Calibri"/>
              </a:rPr>
              <a:t>Aggregated totals per supplier/customer — YTD amounts, methods, frequency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336024" y="4864608"/>
            <a:ext cx="2743200" cy="82296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445752" y="4919472"/>
            <a:ext cx="252374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searchResults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445752" y="5166360"/>
            <a:ext cx="254203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D6D3D1"/>
                </a:solidFill>
                <a:latin typeface="Calibri"/>
              </a:rPr>
              <a:t>Live-filtered counterparty search — top 5 matches on query change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920" y="5779008"/>
            <a:ext cx="111831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1">
                <a:solidFill>
                  <a:srgbClr val="C8102E"/>
                </a:solidFill>
                <a:latin typeface="Calibri"/>
              </a:rPr>
              <a:t>closeWorkflow() INVARIANT: Every workflow-specific state variable MUST be reset here. Ghost state between workflows is the primary known failure mode.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7200" y="6601968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Business Banking Advisor  ·  Self-initiated  ·  Own time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521440" y="6537960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C8102E"/>
                </a:solidFill>
                <a:latin typeface="Calibri"/>
              </a:rPr>
              <a:t>Production System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13232"/>
            <a:ext cx="11274552" cy="18288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822960"/>
            <a:ext cx="11457432" cy="987552"/>
          </a:xfrm>
          <a:prstGeom prst="rect">
            <a:avLst/>
          </a:prstGeom>
          <a:solidFill>
            <a:srgbClr val="ECFDF5"/>
          </a:solidFill>
          <a:ln w="12700">
            <a:solidFill>
              <a:srgbClr val="066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50392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66B3C"/>
                </a:solidFill>
                <a:latin typeface="Calibri"/>
              </a:rPr>
              <a:t>CLIENT TIER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115568"/>
            <a:ext cx="3520440" cy="594360"/>
          </a:xfrm>
          <a:prstGeom prst="rect">
            <a:avLst/>
          </a:prstGeom>
          <a:solidFill>
            <a:srgbClr val="06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152144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Mobile Web (PWA)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38988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ECACA"/>
                </a:solidFill>
                <a:latin typeface="Calibri"/>
              </a:rPr>
              <a:t>React 18 · Tailwind · Geist · Fraunces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7680" y="1115568"/>
            <a:ext cx="3520440" cy="594360"/>
          </a:xfrm>
          <a:prstGeom prst="rect">
            <a:avLst/>
          </a:prstGeom>
          <a:solidFill>
            <a:srgbClr val="06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0" y="1152144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Desktop Browser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138988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ECACA"/>
                </a:solidFill>
                <a:latin typeface="Calibri"/>
              </a:rPr>
              <a:t>Same codebase · Sidebar layout · Wide viewport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92440" y="1115568"/>
            <a:ext cx="3520440" cy="594360"/>
          </a:xfrm>
          <a:prstGeom prst="rect">
            <a:avLst/>
          </a:prstGeom>
          <a:solidFill>
            <a:srgbClr val="06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83880" y="1152144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iOS / Android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3880" y="138988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ECACA"/>
                </a:solidFill>
                <a:latin typeface="Calibri"/>
              </a:rPr>
              <a:t>Add-to-home-screen PWA · theme-color #C8102E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18288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78716C"/>
                </a:solidFill>
                <a:latin typeface="Calibri"/>
              </a:rPr>
              <a:t>↕  HTTPS + JWT HttpOnly Cookie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21408"/>
            <a:ext cx="11457432" cy="1170432"/>
          </a:xfrm>
          <a:prstGeom prst="rect">
            <a:avLst/>
          </a:prstGeom>
          <a:solidFill>
            <a:srgbClr val="EFF6FF"/>
          </a:solidFill>
          <a:ln w="1270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2148840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D4ED8"/>
                </a:solidFill>
                <a:latin typeface="Calibri"/>
              </a:rPr>
              <a:t>API TIER (FastAPI / AWS API Gateway)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450592"/>
            <a:ext cx="2057400" cy="73152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2487168"/>
            <a:ext cx="1828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Accounts API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2706624"/>
            <a:ext cx="19202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FDBFF"/>
                </a:solidFill>
                <a:latin typeface="Calibri"/>
              </a:rPr>
              <a:t>/accounts · /transactions · /statements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70632" y="2450592"/>
            <a:ext cx="2057400" cy="73152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862072" y="2487168"/>
            <a:ext cx="1828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Mandate API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62072" y="2706624"/>
            <a:ext cx="19202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FDBFF"/>
                </a:solidFill>
                <a:latin typeface="Calibri"/>
              </a:rPr>
              <a:t>/signatories · /rules · /cooling-off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38344" y="2450592"/>
            <a:ext cx="2057400" cy="73152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9783" y="2487168"/>
            <a:ext cx="1828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Auth API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29783" y="2706624"/>
            <a:ext cx="19202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FDBFF"/>
                </a:solidFill>
                <a:latin typeface="Calibri"/>
              </a:rPr>
              <a:t>/login · /refresh · /logout (JWT)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06055" y="2450592"/>
            <a:ext cx="2057400" cy="73152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97496" y="2487168"/>
            <a:ext cx="1828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MTD API Proxy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97496" y="2706624"/>
            <a:ext cx="19202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FDBFF"/>
                </a:solidFill>
                <a:latin typeface="Calibri"/>
              </a:rPr>
              <a:t>/mtd/obligations · /mtd/submit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573768" y="2450592"/>
            <a:ext cx="2057400" cy="73152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65208" y="2487168"/>
            <a:ext cx="1828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KYC Webhook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65208" y="2706624"/>
            <a:ext cx="19202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FDBFF"/>
                </a:solidFill>
                <a:latin typeface="Calibri"/>
              </a:rPr>
              <a:t>/kyc/callback (One Login)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429000"/>
            <a:ext cx="11457432" cy="1207008"/>
          </a:xfrm>
          <a:prstGeom prst="rect">
            <a:avLst/>
          </a:prstGeom>
          <a:solidFill>
            <a:srgbClr val="FFF7ED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" y="3456432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D97706"/>
                </a:solidFill>
                <a:latin typeface="Calibri"/>
              </a:rPr>
              <a:t>DATA TIER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2920" y="3749039"/>
            <a:ext cx="2633472" cy="80467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4360" y="3785615"/>
            <a:ext cx="2377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PostgreSQL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" y="4005072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1C1917"/>
                </a:solidFill>
                <a:latin typeface="Calibri"/>
              </a:rPr>
              <a:t>Accounts · Signatories · Entities · Mandates
Indexed: account_no · entity_id · created_at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355848" y="3749039"/>
            <a:ext cx="2633472" cy="80467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447288" y="3785615"/>
            <a:ext cx="2377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Audit Event Store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447288" y="4005072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1C1917"/>
                </a:solidFill>
                <a:latin typeface="Calibri"/>
              </a:rPr>
              <a:t>Append-only · EventBridge · S3 Glacier
7-year retention · FCA SYSC 9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208776" y="3749039"/>
            <a:ext cx="2633472" cy="80467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300216" y="3785615"/>
            <a:ext cx="2377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Redis Cache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00216" y="4005072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1C1917"/>
                </a:solidFill>
                <a:latin typeface="Calibri"/>
              </a:rPr>
              <a:t>Session tokens · Rate limiting
HMRC OAuth tokens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061704" y="3749039"/>
            <a:ext cx="2633472" cy="80467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153144" y="3785615"/>
            <a:ext cx="2377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HMRC MTD Records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53144" y="4005072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1C1917"/>
                </a:solidFill>
                <a:latin typeface="Calibri"/>
              </a:rPr>
              <a:t>Digital records 6yr · Obligation history
VAT100 submissions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65760" y="4773168"/>
            <a:ext cx="11457432" cy="1353312"/>
          </a:xfrm>
          <a:prstGeom prst="rect">
            <a:avLst/>
          </a:prstGeom>
          <a:solidFill>
            <a:srgbClr val="FDF2F8"/>
          </a:solidFill>
          <a:ln w="12700">
            <a:solidFill>
              <a:srgbClr val="C810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02920" y="4800600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C8102E"/>
                </a:solidFill>
                <a:latin typeface="Calibri"/>
              </a:rPr>
              <a:t>EXTERNAL INTEGRATIONS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02920" y="5084064"/>
            <a:ext cx="2057400" cy="9144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94360" y="5120640"/>
            <a:ext cx="1828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GOV.UK One Login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94360" y="5340096"/>
            <a:ext cx="19202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FECACA"/>
                </a:solidFill>
                <a:latin typeface="Calibri"/>
              </a:rPr>
              <a:t>KYC · List 1 biometric ID
OAuth2 PKCE · JWKS verify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770632" y="5084064"/>
            <a:ext cx="2057400" cy="9144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862072" y="5120640"/>
            <a:ext cx="1828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HMRC MTD VAT API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862072" y="5340096"/>
            <a:ext cx="19202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FECACA"/>
                </a:solidFill>
                <a:latin typeface="Calibri"/>
              </a:rPr>
              <a:t>VAT obligations · Submit VAT100
OAuth2 client_credentials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038344" y="5084064"/>
            <a:ext cx="2057400" cy="9144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129783" y="5120640"/>
            <a:ext cx="1828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Vocalink CoP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129783" y="5340096"/>
            <a:ext cx="19202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FECACA"/>
                </a:solidFill>
                <a:latin typeface="Calibri"/>
              </a:rPr>
              <a:t>Confirmation of Payee
Pre-payment account validation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306055" y="5084064"/>
            <a:ext cx="2057400" cy="9144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397496" y="5120640"/>
            <a:ext cx="1828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SNS / SES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397496" y="5340096"/>
            <a:ext cx="19202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FECACA"/>
                </a:solidFill>
                <a:latin typeface="Calibri"/>
              </a:rPr>
              <a:t>Co-signer push alerts
Face ID deep-link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573768" y="5084064"/>
            <a:ext cx="2057400" cy="9144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665208" y="5120640"/>
            <a:ext cx="1828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Companies House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665208" y="5340096"/>
            <a:ext cx="19202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FECACA"/>
                </a:solidFill>
                <a:latin typeface="Calibri"/>
              </a:rPr>
              <a:t>Director/member register
Real-time entity verification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57200" y="6601968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Business Banking Advisor  ·  Self-initiated  ·  Own time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521440" y="6537960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C8102E"/>
                </a:solidFill>
                <a:latin typeface="Calibri"/>
              </a:rPr>
              <a:t>Security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13232"/>
            <a:ext cx="11274552" cy="18288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914400"/>
            <a:ext cx="265176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914400"/>
            <a:ext cx="2651760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1005840"/>
            <a:ext cx="2423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AUTHENTICATION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1298448"/>
            <a:ext cx="245059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JWT — RS256 signed, 15min access token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HttpOnly · Secure · SameSite=Strict cookies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Refresh token rotation (7-day sliding)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No tokens in localStorage — ever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Face ID via WebAuthn (Biometric Authenticator)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PKCE flow for GOV.UK One Login handoff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29000" y="914400"/>
            <a:ext cx="265176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29000" y="914400"/>
            <a:ext cx="2651760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38728" y="1005840"/>
            <a:ext cx="2423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AUTHORISATION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38728" y="1298448"/>
            <a:ext cx="245059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Account-level mandate enforcement (Any-1/2/All)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Signatory role validation server-side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Read-only for non-signatories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Cooling-off state enforced at API layer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PEP / Sanctions check before signatory add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Board minutes required at API for treasurer accts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55080" y="914400"/>
            <a:ext cx="265176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55080" y="914400"/>
            <a:ext cx="2651760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64808" y="1005840"/>
            <a:ext cx="2423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DATA PROTECTION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4808" y="1298448"/>
            <a:ext cx="245059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TLS 1.3 in transit — HSTS max-age=31536000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AES-256 at rest (RDS encryption + S3 SSE)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GDPR Art.5 data minimisation on KYC fields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Right to erasure: pseudonymise, not delete (audit reqs)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DPIA (Art.35) required before go-live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PCI DSS scope: no card data stored, SAQ-A eligible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81160" y="914400"/>
            <a:ext cx="265176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281160" y="914400"/>
            <a:ext cx="2651760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90888" y="1005840"/>
            <a:ext cx="2423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INPUT SECURITY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90888" y="1298448"/>
            <a:ext cx="245059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No dangerouslySetInnerHTML on user content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All monetary values: Number, not string eval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Sort code / account validated: regex + CoP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Country of residence: whitelist, not freetext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File uploads: MIME type + size check server-side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CSRF protection: SameSite=Strict + Origin header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5989320"/>
            <a:ext cx="1118311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C1917"/>
                </a:solidFill>
                <a:latin typeface="Calibri"/>
              </a:rPr>
              <a:t>WCAG 2.1 AA ACCESSIBILITY:  focus-visible:ring on all interactive elements  ·  Colour contrast ≥4.5:1  ·  tabular-nums on all monetary amounts  ·  Error messages describe how to fix  ·  Screen reader safe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601968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Business Banking Advisor  ·  Self-initiated  ·  Own time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521440" y="6537960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C8102E"/>
                </a:solidFill>
                <a:latin typeface="Calibri"/>
              </a:rPr>
              <a:t>Regulatory &amp; Compliance Framework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13232"/>
            <a:ext cx="11274552" cy="18288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914400"/>
            <a:ext cx="5577840" cy="242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914400"/>
            <a:ext cx="5577840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005840"/>
            <a:ext cx="1417320" cy="43891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6072" y="1005840"/>
            <a:ext cx="13258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FCA BCOBS 4A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75688" y="1042416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COOLING-OFF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508760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24 working-hour hold on Any-1 actions</a:t>
            </a:r>
          </a:p>
          <a:p>
            <a:pPr>
              <a:spcAft>
                <a:spcPts val="4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Bank holiday + weekend aware (not calendar)</a:t>
            </a:r>
          </a:p>
          <a:p>
            <a:pPr>
              <a:spcAft>
                <a:spcPts val="4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Customer cancel at zero cost, any time</a:t>
            </a:r>
          </a:p>
          <a:p>
            <a:pPr>
              <a:spcAft>
                <a:spcPts val="4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Progress bar: live countdown every 30s</a:t>
            </a:r>
          </a:p>
          <a:p>
            <a:pPr>
              <a:spcAft>
                <a:spcPts val="4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Execution blocked until hold expires server-side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55080" y="914400"/>
            <a:ext cx="5577840" cy="242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914400"/>
            <a:ext cx="5577840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005840"/>
            <a:ext cx="1417320" cy="43891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8232" y="1005840"/>
            <a:ext cx="13258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MLR 2017 / JMLSG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27848" y="1042416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KYC / KYB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1508760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GOV.UK One Login: List 1 photo ID (biometric)</a:t>
            </a:r>
          </a:p>
          <a:p>
            <a:pPr>
              <a:spcAft>
                <a:spcPts val="4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Address proof &lt; 3 months: List 2</a:t>
            </a:r>
          </a:p>
          <a:p>
            <a:pPr>
              <a:spcAft>
                <a:spcPts val="4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Trading address proof: List 3 (if differs)</a:t>
            </a:r>
          </a:p>
          <a:p>
            <a:pPr>
              <a:spcAft>
                <a:spcPts val="4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Sanctions country: auto RM escalation + EDD</a:t>
            </a:r>
          </a:p>
          <a:p>
            <a:pPr>
              <a:spcAft>
                <a:spcPts val="4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PEP: Enhanced Due Diligence, MLR s.35</a:t>
            </a:r>
          </a:p>
          <a:p>
            <a:pPr>
              <a:spcAft>
                <a:spcPts val="4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Visitor visa: rejected — settled status required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547872"/>
            <a:ext cx="5577840" cy="242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547872"/>
            <a:ext cx="5577840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3639312"/>
            <a:ext cx="1417320" cy="43891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6072" y="3639312"/>
            <a:ext cx="13258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FCA SYSC 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75688" y="3675887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AUDIT LOG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142232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7-year immutable event log</a:t>
            </a:r>
          </a:p>
          <a:p>
            <a:pPr>
              <a:spcAft>
                <a:spcPts val="4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Every action: actor · timestamp · action type</a:t>
            </a:r>
          </a:p>
          <a:p>
            <a:pPr>
              <a:spcAft>
                <a:spcPts val="4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Append-only — no mutation post-commit</a:t>
            </a:r>
          </a:p>
          <a:p>
            <a:pPr>
              <a:spcAft>
                <a:spcPts val="4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Export-ready: PDF/CSV per period</a:t>
            </a:r>
          </a:p>
          <a:p>
            <a:pPr>
              <a:spcAft>
                <a:spcPts val="4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FCA on-demand production capability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55080" y="3547872"/>
            <a:ext cx="5577840" cy="242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355080" y="3547872"/>
            <a:ext cx="5577840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355080" y="3639312"/>
            <a:ext cx="1417320" cy="43891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8232" y="3639312"/>
            <a:ext cx="13258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HMRC MTD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27848" y="3675887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MAKING TAX DIGITAL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4142232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VAT: mandatory for all VAT-registered businesses</a:t>
            </a:r>
          </a:p>
          <a:p>
            <a:pPr>
              <a:spcAft>
                <a:spcPts val="4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ITSA: mandatory Apr 2026 (SMEs &gt;£50k turnover)</a:t>
            </a:r>
          </a:p>
          <a:p>
            <a:pPr>
              <a:spcAft>
                <a:spcPts val="4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Digital links: bank→HMRC, no copy-paste</a:t>
            </a:r>
          </a:p>
          <a:p>
            <a:pPr>
              <a:spcAft>
                <a:spcPts val="4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Records: 6-year digital retention minimum</a:t>
            </a:r>
          </a:p>
          <a:p>
            <a:pPr>
              <a:spcAft>
                <a:spcPts val="4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HMRC-recognised software badge required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601968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Business Banking Advisor  ·  Self-initiated  ·  Own time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521440" y="6537960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C8102E"/>
                </a:solidFill>
                <a:latin typeface="Calibri"/>
              </a:rPr>
              <a:t>Privacy &amp; Account Separation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13232"/>
            <a:ext cx="11274552" cy="18288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841248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8716C"/>
                </a:solidFill>
                <a:latin typeface="Calibri"/>
              </a:rPr>
              <a:t>THE GAP — TWO INDEPENDENT LOOKUP SYSTEMS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143000"/>
            <a:ext cx="54864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143000"/>
            <a:ext cx="5486400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23444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App Layer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508760"/>
            <a:ext cx="51206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personalLinked flag removes personal accounts from React render tree — JSX conditional, not CSS hide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258568"/>
            <a:ext cx="54864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2258568"/>
            <a:ext cx="5486400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350008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Call Centre CLI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624327"/>
            <a:ext cx="51206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Inbound call on customer mobile triggers CLI lookup — sees all linked accounts regardless of app flag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374136"/>
            <a:ext cx="54864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3374136"/>
            <a:ext cx="5486400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465576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Credit Decisioning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739896"/>
            <a:ext cx="51206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Business loan underwriting can pull personal transaction history by default — no firewall between data sets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4489704"/>
            <a:ext cx="54864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4489704"/>
            <a:ext cx="5486400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58114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Open Banking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855464"/>
            <a:ext cx="51206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PSD2 consent granted to third parties (Funding Circle) may include personal + business accounts in same scope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0" y="841248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8716C"/>
                </a:solidFill>
                <a:latin typeface="Calibri"/>
              </a:rPr>
              <a:t>ARCHITECTURE SOLUTION — THREE LAYERS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17920" y="1143000"/>
            <a:ext cx="54864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066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17920" y="1143000"/>
            <a:ext cx="5486400" cy="54864"/>
          </a:xfrm>
          <a:prstGeom prst="rect">
            <a:avLst/>
          </a:prstGeom>
          <a:solidFill>
            <a:srgbClr val="06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55080" y="123444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App Separation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1508760"/>
            <a:ext cx="51206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React state: personalLinked=false removes section from DOM. unlinkConfirm + declaration with case ref stored server-side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17920" y="2258568"/>
            <a:ext cx="54864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066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17920" y="2258568"/>
            <a:ext cx="5486400" cy="54864"/>
          </a:xfrm>
          <a:prstGeom prst="rect">
            <a:avLst/>
          </a:prstGeom>
          <a:solidFill>
            <a:srgbClr val="06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55080" y="2350008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CRM Separation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55080" y="2624327"/>
            <a:ext cx="51206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unlinkAllChannels toggle triggers back-office CRM update (ref REL-2026-0291). CLI query excludes personal accounts within 2 working days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17920" y="3374136"/>
            <a:ext cx="54864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066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17920" y="3374136"/>
            <a:ext cx="5486400" cy="54864"/>
          </a:xfrm>
          <a:prstGeom prst="rect">
            <a:avLst/>
          </a:prstGeom>
          <a:solidFill>
            <a:srgbClr val="06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55080" y="3465576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Credit Ring-Fence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55080" y="3739896"/>
            <a:ext cx="51206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creditRingfenced flag writes formal instruction to credit system. Personal account data excluded from business scorecard. GDPR Art.5(1)(c) purpose limitation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17920" y="4489704"/>
            <a:ext cx="54864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066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217920" y="4489704"/>
            <a:ext cx="5486400" cy="54864"/>
          </a:xfrm>
          <a:prstGeom prst="rect">
            <a:avLst/>
          </a:prstGeom>
          <a:solidFill>
            <a:srgbClr val="06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55080" y="458114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PSD2 Consent Audit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55080" y="4855464"/>
            <a:ext cx="51206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OB consent registry shows scope per app. Funding Circle 'full read' scope flagged. Revocation completes within 90s per PSD2 RTS Art.29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5806440"/>
            <a:ext cx="11274552" cy="80467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94360" y="5888736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Regulatory basis:  GDPR Art.5(1)(c) data minimisation  ·  PSD2 RTS Art.29 revocation  ·  FCA PS22/9 Consumer Duty  ·  ICO Legitimate Interests Assessment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" y="6181344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1">
                <a:solidFill>
                  <a:srgbClr val="D6D3D1"/>
                </a:solidFill>
                <a:latin typeface="Calibri"/>
              </a:rPr>
              <a:t>Personal financial difficulty cannot affect business credit decisions · Personal transactions excluded from all business analytics and underwriting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6601968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Business Banking Advisor  ·  Self-initiated  ·  Own time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521440" y="6537960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C8102E"/>
                </a:solidFill>
                <a:latin typeface="Calibri"/>
              </a:rPr>
              <a:t>Entity &amp; Mandate Logic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13232"/>
            <a:ext cx="11274552" cy="18288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84124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8716C"/>
                </a:solidFill>
                <a:latin typeface="Calibri"/>
              </a:rPr>
              <a:t>7 ENTITY TYPES — EACH WITH DIVERGENT COMPLIANCE PATH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133856"/>
            <a:ext cx="1783080" cy="32004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57784" y="1152144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Entity Type</a:t>
            </a:r>
          </a:p>
        </p:txBody>
      </p:sp>
      <p:sp>
        <p:nvSpPr>
          <p:cNvPr id="9" name="Rectangle 8"/>
          <p:cNvSpPr/>
          <p:nvPr/>
        </p:nvSpPr>
        <p:spPr>
          <a:xfrm>
            <a:off x="2377439" y="1133856"/>
            <a:ext cx="1783080" cy="32004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32303" y="1152144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Default Rule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59" y="1133856"/>
            <a:ext cx="1783080" cy="32004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06823" y="1152144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Principal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79" y="1133856"/>
            <a:ext cx="1783080" cy="32004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1343" y="1152144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Co. House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1000" y="1133856"/>
            <a:ext cx="1783080" cy="32004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55864" y="1152144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Charity Comm.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875520" y="1133856"/>
            <a:ext cx="1783080" cy="32004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30384" y="1152144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Board Minutes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1481328"/>
            <a:ext cx="1783080" cy="411480"/>
          </a:xfrm>
          <a:prstGeom prst="rect">
            <a:avLst/>
          </a:prstGeom>
          <a:solidFill>
            <a:srgbClr val="FFF5F5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6072" y="1499616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1C1917"/>
                </a:solidFill>
                <a:latin typeface="Calibri"/>
              </a:rPr>
              <a:t>Sole Trader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377439" y="1481328"/>
            <a:ext cx="1783080" cy="411480"/>
          </a:xfrm>
          <a:prstGeom prst="rect">
            <a:avLst/>
          </a:prstGeom>
          <a:solidFill>
            <a:srgbClr val="FFF5F5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450591" y="1499616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Any-1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51959" y="1481328"/>
            <a:ext cx="1783080" cy="411480"/>
          </a:xfrm>
          <a:prstGeom prst="rect">
            <a:avLst/>
          </a:prstGeom>
          <a:solidFill>
            <a:srgbClr val="FFF5F5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25112" y="1499616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Principal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26479" y="1481328"/>
            <a:ext cx="1783080" cy="411480"/>
          </a:xfrm>
          <a:prstGeom prst="rect">
            <a:avLst/>
          </a:prstGeom>
          <a:solidFill>
            <a:srgbClr val="FFF5F5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99631" y="1499616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—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001000" y="1481328"/>
            <a:ext cx="1783080" cy="411480"/>
          </a:xfrm>
          <a:prstGeom prst="rect">
            <a:avLst/>
          </a:prstGeom>
          <a:solidFill>
            <a:srgbClr val="FFF5F5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74152" y="1499616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875520" y="1481328"/>
            <a:ext cx="1783080" cy="411480"/>
          </a:xfrm>
          <a:prstGeom prst="rect">
            <a:avLst/>
          </a:prstGeom>
          <a:solidFill>
            <a:srgbClr val="FFF5F5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948672" y="1499616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No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1920240"/>
            <a:ext cx="178308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76072" y="1938528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1C1917"/>
                </a:solidFill>
                <a:latin typeface="Calibri"/>
              </a:rPr>
              <a:t>Partnership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377439" y="1920240"/>
            <a:ext cx="178308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450591" y="1938528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Any-1/2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251959" y="1920240"/>
            <a:ext cx="178308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325112" y="1938528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Partner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26479" y="1920240"/>
            <a:ext cx="178308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199631" y="1938528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001000" y="1920240"/>
            <a:ext cx="178308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074152" y="1938528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—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875520" y="1920240"/>
            <a:ext cx="178308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948672" y="1938528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No (RM on rename)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2920" y="2359152"/>
            <a:ext cx="1783080" cy="411480"/>
          </a:xfrm>
          <a:prstGeom prst="rect">
            <a:avLst/>
          </a:prstGeom>
          <a:solidFill>
            <a:srgbClr val="FFF5F5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76072" y="2377439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1C1917"/>
                </a:solidFill>
                <a:latin typeface="Calibri"/>
              </a:rPr>
              <a:t>Limited Co.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377439" y="2359152"/>
            <a:ext cx="1783080" cy="411480"/>
          </a:xfrm>
          <a:prstGeom prst="rect">
            <a:avLst/>
          </a:prstGeom>
          <a:solidFill>
            <a:srgbClr val="FFF5F5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50591" y="2377439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Any-2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251959" y="2359152"/>
            <a:ext cx="1783080" cy="411480"/>
          </a:xfrm>
          <a:prstGeom prst="rect">
            <a:avLst/>
          </a:prstGeom>
          <a:solidFill>
            <a:srgbClr val="FFF5F5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325112" y="2377439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Director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126479" y="2359152"/>
            <a:ext cx="1783080" cy="411480"/>
          </a:xfrm>
          <a:prstGeom prst="rect">
            <a:avLst/>
          </a:prstGeom>
          <a:solidFill>
            <a:srgbClr val="FFF5F5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199631" y="2377439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C8102E"/>
                </a:solidFill>
                <a:latin typeface="Calibri"/>
              </a:rPr>
              <a:t>Yes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001000" y="2359152"/>
            <a:ext cx="1783080" cy="411480"/>
          </a:xfrm>
          <a:prstGeom prst="rect">
            <a:avLst/>
          </a:prstGeom>
          <a:solidFill>
            <a:srgbClr val="FFF5F5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074152" y="2377439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—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875520" y="2359152"/>
            <a:ext cx="1783080" cy="411480"/>
          </a:xfrm>
          <a:prstGeom prst="rect">
            <a:avLst/>
          </a:prstGeom>
          <a:solidFill>
            <a:srgbClr val="FFF5F5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948672" y="2377439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No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02920" y="2798064"/>
            <a:ext cx="178308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76072" y="2816352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1C1917"/>
                </a:solidFill>
                <a:latin typeface="Calibri"/>
              </a:rPr>
              <a:t>LLP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377439" y="2798064"/>
            <a:ext cx="178308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450591" y="2816352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Any-2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251959" y="2798064"/>
            <a:ext cx="178308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325112" y="2816352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Member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126479" y="2798064"/>
            <a:ext cx="178308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199631" y="2816352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Yes (LLP no.)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001000" y="2798064"/>
            <a:ext cx="178308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074152" y="2816352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—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875520" y="2798064"/>
            <a:ext cx="178308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948672" y="2816352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No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02920" y="3236976"/>
            <a:ext cx="1783080" cy="411480"/>
          </a:xfrm>
          <a:prstGeom prst="rect">
            <a:avLst/>
          </a:prstGeom>
          <a:solidFill>
            <a:srgbClr val="FFF5F5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6072" y="3255263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1C1917"/>
                </a:solidFill>
                <a:latin typeface="Calibri"/>
              </a:rPr>
              <a:t>Charity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377439" y="3236976"/>
            <a:ext cx="1783080" cy="411480"/>
          </a:xfrm>
          <a:prstGeom prst="rect">
            <a:avLst/>
          </a:prstGeom>
          <a:solidFill>
            <a:srgbClr val="FFF5F5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450591" y="3255263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C8102E"/>
                </a:solidFill>
                <a:latin typeface="Calibri"/>
              </a:rPr>
              <a:t>All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251959" y="3236976"/>
            <a:ext cx="1783080" cy="411480"/>
          </a:xfrm>
          <a:prstGeom prst="rect">
            <a:avLst/>
          </a:prstGeom>
          <a:solidFill>
            <a:srgbClr val="FFF5F5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325112" y="3255263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Trustee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126479" y="3236976"/>
            <a:ext cx="1783080" cy="411480"/>
          </a:xfrm>
          <a:prstGeom prst="rect">
            <a:avLst/>
          </a:prstGeom>
          <a:solidFill>
            <a:srgbClr val="FFF5F5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199631" y="3255263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—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001000" y="3236976"/>
            <a:ext cx="1783080" cy="411480"/>
          </a:xfrm>
          <a:prstGeom prst="rect">
            <a:avLst/>
          </a:prstGeom>
          <a:solidFill>
            <a:srgbClr val="FFF5F5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074152" y="3255263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Yes (CC no.)</a:t>
            </a:r>
          </a:p>
        </p:txBody>
      </p:sp>
      <p:sp>
        <p:nvSpPr>
          <p:cNvPr id="77" name="Rectangle 76"/>
          <p:cNvSpPr/>
          <p:nvPr/>
        </p:nvSpPr>
        <p:spPr>
          <a:xfrm>
            <a:off x="9875520" y="3236976"/>
            <a:ext cx="1783080" cy="411480"/>
          </a:xfrm>
          <a:prstGeom prst="rect">
            <a:avLst/>
          </a:prstGeom>
          <a:solidFill>
            <a:srgbClr val="FFF5F5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948672" y="3255263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Yes (all changes)</a:t>
            </a:r>
          </a:p>
        </p:txBody>
      </p:sp>
      <p:sp>
        <p:nvSpPr>
          <p:cNvPr id="79" name="Rectangle 78"/>
          <p:cNvSpPr/>
          <p:nvPr/>
        </p:nvSpPr>
        <p:spPr>
          <a:xfrm>
            <a:off x="502920" y="3675887"/>
            <a:ext cx="178308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76072" y="3694176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1C1917"/>
                </a:solidFill>
                <a:latin typeface="Calibri"/>
              </a:rPr>
              <a:t>Club</a:t>
            </a:r>
          </a:p>
        </p:txBody>
      </p:sp>
      <p:sp>
        <p:nvSpPr>
          <p:cNvPr id="81" name="Rectangle 80"/>
          <p:cNvSpPr/>
          <p:nvPr/>
        </p:nvSpPr>
        <p:spPr>
          <a:xfrm>
            <a:off x="2377439" y="3675887"/>
            <a:ext cx="178308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2450591" y="3694176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C8102E"/>
                </a:solidFill>
                <a:latin typeface="Calibri"/>
              </a:rPr>
              <a:t>All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251959" y="3675887"/>
            <a:ext cx="178308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325112" y="3694176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Committee</a:t>
            </a:r>
          </a:p>
        </p:txBody>
      </p:sp>
      <p:sp>
        <p:nvSpPr>
          <p:cNvPr id="85" name="Rectangle 84"/>
          <p:cNvSpPr/>
          <p:nvPr/>
        </p:nvSpPr>
        <p:spPr>
          <a:xfrm>
            <a:off x="6126479" y="3675887"/>
            <a:ext cx="178308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199631" y="3694176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—</a:t>
            </a:r>
          </a:p>
        </p:txBody>
      </p:sp>
      <p:sp>
        <p:nvSpPr>
          <p:cNvPr id="87" name="Rectangle 86"/>
          <p:cNvSpPr/>
          <p:nvPr/>
        </p:nvSpPr>
        <p:spPr>
          <a:xfrm>
            <a:off x="8001000" y="3675887"/>
            <a:ext cx="178308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074152" y="3694176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—</a:t>
            </a:r>
          </a:p>
        </p:txBody>
      </p:sp>
      <p:sp>
        <p:nvSpPr>
          <p:cNvPr id="89" name="Rectangle 88"/>
          <p:cNvSpPr/>
          <p:nvPr/>
        </p:nvSpPr>
        <p:spPr>
          <a:xfrm>
            <a:off x="9875520" y="3675887"/>
            <a:ext cx="178308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9948672" y="3694176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Yes (all changes)</a:t>
            </a:r>
          </a:p>
        </p:txBody>
      </p:sp>
      <p:sp>
        <p:nvSpPr>
          <p:cNvPr id="91" name="Rectangle 90"/>
          <p:cNvSpPr/>
          <p:nvPr/>
        </p:nvSpPr>
        <p:spPr>
          <a:xfrm>
            <a:off x="502920" y="4114800"/>
            <a:ext cx="1783080" cy="411480"/>
          </a:xfrm>
          <a:prstGeom prst="rect">
            <a:avLst/>
          </a:prstGeom>
          <a:solidFill>
            <a:srgbClr val="FFF5F5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76072" y="4133087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1C1917"/>
                </a:solidFill>
                <a:latin typeface="Calibri"/>
              </a:rPr>
              <a:t>Society</a:t>
            </a:r>
          </a:p>
        </p:txBody>
      </p:sp>
      <p:sp>
        <p:nvSpPr>
          <p:cNvPr id="93" name="Rectangle 92"/>
          <p:cNvSpPr/>
          <p:nvPr/>
        </p:nvSpPr>
        <p:spPr>
          <a:xfrm>
            <a:off x="2377439" y="4114800"/>
            <a:ext cx="1783080" cy="411480"/>
          </a:xfrm>
          <a:prstGeom prst="rect">
            <a:avLst/>
          </a:prstGeom>
          <a:solidFill>
            <a:srgbClr val="FFF5F5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2450591" y="4133087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C8102E"/>
                </a:solidFill>
                <a:latin typeface="Calibri"/>
              </a:rPr>
              <a:t>All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251959" y="4114800"/>
            <a:ext cx="1783080" cy="411480"/>
          </a:xfrm>
          <a:prstGeom prst="rect">
            <a:avLst/>
          </a:prstGeom>
          <a:solidFill>
            <a:srgbClr val="FFF5F5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325112" y="4133087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Committee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126479" y="4114800"/>
            <a:ext cx="1783080" cy="411480"/>
          </a:xfrm>
          <a:prstGeom prst="rect">
            <a:avLst/>
          </a:prstGeom>
          <a:solidFill>
            <a:srgbClr val="FFF5F5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199631" y="4133087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—</a:t>
            </a:r>
          </a:p>
        </p:txBody>
      </p:sp>
      <p:sp>
        <p:nvSpPr>
          <p:cNvPr id="99" name="Rectangle 98"/>
          <p:cNvSpPr/>
          <p:nvPr/>
        </p:nvSpPr>
        <p:spPr>
          <a:xfrm>
            <a:off x="8001000" y="4114800"/>
            <a:ext cx="1783080" cy="411480"/>
          </a:xfrm>
          <a:prstGeom prst="rect">
            <a:avLst/>
          </a:prstGeom>
          <a:solidFill>
            <a:srgbClr val="FFF5F5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8074152" y="4133087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—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9875520" y="4114800"/>
            <a:ext cx="1783080" cy="411480"/>
          </a:xfrm>
          <a:prstGeom prst="rect">
            <a:avLst/>
          </a:prstGeom>
          <a:solidFill>
            <a:srgbClr val="FFF5F5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9948672" y="4133087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Yes (all changes)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02920" y="4626864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8716C"/>
                </a:solidFill>
                <a:latin typeface="Calibri"/>
              </a:rPr>
              <a:t>MANDATE RULE ENFORCEMENT LOGIC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502920" y="4919472"/>
            <a:ext cx="361188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502920" y="4919472"/>
            <a:ext cx="3611880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640080" y="4974336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C1917"/>
                </a:solidFill>
                <a:latin typeface="Calibri"/>
              </a:rPr>
              <a:t>Any-1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640080" y="5230368"/>
            <a:ext cx="33375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Single signature sufficient. Cooling-off triggers automatically after execution.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40080" y="5742432"/>
            <a:ext cx="3337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C8102E"/>
                </a:solidFill>
                <a:latin typeface="Calibri"/>
              </a:rPr>
              <a:t>→ sole-trader, basic current account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4398264" y="4919472"/>
            <a:ext cx="361188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4398264" y="4919472"/>
            <a:ext cx="3611880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4535424" y="4974336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C1917"/>
                </a:solidFill>
                <a:latin typeface="Calibri"/>
              </a:rPr>
              <a:t>Any-2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4535424" y="5230368"/>
            <a:ext cx="33375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2 of N signatories required. Co-signer notified. 48hr window before RM escalation.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535424" y="5742432"/>
            <a:ext cx="3337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C8102E"/>
                </a:solidFill>
                <a:latin typeface="Calibri"/>
              </a:rPr>
              <a:t>→ limited companies, LLPs, partnerships with 2+ directors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8293608" y="4919472"/>
            <a:ext cx="361188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8293608" y="4919472"/>
            <a:ext cx="3611880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8430768" y="4974336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C1917"/>
                </a:solidFill>
                <a:latin typeface="Calibri"/>
              </a:rPr>
              <a:t>All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8430768" y="5230368"/>
            <a:ext cx="33375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Every verified signatory must sign. Treasurer acts last. Board minutes required.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430768" y="5742432"/>
            <a:ext cx="3337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C8102E"/>
                </a:solidFill>
                <a:latin typeface="Calibri"/>
              </a:rPr>
              <a:t>→ charities, clubs, societies — getMandateFor() returns strictest across accounts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57200" y="6601968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Business Banking Advisor  ·  Self-initiated  ·  Own time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1521440" y="6537960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C8102E"/>
                </a:solidFill>
                <a:latin typeface="Calibri"/>
              </a:rPr>
              <a:t>API Integration Contracts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13232"/>
            <a:ext cx="11274552" cy="18288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914400"/>
            <a:ext cx="5577840" cy="248716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914400"/>
            <a:ext cx="5577840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00584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GOV.UK ONE LOGIN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243584"/>
            <a:ext cx="52120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78716C"/>
                </a:solidFill>
                <a:latin typeface="Calibri"/>
              </a:rPr>
              <a:t>KYC/AML · Identity verification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481328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Flow: PKCE OAuth2 → ID assertion JWT → verify JWKS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Scopes: openid · email · phone · address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Returns: VC (Verifiable Credential) with ID confidence P2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Webhook: identity_assurance_completed → trigger List 1 approval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Error states: low_confidence → RM escalation, fraud_signal → block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55080" y="914400"/>
            <a:ext cx="5577840" cy="248716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914400"/>
            <a:ext cx="5577840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00584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HMRC MTD VAT API v1.0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1243584"/>
            <a:ext cx="52120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78716C"/>
                </a:solidFill>
                <a:latin typeface="Calibri"/>
              </a:rPr>
              <a:t>Making Tax Digital submission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1481328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Auth: OAuth2 client_credentials, VRN-scoped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GET /obligations/{vrn} — current quarter, status, deadline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POST /returns/{vrn} — VAT100 boxes 1–9, period key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Response: formBundleNumber (receipt) in &lt; 5 seconds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Fraud headers: Gov-Client-Device-ID · Gov-Client-User-IDs required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657600"/>
            <a:ext cx="5577840" cy="248716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3657600"/>
            <a:ext cx="5577840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749039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VOCALINK CoP API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986784"/>
            <a:ext cx="52120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78716C"/>
                </a:solidFill>
                <a:latin typeface="Calibri"/>
              </a:rPr>
              <a:t>Confirmation of Payee · PSR 2017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224528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Request: account name + sort code + account number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Response: MATCHED · CLOSE_MATCH · NOT_MATCHED · UNAVAILABLE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Timing: pre-payment, non-blocking (shown in payee add flow)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Required for: all CHAPS, FP &gt; £250k, any new payee add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Mismatch: warn user + require explicit override confirmation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55080" y="3657600"/>
            <a:ext cx="5577840" cy="248716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55080" y="3657600"/>
            <a:ext cx="5577840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3749039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COMPANIES HOUSE API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3986784"/>
            <a:ext cx="52120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78716C"/>
                </a:solidFill>
                <a:latin typeface="Calibri"/>
              </a:rPr>
              <a:t>Director/member register · Entity verification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4224528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GET /company/{number} — registered name, status, officers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Sync on: entity onboarding + mandate add (director check)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Officers list: validate proposed signatory against register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Webhook: company_status_changed → alert RM if dissolved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Rate limit: 600/5min — cache responses 1hr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601968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Business Banking Advisor  ·  Self-initiated  ·  Own time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521440" y="6537960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C8102E"/>
                </a:solidFill>
                <a:latin typeface="Calibri"/>
              </a:rPr>
              <a:t>Design System — Tokens &amp; Patterns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13232"/>
            <a:ext cx="11274552" cy="18288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84124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8716C"/>
                </a:solidFill>
                <a:latin typeface="Calibri"/>
              </a:rPr>
              <a:t>COLOUR TOKENS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197864"/>
            <a:ext cx="384048" cy="384048"/>
          </a:xfrm>
          <a:prstGeom prst="rect">
            <a:avLst/>
          </a:prstGeom>
          <a:solidFill>
            <a:srgbClr val="C8102E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1197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#C8102E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1380744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8102E"/>
                </a:solidFill>
                <a:latin typeface="Calibri"/>
              </a:rPr>
              <a:t>brand-red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40280" y="12344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CTAs, active nav, top bar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709928"/>
            <a:ext cx="384048" cy="384048"/>
          </a:xfrm>
          <a:prstGeom prst="rect">
            <a:avLst/>
          </a:prstGeom>
          <a:solidFill>
            <a:srgbClr val="A00D24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17099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#A00D24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" y="1892808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8102E"/>
                </a:solidFill>
                <a:latin typeface="Calibri"/>
              </a:rPr>
              <a:t>brand-dark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40280" y="1746504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Hover / pressed on red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221992"/>
            <a:ext cx="384048" cy="384048"/>
          </a:xfrm>
          <a:prstGeom prst="rect">
            <a:avLst/>
          </a:prstGeom>
          <a:solidFill>
            <a:srgbClr val="1C1917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22219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#1C1917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7552" y="2404872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8102E"/>
                </a:solidFill>
                <a:latin typeface="Calibri"/>
              </a:rPr>
              <a:t>stone-900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40280" y="225856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Primary text, dark cards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734056"/>
            <a:ext cx="384048" cy="384048"/>
          </a:xfrm>
          <a:prstGeom prst="rect">
            <a:avLst/>
          </a:prstGeom>
          <a:solidFill>
            <a:srgbClr val="FAF6E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7552" y="273405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#FAF6EF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7552" y="2916936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8102E"/>
                </a:solidFill>
                <a:latin typeface="Calibri"/>
              </a:rPr>
              <a:t>warm-bg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40280" y="2770632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Page background only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3246120"/>
            <a:ext cx="384048" cy="384048"/>
          </a:xfrm>
          <a:prstGeom prst="rect">
            <a:avLst/>
          </a:prstGeom>
          <a:solidFill>
            <a:srgbClr val="78716C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87552" y="324612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#78716C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7552" y="3429000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8102E"/>
                </a:solidFill>
                <a:latin typeface="Calibri"/>
              </a:rPr>
              <a:t>stone-500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40280" y="3282696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Secondary text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758184"/>
            <a:ext cx="384048" cy="384048"/>
          </a:xfrm>
          <a:prstGeom prst="rect">
            <a:avLst/>
          </a:prstGeom>
          <a:solidFill>
            <a:srgbClr val="A8A29E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7552" y="375818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#A8A29E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7552" y="3941064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8102E"/>
                </a:solidFill>
                <a:latin typeface="Calibri"/>
              </a:rPr>
              <a:t>stone-400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40280" y="37947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Tertiary / placeholder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4270248"/>
            <a:ext cx="384048" cy="384048"/>
          </a:xfrm>
          <a:prstGeom prst="rect">
            <a:avLst/>
          </a:prstGeom>
          <a:solidFill>
            <a:srgbClr val="FECACA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7552" y="427024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#FECACA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7552" y="4453128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8102E"/>
                </a:solidFill>
                <a:latin typeface="Calibri"/>
              </a:rPr>
              <a:t>red-200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240280" y="4306824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Accent on red surfaces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4782312"/>
            <a:ext cx="384048" cy="384048"/>
          </a:xfrm>
          <a:prstGeom prst="rect">
            <a:avLst/>
          </a:prstGeom>
          <a:solidFill>
            <a:srgbClr val="D6D3D1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7552" y="478231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#D6D3D1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7552" y="4965192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8102E"/>
                </a:solidFill>
                <a:latin typeface="Calibri"/>
              </a:rPr>
              <a:t>stone-300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240280" y="481888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Accent on dark surfaces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754880" y="84124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8716C"/>
                </a:solidFill>
                <a:latin typeface="Calibri"/>
              </a:rPr>
              <a:t>TYPOGRAPHY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754880" y="1143000"/>
            <a:ext cx="2743200" cy="47548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864608" y="1179576"/>
            <a:ext cx="252374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Fraunces (font-display)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864608" y="1399032"/>
            <a:ext cx="252374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Serif — editorial headings, large balance numbers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754880" y="1709928"/>
            <a:ext cx="2743200" cy="47548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864608" y="1746504"/>
            <a:ext cx="252374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Fraunces tight (font-display-tight)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64608" y="1965960"/>
            <a:ext cx="252374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Fraunces + tight letter-spacing, hero figures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754880" y="2276856"/>
            <a:ext cx="2743200" cy="47548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864608" y="2313432"/>
            <a:ext cx="252374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Geist Sans (font-body)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864608" y="2532888"/>
            <a:ext cx="252374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All body text, labels, nav, buttons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754880" y="2843784"/>
            <a:ext cx="2743200" cy="47548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864608" y="2880360"/>
            <a:ext cx="252374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Geist Mono (font-mono)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864608" y="3099815"/>
            <a:ext cx="252374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Account numbers, sort codes, financial data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754880" y="3410712"/>
            <a:ext cx="2743200" cy="47548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864608" y="3447288"/>
            <a:ext cx="252374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num-tab class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64608" y="3666744"/>
            <a:ext cx="252374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tabular-nums — ALL monetary amounts, ensures alignment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80960" y="841248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8716C"/>
                </a:solidFill>
                <a:latin typeface="Calibri"/>
              </a:rPr>
              <a:t>SPACING SCALE (4px base)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680960" y="2326640"/>
            <a:ext cx="438912" cy="508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680960" y="2423160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1C1917"/>
                </a:solidFill>
                <a:latin typeface="Calibri"/>
              </a:rPr>
              <a:t>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680960" y="2633472"/>
            <a:ext cx="43891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 i="0">
                <a:solidFill>
                  <a:srgbClr val="78716C"/>
                </a:solidFill>
                <a:latin typeface="Calibri"/>
              </a:rPr>
              <a:t>tw-1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229600" y="2275840"/>
            <a:ext cx="438912" cy="1016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229600" y="2423160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1C1917"/>
                </a:solidFill>
                <a:latin typeface="Calibri"/>
              </a:rPr>
              <a:t>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229600" y="2633472"/>
            <a:ext cx="43891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 i="0">
                <a:solidFill>
                  <a:srgbClr val="78716C"/>
                </a:solidFill>
                <a:latin typeface="Calibri"/>
              </a:rPr>
              <a:t>tw-2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778240" y="2225040"/>
            <a:ext cx="438912" cy="1524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778240" y="2423160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1C1917"/>
                </a:solidFill>
                <a:latin typeface="Calibri"/>
              </a:rPr>
              <a:t>12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778240" y="2633472"/>
            <a:ext cx="43891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 i="0">
                <a:solidFill>
                  <a:srgbClr val="78716C"/>
                </a:solidFill>
                <a:latin typeface="Calibri"/>
              </a:rPr>
              <a:t>tw-3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326880" y="2174240"/>
            <a:ext cx="438912" cy="2032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326880" y="2423160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1C1917"/>
                </a:solidFill>
                <a:latin typeface="Calibri"/>
              </a:rPr>
              <a:t>16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326880" y="2633472"/>
            <a:ext cx="43891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 i="0">
                <a:solidFill>
                  <a:srgbClr val="78716C"/>
                </a:solidFill>
                <a:latin typeface="Calibri"/>
              </a:rPr>
              <a:t>tw-4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9875520" y="2072640"/>
            <a:ext cx="438912" cy="3048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875520" y="2423160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1C1917"/>
                </a:solidFill>
                <a:latin typeface="Calibri"/>
              </a:rPr>
              <a:t>24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875520" y="2633472"/>
            <a:ext cx="43891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 i="0">
                <a:solidFill>
                  <a:srgbClr val="78716C"/>
                </a:solidFill>
                <a:latin typeface="Calibri"/>
              </a:rPr>
              <a:t>tw-6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0424160" y="1971040"/>
            <a:ext cx="438912" cy="4064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0424160" y="2423160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1C1917"/>
                </a:solidFill>
                <a:latin typeface="Calibri"/>
              </a:rPr>
              <a:t>32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424160" y="2633472"/>
            <a:ext cx="43891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 i="0">
                <a:solidFill>
                  <a:srgbClr val="78716C"/>
                </a:solidFill>
                <a:latin typeface="Calibri"/>
              </a:rPr>
              <a:t>tw-8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0972800" y="1767840"/>
            <a:ext cx="438912" cy="6096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0972800" y="2423160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1C1917"/>
                </a:solidFill>
                <a:latin typeface="Calibri"/>
              </a:rPr>
              <a:t>48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972800" y="2633472"/>
            <a:ext cx="43891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 i="0">
                <a:solidFill>
                  <a:srgbClr val="78716C"/>
                </a:solidFill>
                <a:latin typeface="Calibri"/>
              </a:rPr>
              <a:t>tw-12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1521440" y="1564640"/>
            <a:ext cx="438912" cy="8128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1521440" y="2423160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1C1917"/>
                </a:solidFill>
                <a:latin typeface="Calibri"/>
              </a:rPr>
              <a:t>64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521440" y="2633472"/>
            <a:ext cx="43891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 i="0">
                <a:solidFill>
                  <a:srgbClr val="78716C"/>
                </a:solidFill>
                <a:latin typeface="Calibri"/>
              </a:rPr>
              <a:t>tw-16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680960" y="2926080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8716C"/>
                </a:solidFill>
                <a:latin typeface="Calibri"/>
              </a:rPr>
              <a:t>SHADOW SYSTEM</a:t>
            </a:r>
          </a:p>
        </p:txBody>
      </p:sp>
      <p:sp>
        <p:nvSpPr>
          <p:cNvPr id="81" name="Rectangle 80"/>
          <p:cNvSpPr/>
          <p:nvPr/>
        </p:nvSpPr>
        <p:spPr>
          <a:xfrm>
            <a:off x="7680960" y="3246120"/>
            <a:ext cx="40233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7808975" y="3300984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lift-1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808975" y="3538727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1px 2px 4px rgba(0,0,0,.06)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326880" y="3337560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List items, inline cards</a:t>
            </a:r>
          </a:p>
        </p:txBody>
      </p:sp>
      <p:sp>
        <p:nvSpPr>
          <p:cNvPr id="85" name="Rectangle 84"/>
          <p:cNvSpPr/>
          <p:nvPr/>
        </p:nvSpPr>
        <p:spPr>
          <a:xfrm>
            <a:off x="7680960" y="3959352"/>
            <a:ext cx="40233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7808975" y="4014215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lift-2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808975" y="4251960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0 4px 16px rgba(0,0,0,.10)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326880" y="4050791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Primary cards, panels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680960" y="4672583"/>
            <a:ext cx="40233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808975" y="4727447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lift-hero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808975" y="4965192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0 20px 60px rgba(0,0,0,.22)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326880" y="4764023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Balance hero card only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754880" y="422452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8716C"/>
                </a:solidFill>
                <a:latin typeface="Calibri"/>
              </a:rPr>
              <a:t>KEY COMPONENT PATTERNS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754880" y="4526280"/>
            <a:ext cx="2606040" cy="420624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864608" y="4581144"/>
            <a:ext cx="239572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StepFrame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7452360" y="4617720"/>
            <a:ext cx="4572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Workflow wrapper — back/close/progress/next. No hooks inside.</a:t>
            </a:r>
          </a:p>
        </p:txBody>
      </p:sp>
      <p:sp>
        <p:nvSpPr>
          <p:cNvPr id="97" name="Rectangle 96"/>
          <p:cNvSpPr/>
          <p:nvPr/>
        </p:nvSpPr>
        <p:spPr>
          <a:xfrm>
            <a:off x="4754880" y="5029200"/>
            <a:ext cx="2606040" cy="420624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4864608" y="5084064"/>
            <a:ext cx="239572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Input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452360" y="5120640"/>
            <a:ext cx="4572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focus-visible:ring-2 — WCAG keyboard visible, mouse unaffected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4754880" y="5532120"/>
            <a:ext cx="2606040" cy="420624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864608" y="5586984"/>
            <a:ext cx="239572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Toggle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452360" y="5623560"/>
            <a:ext cx="4572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Switch component — focus-visible:ring — screen reader announced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4754880" y="6035040"/>
            <a:ext cx="2606040" cy="420624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4864608" y="6089904"/>
            <a:ext cx="239572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Field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7452360" y="6126480"/>
            <a:ext cx="4572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Label + child + hint — uppercase tracking, 11px hint text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4754880" y="6537960"/>
            <a:ext cx="2606040" cy="420624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4864608" y="6592824"/>
            <a:ext cx="239572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ProgressDots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7452360" y="6629400"/>
            <a:ext cx="4572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Step indicator — red active, stone complete, stone-300 future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57200" y="6601968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Business Banking Advisor  ·  Self-initiated  ·  Own time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1521440" y="6537960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