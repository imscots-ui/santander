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  <p:pic>
        <p:nvPicPr>
          <p:cNvPr id="31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EC0000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~7,400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17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16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36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EC0000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Santander Text (Geist fallback)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CoP check → credit check → sign. 24h cooling-off on Any-1; mandate-enforced.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97480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43784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ID Register (KYB)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3784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3784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GOV.UK One Login List 1, address List 2, trading List 3 per signatory. Document upload.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0912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10912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7216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the signing rule. Full KYC/KYB per signatory.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4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4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per payee, CSV import, one-off or monthly. Mandate: Any-1/2/All.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37776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37776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address. Companies House sync.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notice; 12-month threshold.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97480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97480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43784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43784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43784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(confidence score) → review VAT100 → declare → HMRC API submit.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10912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10912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57216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57216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57216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→ data-separation notice → all-channels + postal toggle. CRM ref, 2 working days.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24344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24344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70648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0648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0648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GDPR Art.5(1)(c) basis → signed instruction. Personal data excluded from credit decisions.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37776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37776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84080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84080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0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offer, live repayment calculator (12/24/36m) → CCA 1974 terms, 14-day rights.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4048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→ live rate + FCA fee → biometric confirm. 5 currencies.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97480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697480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43784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43784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43784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Active DDs (Guarantee-protected) + standing orders → set up or cancel. You control push.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10912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10912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157216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57216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57216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triage → denial → outcome. FCA DISP-compliant; eligible-complainant check.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  <p:sp>
        <p:nvSpPr>
          <p:cNvPr id="7" name="NEW13_bg"/>
          <p:cNvSpPr/>
          <p:nvPr/>
        </p:nvSpPr>
        <p:spPr>
          <a:xfrm>
            <a:off x="7324344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3_accent"/>
          <p:cNvSpPr/>
          <p:nvPr/>
        </p:nvSpPr>
        <p:spPr>
          <a:xfrm>
            <a:off x="7324344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3_title"/>
          <p:cNvSpPr txBox="1"/>
          <p:nvPr/>
        </p:nvSpPr>
        <p:spPr>
          <a:xfrm>
            <a:off x="7470648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Dispute a Payment</a:t>
            </a:r>
          </a:p>
        </p:txBody>
      </p:sp>
      <p:sp>
        <p:nvSpPr>
          <p:cNvPr id="10" name="NEW13_steps"/>
          <p:cNvSpPr txBox="1"/>
          <p:nvPr/>
        </p:nvSpPr>
        <p:spPr>
          <a:xfrm>
            <a:off x="7470648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NEW13_desc"/>
          <p:cNvSpPr txBox="1"/>
          <p:nvPr/>
        </p:nvSpPr>
        <p:spPr>
          <a:xfrm>
            <a:off x="7470648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Payment → reason (chargeback / fraud / DD Guarantee) → evidence → review. Provisional refund.</a:t>
            </a:r>
          </a:p>
        </p:txBody>
      </p:sp>
      <p:sp>
        <p:nvSpPr>
          <p:cNvPr id="7" name="NEW14_bg"/>
          <p:cNvSpPr/>
          <p:nvPr/>
        </p:nvSpPr>
        <p:spPr>
          <a:xfrm>
            <a:off x="9637776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4_accent"/>
          <p:cNvSpPr/>
          <p:nvPr/>
        </p:nvSpPr>
        <p:spPr>
          <a:xfrm>
            <a:off x="9637776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4_title"/>
          <p:cNvSpPr txBox="1"/>
          <p:nvPr/>
        </p:nvSpPr>
        <p:spPr>
          <a:xfrm>
            <a:off x="9784080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Beneficiary</a:t>
            </a:r>
          </a:p>
        </p:txBody>
      </p:sp>
      <p:sp>
        <p:nvSpPr>
          <p:cNvPr id="10" name="NEW14_steps"/>
          <p:cNvSpPr txBox="1"/>
          <p:nvPr/>
        </p:nvSpPr>
        <p:spPr>
          <a:xfrm>
            <a:off x="9784080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NEW14_desc"/>
          <p:cNvSpPr txBox="1"/>
          <p:nvPr/>
        </p:nvSpPr>
        <p:spPr>
          <a:xfrm>
            <a:off x="9784080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→ account (IBAN/SWIFT) → purpose &amp; sanctions screening → review. Audit-logged.</a:t>
            </a:r>
          </a:p>
        </p:txBody>
      </p:sp>
      <p:sp>
        <p:nvSpPr>
          <p:cNvPr id="7" name="NEW15_bg"/>
          <p:cNvSpPr/>
          <p:nvPr/>
        </p:nvSpPr>
        <p:spPr>
          <a:xfrm>
            <a:off x="384048" y="5248656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5_accent"/>
          <p:cNvSpPr/>
          <p:nvPr/>
        </p:nvSpPr>
        <p:spPr>
          <a:xfrm>
            <a:off x="384048" y="5248656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5_title"/>
          <p:cNvSpPr txBox="1"/>
          <p:nvPr/>
        </p:nvSpPr>
        <p:spPr>
          <a:xfrm>
            <a:off x="530352" y="5340096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Balance Certificate</a:t>
            </a:r>
          </a:p>
        </p:txBody>
      </p:sp>
      <p:sp>
        <p:nvSpPr>
          <p:cNvPr id="10" name="NEW15_steps"/>
          <p:cNvSpPr txBox="1"/>
          <p:nvPr/>
        </p:nvSpPr>
        <p:spPr>
          <a:xfrm>
            <a:off x="530352" y="5669280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NEW15_desc"/>
          <p:cNvSpPr txBox="1"/>
          <p:nvPr/>
        </p:nvSpPr>
        <p:spPr>
          <a:xfrm>
            <a:off x="530352" y="5852160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Certificate type → accounts &amp; date → purpose &amp; delivery → sealed PDF. No postal wait.</a:t>
            </a:r>
          </a:p>
        </p:txBody>
      </p:sp>
      <p:sp>
        <p:nvSpPr>
          <p:cNvPr id="7" name="NEW16_bg"/>
          <p:cNvSpPr/>
          <p:nvPr/>
        </p:nvSpPr>
        <p:spPr>
          <a:xfrm>
            <a:off x="2697480" y="5248656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6_accent"/>
          <p:cNvSpPr/>
          <p:nvPr/>
        </p:nvSpPr>
        <p:spPr>
          <a:xfrm>
            <a:off x="2697480" y="5248656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6_title"/>
          <p:cNvSpPr txBox="1"/>
          <p:nvPr/>
        </p:nvSpPr>
        <p:spPr>
          <a:xfrm>
            <a:off x="2843784" y="5340096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Devices &amp; Sessions</a:t>
            </a:r>
          </a:p>
        </p:txBody>
      </p:sp>
      <p:sp>
        <p:nvSpPr>
          <p:cNvPr id="10" name="NEW16_steps"/>
          <p:cNvSpPr txBox="1"/>
          <p:nvPr/>
        </p:nvSpPr>
        <p:spPr>
          <a:xfrm>
            <a:off x="2843784" y="5669280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NEW16_desc"/>
          <p:cNvSpPr txBox="1"/>
          <p:nvPr/>
        </p:nvSpPr>
        <p:spPr>
          <a:xfrm>
            <a:off x="2843784" y="5852160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Devices &amp; recent sign-ins → security preferences → sign out others. SCA-protected.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EC0000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EC0000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EC0000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EC0000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EC0000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Applied Knowledge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development, UX, banking, regulation &amp; financial crime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EC0000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5312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5312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649724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67715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67715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873752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490118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490118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097780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1252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1252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321808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349240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349240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545836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57326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57326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769864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79729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579729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5993892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02132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02132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217920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2453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2453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36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detail panels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Seventeen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841248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8444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65760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675887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07822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15137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4169663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EC0000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