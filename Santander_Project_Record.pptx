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716C"/>
                </a:solidFill>
                <a:latin typeface="Calibri"/>
              </a:rPr>
              <a:t>Project Record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Santander Business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520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 i="1">
                <a:solidFill>
                  <a:srgbClr val="FEF2F2"/>
                </a:solidFill>
                <a:latin typeface="Calibri"/>
              </a:rPr>
              <a:t>Digital Prototype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315968"/>
            <a:ext cx="4114800" cy="182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43484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Author: Alan Davidson · Business Banking Advisor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Capacity: Self-initiated · Completed entirely out of hours · Own time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Prototype: https://imscots-ui.github.io/santander/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Date: June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79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79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79" y="4279392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47548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Features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68511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68511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4279392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1" y="47548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Workflows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38944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38944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38944" y="4279392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38944" y="47548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Entity types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009376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009376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09376" y="4279392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09376" y="47548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Frameworks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Project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 single-file React prototype — fully functional, browser-only, no backend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WHAT WAS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303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App.jsx — ~5,700-lines · ~300KB source · Single React component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main screens accessible from the bottom nav / sidebar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11 step-based workflow wizards covering every key banking operation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sheet overlays for quick-access tasks (notifications, receipts, PIN, open banking, voice)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7 entity types — every compliance path forks by entity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21 features across dashboard intelligence, paperless workflows, security, and compliance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8 regulatory frameworks implemented end-to-end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WCAG 2.1 AA accessibility — focus-visible on every interactive element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No backend · No API calls · Runs from any browser as a single HTML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05156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TECHNOLOGY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325880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380744"/>
            <a:ext cx="1874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19" y="1380744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18 · single-component architecture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673352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1728216"/>
            <a:ext cx="1874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Styling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19" y="1728216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Tailwind CSS + inline brand CSS template literal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020824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2075688"/>
            <a:ext cx="1874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Icons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19" y="2075688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Lucide React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368296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2423160"/>
            <a:ext cx="1874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242316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→ 832KB HTML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715768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2770632"/>
            <a:ext cx="1874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Fonts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2770632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Fraunces (display) · Geist (body) · Geist Mono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063239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0528" y="3118103"/>
            <a:ext cx="1874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19" y="3118103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GitHub Pages · gh-pages branch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10712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3465576"/>
            <a:ext cx="1874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19" y="3465576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useState / useMemo / useEffect — all at App() top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3758184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0528" y="3813048"/>
            <a:ext cx="1874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Source control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9" y="3813048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 · branch claude/add-claude-documentation-eaPc5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394960"/>
            <a:ext cx="11274552" cy="7315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46811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Live prototype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40" y="5468112"/>
            <a:ext cx="5943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https://imscots-ui.github.io/santander/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5468112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832 KB · self-contained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5815584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work self-initiated · out of hours · own time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The Five Screens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All accessible from the bottom navigation bar (mobile) or sidebar (desktop)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43000"/>
            <a:ext cx="34198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Home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7" y="1417319"/>
            <a:ext cx="341985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'home'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618488"/>
            <a:ext cx="3438144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Balance hero card — accounts, available balance, mandate badge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Business health score — live 0-100 circular SVG gauge across 5 factors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alert — new device/location security warning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13-week cash flow forecast — SVG bar chart with risk threshold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Supplier risk radar — Companies House RAG status for top 5 counterparties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Director command centre — all signatories with KYC status and pending counts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10 action tiles — quick launch for every workflow and feature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Cooling-off progress bars — live countdowns with cancel option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ID security card — enrolment status, cross-channel, SCA tiers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Relationship Manager card — Priya Desai with escalation trigger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0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143000"/>
            <a:ext cx="34198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Signature Queue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417319"/>
            <a:ext cx="341985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'approve'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618488"/>
            <a:ext cx="3438144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Pending mandates, closures, and bulk payments awaiting your signature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Dual-authorisation: Face ID biometric sign or explicit reject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item shows initiator, amount, expiry window, and rule type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Badge count on nav tab — updates live as items are signed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Stalled requests shown with RM escalation card when co-signer misses window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2" y="1143000"/>
            <a:ext cx="34198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Financial Statements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1417319"/>
            <a:ext cx="341985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'statements'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2" y="1618488"/>
            <a:ext cx="3438144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6 months of transactions — chronological and by category views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Full-text counterparty search with instant results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Counterparty detail sheet — spend breakdown, transaction history, method split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PDF / CSV / Excel export with simulated download feedback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Transaction method filter: all, bank transfer, direct debit, standing order, card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Outgoing / incoming colour-coded with tabular-num amounts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13432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13432" y="370332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50591" y="3794760"/>
            <a:ext cx="34198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Making Tax Digital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50591" y="4069080"/>
            <a:ext cx="341985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'mtd'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0591" y="4270248"/>
            <a:ext cx="3438144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HMRC VAT and ITSA obligations with deadline countdown badges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Quarterly submission wizard — 4 steps: categorise, review, declare, submit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Auto-categorisation with confidence scoring for each transaction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VAT100 form view with all 9 boxes calculated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YTD income/expense totals and projected tax liability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ITSA readiness indicator with quarters ahead of schedule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memo integration — tap-to-record expense auto-fills to ledger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Receipt scan — OCR categorise and match to open transactions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81344" y="370332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18504" y="3794760"/>
            <a:ext cx="34198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4069080"/>
            <a:ext cx="341985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'audit'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4270248"/>
            <a:ext cx="3438144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FCA SYSC 9 compliant — 7-year retention, append-only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Every action: workflow steps, sign events, rejections, system alerts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entry: timestamp, actor name, action type, account/reference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events logged with device/location metadata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Filter by event type or actor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Export for compliance reporting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Eleven Workflow Wizards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Step-based overlays — each is a full multi-step process rendered on top of the main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33101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Account Closure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5331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27048"/>
            <a:ext cx="3291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Select accounts → destination CoP check → credit check → sign. 24h cooling-off on Any-1 accounts. Mandate enforcement throughout.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23944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23944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8536" y="1115568"/>
            <a:ext cx="33101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Partner Unreachable Escalation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8536" y="135331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88536" y="1527048"/>
            <a:ext cx="3291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4 regulatory branches: health/welfare, no contact, deceased/probate, dispute. Evidence upload, specialist team referral, account restriction. FCA Consumer Duty PS22/9. Case ref SVC-2026-4471.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0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63840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28431" y="1115568"/>
            <a:ext cx="33101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Mandate Changes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135331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6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8431" y="1527048"/>
            <a:ext cx="3291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Add / remove / update signatories or change signing rule. Full KYC/KYB: GOV.UK One Login List 1, address List 2, trading List 3. Board minutes for clubs/charities. 7 entity type variations.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48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523744"/>
            <a:ext cx="33101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Bulk Payments / Wages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76148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2935224"/>
            <a:ext cx="3291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Payee book, CoP verification per payee, CSV import, one-off or monthly scheduling. Mandate enforcement: Any-1/2/All per source account.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23944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23944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88536" y="2523744"/>
            <a:ext cx="33101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Business Details Update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88536" y="276148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2935224"/>
            <a:ext cx="3291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Address, trading name, phone, email. Proof of address upload. Companies House sync notification. RM escalation for partnership renames.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63840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63840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28431" y="2523744"/>
            <a:ext cx="33101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Dormant Reactivation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28431" y="276148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1 step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28431" y="2935224"/>
            <a:ext cx="3291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Select dormant account and request reactivation. FSCS notice displayed. 12-month inactivity threshold enforced.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3931919"/>
            <a:ext cx="33101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MTD VAT Submission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4169663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4343399"/>
            <a:ext cx="3291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Auto-categorise transactions (confidence score per item) → review VAT100 form → declare accuracy → HMRC API submit. Returns receipt number.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23944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23944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88536" y="3931919"/>
            <a:ext cx="33101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Unlink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88536" y="4169663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88536" y="4343399"/>
            <a:ext cx="3291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Scope confirmation → data separation notice → all-channels toggle (CRM ref REL-2026-0291, 2 working days) + postal toggle → signed declaration. Removes personal data from JSX render tree — not CSS hide.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63840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863840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28431" y="3931919"/>
            <a:ext cx="33101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28431" y="4169663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2 steps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28431" y="4343399"/>
            <a:ext cx="3291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Risk overview with GDPR Art.5(1)(c) legal basis → signed formal instruction. Personal account data permanently excluded from business credit decisioning. State persists across sessions.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84048" y="5248655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84048" y="5248655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5340095"/>
            <a:ext cx="33101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Pre-approved Business Lending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5577840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5751575"/>
            <a:ext cx="3291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£45,000 offer with live monthly repayment calculator (12/24/36 months) → CCA 1974 terms and 14-day cooling-off rights → biometric confirm and draw-down. lendingCompleted state persists.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23944" y="5248655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123944" y="5248655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288536" y="5340095"/>
            <a:ext cx="33101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International FX Payment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288536" y="5577840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88536" y="5751575"/>
            <a:ext cx="3291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Amount + currency + IBAN + beneficiary → live rate + FCA fee disclosure (Consumer Rights Act 2015) → biometric confirm. 5 currencies: EUR/USD/CHF/AUD/CAD. MLR 2017 screening flag ≥£50k. SWIFT ref to audit trail.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Seven Entity Types &amp; Mandate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compliance path diverges by entity — KYC docs, principals, authorisation rules, board minute requirements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11475720" cy="32918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106424"/>
            <a:ext cx="20116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Entity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8608" y="1106424"/>
            <a:ext cx="14630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Mandate Default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3087" y="1106424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Principal Title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79007" y="1106424"/>
            <a:ext cx="1600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Companies House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0648" y="1106424"/>
            <a:ext cx="1965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Board Minutes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8048" y="1106424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Key Divergence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1380743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1463039"/>
            <a:ext cx="19933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1463039"/>
            <a:ext cx="1444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Any-1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3087" y="1463039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9007" y="1463039"/>
            <a:ext cx="1581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0648" y="1463039"/>
            <a:ext cx="1947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8048" y="1463039"/>
            <a:ext cx="22677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Single principal — no co-signer ever required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1783079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1865375"/>
            <a:ext cx="19933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78608" y="1865375"/>
            <a:ext cx="1444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Any-1/2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33087" y="1865375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79007" y="1865375"/>
            <a:ext cx="1581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0648" y="1865375"/>
            <a:ext cx="1947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(RM on rename)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8048" y="1865375"/>
            <a:ext cx="22677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Partner-unreachable path active; Any-2 if &gt;2 partners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2185415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2267711"/>
            <a:ext cx="19933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Limited Company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78608" y="2267711"/>
            <a:ext cx="1444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33087" y="2267711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Director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79007" y="2267711"/>
            <a:ext cx="1581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Companies No.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0648" y="2267711"/>
            <a:ext cx="1947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8048" y="2267711"/>
            <a:ext cx="22677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CH reg verified; director register linked to mandate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2587752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8" y="2670048"/>
            <a:ext cx="19933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78608" y="2670048"/>
            <a:ext cx="1444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33087" y="2670048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Member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9007" y="2670048"/>
            <a:ext cx="1581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LLP No.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70648" y="2670048"/>
            <a:ext cx="1947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28048" y="2670048"/>
            <a:ext cx="22677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 number shown; member terminology throughout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2990087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3072383"/>
            <a:ext cx="19933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Registered Charity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78608" y="3072383"/>
            <a:ext cx="1444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33087" y="3072383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Trustee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79007" y="3072383"/>
            <a:ext cx="1581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— Charity Comm.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70648" y="3072383"/>
            <a:ext cx="1947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28048" y="3072383"/>
            <a:ext cx="22677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All trustees must sign; Charity Commission ref shown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3392424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5488" y="3474720"/>
            <a:ext cx="19933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Club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474720"/>
            <a:ext cx="1444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33087" y="3474720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79007" y="3474720"/>
            <a:ext cx="1581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70648" y="3474720"/>
            <a:ext cx="1947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28048" y="3474720"/>
            <a:ext cx="22677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Full committee approval for every mandate/detail change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84048" y="3794760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5488" y="3877056"/>
            <a:ext cx="19933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Society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78608" y="3877056"/>
            <a:ext cx="1444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33087" y="3877056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79007" y="3877056"/>
            <a:ext cx="1581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70648" y="3877056"/>
            <a:ext cx="1947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528048" y="3877056"/>
            <a:ext cx="22677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Same as club; society terminology throughout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4288536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59669"/>
                </a:solidFill>
                <a:latin typeface="Calibri"/>
              </a:rPr>
              <a:t>Any-1 = any single signatory authorises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66160" y="4288536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97706"/>
                </a:solidFill>
                <a:latin typeface="Calibri"/>
              </a:rPr>
              <a:t>Any-2 = any two signatories must co-sign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20840" y="4288536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All = every signatory must sign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4048" y="4517136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getMandateFor() picks the strictest rule across selected accounts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feature tied to a specific regulation or standard — no vague compliance, only implemented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24h cooling-off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BCOBS 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Working-hours aware (bank holidays skipped). Live progress bar refreshes every 30s. Cancellable. Triggered automatically on Any-1 accounts.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Dual-authorisation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PSR 2017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Any-1 / Any-2 / All per account. getMandateFor() picks strictest rule. Co-signer notified. 48-hour sign window. Stalled escalation to RM.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7627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67712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KYC / KYB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86000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MLR 2017 / JMLSG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60320"/>
            <a:ext cx="51663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GOV.UK One Login List 1 photo ID. Address List 2. Trading address List 3. Sanctions, PEP, adverse media, visa status checks. Document expiry tracking.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7627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67712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86000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SYSC 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60320"/>
            <a:ext cx="51663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7-year retention. Append-only — no edits or deletes. Every workflow step, sign event, rejection, and system alert. Actor name + timestamp on every entry.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32841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419856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MTD compliance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438144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HMRC MTD VAT / ITSA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712464"/>
            <a:ext cx="51663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Digital links maintained. 6-year records. HMRC MTD VAT API v1.0 recognised software. VAT100 direct submission. Receipt scan closes manual-entry gap.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32841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419856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Confirmation of Payee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438144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PSR SI 2019/1215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712464"/>
            <a:ext cx="51663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Pre-payment account name verification. Mismatch warning shown before proceeding. Explicit user override required — cannot be skipped silently.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48056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572000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Accessibility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590288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WCAG 2.1 AA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864608"/>
            <a:ext cx="51663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focus-visible:ring on every interactive element. Contrast ≥4.5:1 throughout. Tabular-nums on all monetary amounts. ARIA labels where needed. No bare focus:outline-none.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48056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572000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Partner unreachable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590288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Consumer Duty PS22/9 / BCOBS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864608"/>
            <a:ext cx="51663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Documented contact attempts. Evidence upload. 4-path regulatory branching: health/welfare, no contact, deceased/probate, dispute. Specialist team referral. Account restriction.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84048" y="563270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1207" y="5724144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(app)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13124" y="5742432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1207" y="6016752"/>
            <a:ext cx="51663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personalLinked state removes personal section from JSX render tree — not CSS visibility, not display:none. Actual data removal, not visual hiding.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0760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007608" y="563270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44768" y="5724144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(call centre)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36684" y="5742432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44768" y="6016752"/>
            <a:ext cx="51663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unlinkAllChannels toggle triggers CRM back-office update ref REL-2026-0291. CLI lookup excludes personal accounts. Explicit 2-working-day SLA disclosed.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Advanced features: biometric authentication, intelligent session monitoring, and real-time notification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Postal statement separation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unlinkPostal toggle — separate delivery preference per channel. Personal statements excluded from business delivery address. Explicit per-channel granularity.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GDPR Art.5(1)(c) / ICO LIA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Formal written instruction persisted in state. Personal account history permanently excluded from business loan and overdraft underwriting. State survives session.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3969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31136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PSD2 consent audit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49424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23744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OBSheet shows all third-party consents with scope, purpose, and expiry date. Flags personal data exposure (Funding Circle). Revocation within 90 seconds per RTS requirement.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3969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31136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Receipt scan → MTD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49424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HMRC MTD digital links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23744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Simulated OCR: scan receipt → extract merchant, amount, VAT rate, category, reference → match to open transaction. Closes the manual-entry gap in the digital links chain.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25526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346704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Voice ID biometric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364992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Art.4(30) · GDPR Art.9 · NIST SP 800-63B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639312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3-phrase voice enrolment with GDPR Art.9 special-category consent gate. Active across app, phone banking, and video call channels. Anti-spoofing: liveness + voice clone detection. voiceIdEnrolled persists.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25526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346704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SCA step-up matrix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364992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Art.97 · FCA PS19/4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639312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6-tier dynamic authentication: device passkey → biometric fingerprint → Voice ID → Voice ID + co-sig → Voice ID + cooling-off → all three combined. Interactive table in VoiceIdSheet.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37083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462272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Session anomaly detection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480560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754880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Dismissible amber banner on HomeScreen. New device/location login alert. Two CTAs: 'That was me' (dismisses and confirms) or 'Review activity' (navigates to Audit tab). Logged to audit trail.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37083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462272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480560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Companies House filing obligations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754880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5 key suppliers shown with CH registration, last filed date, days overdue, annual spend, and RAG risk badge. Red = &gt;180 days overdue, Amber = 90–180 days, Green = current. Links to CH API.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396996" y="5486400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396996" y="548640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34156" y="5577840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Live notification bell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26072" y="5596128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34156" y="5870448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Bell icon (desktop header + mobile header) opens NotificationsSheet. Shows: session anomaly alert with CTAs, unsigned pending approvals with Sign-tab navigation, cooling-off progress bars, stalled co-signer escalations. Badge dot while anomaly or approvals exist.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Eight features that go beyond banking — proactive intelligence surfaced directly on the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Pre-approved Lending Offer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26464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Hero card — £45,000 offer surfaced proactively on home screen. Based on 6-month transaction history, reserve balance, and payment record. 3-step draw-down in-app. Replaced by active loan summary after draw-down. lendingCompleted persists.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0760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11556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426464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SVG bar chart (forecastWeeks useMemo) — 13 weekly balance projections computed from known direct debits, payroll cycles, VAT commitments, and income patterns. Amber warning line at £80k. Actionable nudge when threshold breached.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4048" y="230428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39572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Business Health 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706624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Circular SVG gauge (0–100) computed live from 5 weighted factors: liquidity 0–20, tax compliance 0–20, cash flow headroom 0–20, payroll ratio 0–20, mandate health 0–20. Each factor shown as a colour-coded progress bar. Grade A–D. healthScore useMemo refreshes on accounts/payees/forecast changes.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0760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07608" y="230428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239572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2706624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5 key counterparties shown with Companies House registration number, last filing date, days overdue, and annual spend. Red (&gt;180d overdue), Amber (90–180d), Green (current). Critical badge if any supplier in red. SUPPLIER_RISK static data. Links to CH API.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4048" y="358444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675887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Director Command Centre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86784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2×2 governance grid showing all 4 signatories. Per-director: initials avatar, role title, KYC verification status, last-active timestamp, pending action count (red badge). One tap navigates to full Signature Queue.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0760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07608" y="358444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72200" y="3675887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Memo → MTD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3986784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Tap-to-record expense entry — no typing required. 1.8s simulated transcription extracts merchant, amount, VAT rate, category, and reference. One-tap confirm posts to MTD ledger and audit trail. voiceMemoAdded Set tracks confirmed entries per session.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404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4048" y="4864607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956047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Smart Payment Sequencer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266944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30-day balance outlook SVG bar chart with daily projections and £80k risk threshold line. 7 scheduled payments with type colour-coding (tax/fixed/supplier). Optimise button reschedules discretionary payments to maximise minimum balance. Locked payments (tax, rent) never moved.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0760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07608" y="4864607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72200" y="4956047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ID Biometric Setup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5266944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3-phrase voice enrolment with GDPR Art.9 special-category consent gate displayed on first entry. Cross-channel status: app, phone banking, video call. Anti-spoofing badge. SCA step-up matrix (6 tiers, PSD2 RTS Art.97). voiceIdEnrolled persists.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Ships Company — Agent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Six slash-command officers built into Claude Code — each specialist enforces a discipline before every commit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54864" cy="13898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252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8102E"/>
                </a:solidFill>
                <a:latin typeface="Calibri"/>
              </a:rPr>
              <a:t>/xo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691639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Commander (XO)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56816" y="116128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1399031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quality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Hook discipline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Single-file mandate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Pattern enforcement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0216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0216" y="1051560"/>
            <a:ext cx="54864" cy="138988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55079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1383" y="1252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C2626"/>
                </a:solidFill>
                <a:latin typeface="Calibri"/>
              </a:rPr>
              <a:t>/security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3" y="1691639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2983" y="116128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72983" y="1399031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XSS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Secrets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focus:outline-none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PII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dangerouslySetInnerHTML check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048" y="2587752"/>
            <a:ext cx="54864" cy="13898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16" y="2788920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D4ED8"/>
                </a:solidFill>
                <a:latin typeface="Calibri"/>
              </a:rPr>
              <a:t>/engineer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3227832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Engineer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56816" y="269748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56816" y="2935224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Bundle analysis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React performance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key props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tick interval guard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Vite config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CSS delivery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0216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0216" y="2587752"/>
            <a:ext cx="54864" cy="138988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55079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1383" y="2788920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97706"/>
                </a:solidFill>
                <a:latin typeface="Calibri"/>
              </a:rPr>
              <a:t>/bosun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01383" y="3227832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Bosun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72983" y="269748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72983" y="2935224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Spacing scale violations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Colour token violations (stone not gray)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CTA hierarchy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Shadow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Empty states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84048" y="4123944"/>
            <a:ext cx="54864" cy="138988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12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" y="4325112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59669"/>
                </a:solidFill>
                <a:latin typeface="Calibri"/>
              </a:rPr>
              <a:t>/signals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" y="4764024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Signals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56816" y="423367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56816" y="4471416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State signal integrity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useMemo dependency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Direct mutation safety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Cooling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API contracts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0216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00216" y="4123944"/>
            <a:ext cx="54864" cy="138988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55079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01383" y="4325112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C1917"/>
                </a:solidFill>
                <a:latin typeface="Calibri"/>
              </a:rPr>
              <a:t>/ship-ready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01383" y="4764024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stations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72983" y="423367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72983" y="4471416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7-station pre-commit checklist — GREEN/AMBER/RED per station. A single RED means the ship stands down and fixes first.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5751575"/>
            <a:ext cx="11420856" cy="493776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5824727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Settings — .claude/settings.json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6007607"/>
            <a:ext cx="6400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Allow: npm run dev/build/preview · git push/add/commit/status/diff/log/branch · python3 · node · npx vite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0" y="5916167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CA5A5"/>
                </a:solidFill>
                <a:latin typeface="Calibri"/>
              </a:rPr>
              <a:t>Deny: rm -rf · git push --force · chmod 777 · curl|bash · eval · exec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Reference Library — 1701-uniform/REFERENCE.md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12,523 lines · 57 sections · 71 books synthesised into a single indexed technical reference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532120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4241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042415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Section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79776" y="1042415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Source material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58968" y="1042415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D6D3D1"/>
                </a:solidFill>
                <a:latin typeface="Calibri"/>
              </a:rPr>
              <a:t>Lines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1280160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344168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344168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FastAPI &amp; SQLAlchemy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79776" y="1344168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FastAPI docs, SQLAlchemy docs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58968" y="1344168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~180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1618488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1682496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1682496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React Fundamentals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79776" y="1682496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React docs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58968" y="1682496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~150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1956815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2020823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2020823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Tailwind CSS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79776" y="2020823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Tailwind docs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58968" y="2020823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~120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2295144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2359151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2359151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Git &amp; Version Control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79776" y="2359151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Pro Git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58968" y="2359151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~200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" y="2633472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2697479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2697479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Docker &amp; Containers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79776" y="2697479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Docker docs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58968" y="2697479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~150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2971800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3035808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3035808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 Best Practices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79776" y="3035808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Fluent Python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58968" y="3035808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~180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3310127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3374135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3374135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TypeScript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79776" y="3374135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TypeScript Handbook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58968" y="3374135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~160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3648456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3712463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" y="3712463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Testing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79776" y="3712463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Testing library docs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58968" y="3712463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~140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84048" y="3986783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4050791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4050791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AWS &amp; Cloud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779776" y="4050791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AWS docs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58968" y="4050791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~200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84048" y="4325112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4389120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" y="4389120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Security Fundamentals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779776" y="4389120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OWASP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58968" y="43891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~180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84048" y="4663440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4727448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1520" y="4727448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React &amp; JS Frontend Patterns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779776" y="4727448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You Don't Know JS · JS Good Parts · Eloquent JS · JS Patterns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458968" y="4727448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~350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84048" y="5001768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5065776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520" y="5065776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 Data Science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779776" y="5065776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Python for Data Analysis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58968" y="5065776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~150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84048" y="5340096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57200" y="5404104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1520" y="5404104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JWT &amp; Authentication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779776" y="5404104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OAuth2 specs, JWT RFC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58968" y="5404104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~220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08192" y="1024128"/>
            <a:ext cx="5532120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181344" y="104241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§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55664" y="1042415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Section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03920" y="1042415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Source material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183112" y="1042415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D6D3D1"/>
                </a:solidFill>
                <a:latin typeface="Calibri"/>
              </a:rPr>
              <a:t>Lines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08192" y="1280160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181344" y="1344168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455664" y="1344168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REST API Conventions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03920" y="1344168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RESTful Web APIs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183112" y="1344168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~180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08192" y="1618488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181344" y="1682496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55664" y="1682496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GraphQL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503920" y="1682496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GraphQL docs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1183112" y="1682496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~150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108192" y="1956815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181344" y="2020823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455664" y="2020823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PostgreSQL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503920" y="2020823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PostgreSQL docs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183112" y="2020823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~200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108192" y="2295144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181344" y="2359151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17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55664" y="2359151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Redis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503920" y="2359151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Redis docs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1183112" y="2359151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~140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2633472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81344" y="2697479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455664" y="2697479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Kubernetes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503920" y="2697479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Kubernetes docs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183112" y="2697479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~180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08192" y="2971800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181344" y="3035808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455664" y="3035808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CI/CD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503920" y="3035808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GitHub Actions docs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1183112" y="3035808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~160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108192" y="3310127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81344" y="3374135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455664" y="3374135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Monitoring &amp; Observability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503920" y="3374135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SRE Book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1183112" y="3374135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~180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108192" y="3648456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181344" y="3712463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21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455664" y="3712463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HTTP Fundamentals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503920" y="3712463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HTTP: The Definitive Guide (Gourley &amp; Totty)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1183112" y="3712463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~380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108192" y="3986783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181344" y="4050791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22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455664" y="4050791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SQL Performance &amp; Indexing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503920" y="4050791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SQL Performance Explained (Winand)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1183112" y="4050791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~350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108192" y="4325112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181344" y="4389120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23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455664" y="4389120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Advanced Prompt Engineering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503920" y="4389120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Prompt Engineering for LLMs (Al-Shamey, Venn, Vael)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183112" y="43891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~420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08192" y="4663440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181344" y="4727448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24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455664" y="4727448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AI Agent Architecture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03920" y="4727448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Building AI Agents + Mastering AI Tools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183112" y="4727448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~380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6108192" y="5001768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181344" y="5065776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25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455664" y="5065776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Claude Code Workflow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03920" y="5065776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Claude Code Mastery + Claude Myths &amp; Realities + AI Tools Guide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1183112" y="5065776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~360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6108192" y="5340096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6181344" y="5404104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455664" y="5404104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UI Design Principles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503920" y="5404104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Refactoring UI (Wathan &amp; Schoger)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183112" y="5404104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~420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Deployment &amp; Build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Single-file HTML distributed via GitHub Pages — no server, no CDN dependency, runs from a USB stick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713232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71323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11556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GitHub 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444752"/>
            <a:ext cx="6766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102E"/>
                </a:solidFill>
                <a:latin typeface="Calibri"/>
              </a:rPr>
              <a:t>Live · imscots-ui.github.io/santander/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783080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837943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Branch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1837943"/>
            <a:ext cx="516635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gh-pages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084831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139696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Contents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12848" y="2139696"/>
            <a:ext cx="516635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index.html (832KB) + .nojekyll + vercel.json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386584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2441448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2441448"/>
            <a:ext cx="516635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— all JS/CSS/fonts inlined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688336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2743200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Gzip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12848" y="2743200"/>
            <a:ext cx="516635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181.99 KB — fast first load even on 3G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90088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30449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Key fix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12848" y="3044952"/>
            <a:ext cx="516635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DOMContentLoaded listener — singlefile inlines JS into &lt;head&gt; as plain &lt;script&gt; (no defer)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291840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3346704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Mirror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2848" y="3346704"/>
            <a:ext cx="516635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Vercel — santander-g671k7hgb-imscots-uis-projects.vercel.app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99248" y="1024128"/>
            <a:ext cx="41148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99248" y="1024128"/>
            <a:ext cx="411480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82127" y="111556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vite.config.js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82127" y="1435608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91855" y="149047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Plugin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3728" y="1490472"/>
            <a:ext cx="2450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vite-plugin-singlefile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82127" y="1737360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91855" y="1792224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Target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53728" y="1792224"/>
            <a:ext cx="2450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esnext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82127" y="2039112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91855" y="2093976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Output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53728" y="2093976"/>
            <a:ext cx="2450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dist/index.html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82127" y="2340864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91855" y="2395728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Size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53728" y="2395728"/>
            <a:ext cx="2450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832 KB · 182 KB gzip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82127" y="2642616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91855" y="2697480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Removed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3728" y="2697480"/>
            <a:ext cx="2450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removeViteModuleLoader: true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82127" y="2944368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91855" y="299923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Why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53728" y="2999232"/>
            <a:ext cx="2450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Strips module type → script exec order bug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4048" y="4041648"/>
            <a:ext cx="530352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84048" y="4041648"/>
            <a:ext cx="53035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413308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npm Commands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442569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" y="4462272"/>
            <a:ext cx="19202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install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06040" y="4462272"/>
            <a:ext cx="28346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Install dependencies — first time only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28" y="470001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8368" y="4736592"/>
            <a:ext cx="19202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dev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06040" y="4736592"/>
            <a:ext cx="28346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Dev server at localhost:5173 with hot reload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" y="497433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8368" y="5010912"/>
            <a:ext cx="19202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build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606040" y="5010912"/>
            <a:ext cx="28346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Production build to dist/ — 832KB HTML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524865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8368" y="5285232"/>
            <a:ext cx="19202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preview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06040" y="5285232"/>
            <a:ext cx="28346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Serve dist/ locally for final testing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6928" y="552297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" y="5559552"/>
            <a:ext cx="19202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build_deck.py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5559552"/>
            <a:ext cx="28346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pitch deck (16 slides)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6928" y="579729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8368" y="5833872"/>
            <a:ext cx="19202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build_architecture.py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606040" y="5833872"/>
            <a:ext cx="28346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architecture deck (10 slides)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66928" y="607161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8368" y="6108192"/>
            <a:ext cx="19202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build_manifest.py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606040" y="6108192"/>
            <a:ext cx="28346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this project record (13 slides)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870448" y="4041648"/>
            <a:ext cx="594360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870448" y="4041648"/>
            <a:ext cx="594360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053328" y="4133087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CLAUDE.md — Captain's Standing Orders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53328" y="4462272"/>
            <a:ext cx="55778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Ships company command table — 6 officers with duties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5 Standing Security Orders: no bare outline-none, no dangerouslySetInnerHTML on dynamic content, no secrets in source, no git push --force, run /ship-ready before every push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Bosun's Law — spacing scale (4·8·12·16·24·32·48·64·96·128px), stone-* only, one primary CTA per view, num-tab on all monetary amounts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 — all new state must be reset here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constraints — no hooks inside closures, keep everything in App.jsx, single-file is intentional</a:t>
            </a:r>
          </a:p>
        </p:txBody>
      </p:sp>
      <p:sp>
        <p:nvSpPr>
          <p:cNvPr id="78" name="Rectangle 7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Presentation 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Three PowerPoint decks covering every audience — executives, technologists, and project stakeholders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3749039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Pitch Deck · 16 slides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8988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Santander_Digital_Banking_Future.pptx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78308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1783080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Title + Business Banking Advisor stamp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48255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2048255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Executive summary + 8 headline statistics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31343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2313432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The problem — 4 pain points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57860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2578608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What we built — 21 features (4-col grid)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284378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2843784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controls — 3-layer data separation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31089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3108960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Advanced features — lending, FX, forecast, receipt scan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374135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" y="3374135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Intelligence &amp; security — 7 panels (health score, radar, director, Voice ID, sequencer, voice memo, bell)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639311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9848" y="3639311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Paperless workflows deep-dive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39044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" y="3904488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Making Tax Digital deep-dive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4169663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9848" y="4169663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(4 frameworks)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443484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" y="4434840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Financial intelligence features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470001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" y="4700016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Technical architecture (current + production)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5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49651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9848" y="4965192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— £137M annualised opportunity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520293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523036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9848" y="5230368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Roadmap — 4 phases Q3 2026 → Q2 2027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546811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549554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9848" y="5495544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&amp; accessibility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" y="573328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576072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69848" y="5760720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Next steps — 3 decisions for senior management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334256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334256" y="1024128"/>
            <a:ext cx="3749039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98848" y="111556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Architecture Deck · 10 slides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98848" y="138988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Santander_Architecture.pptx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98848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98848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17136" y="178308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0056" y="1783080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98848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17136" y="2048255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0056" y="2048255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Component map — current prototype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98848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17136" y="231343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0056" y="2313432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Data &amp; state architecture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98848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17136" y="257860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20056" y="2578608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Production system architecture (4 tiers)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98848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17136" y="284378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020056" y="2843784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architecture (4 domains)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98848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17136" y="31089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20056" y="3108960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Regulatory &amp; compliance framework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498848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17136" y="3374135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0056" y="3374135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&amp; account separation architecture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498848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517136" y="3639311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0056" y="3639311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&amp; mandate logic (7 types × 3 rules)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498848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517136" y="39044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020056" y="3904488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API integration contracts (4 APIs)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498848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517136" y="4169663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020056" y="4169663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tokens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284464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84464" y="1024128"/>
            <a:ext cx="3749039" cy="640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49056" y="111556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4403C"/>
                </a:solidFill>
                <a:latin typeface="Calibri"/>
              </a:rPr>
              <a:t>Project Record · 12 slides (this deck)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449056" y="138988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Santander_Project_Record.pptx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449056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49056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467344" y="178308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70264" y="1783080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449056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467344" y="2048255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70264" y="2048255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Project overview — stats, tech stack, deployment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49056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467344" y="231343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70264" y="2313432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Five screens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449056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467344" y="257860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970264" y="2578608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Eleven workflows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449056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467344" y="284378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70264" y="2843784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types &amp; mandate rules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449056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467344" y="31089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970264" y="3108960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1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449056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467344" y="3374135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970264" y="3374135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2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449056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467344" y="3639311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8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970264" y="3639311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449056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467344" y="39044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970264" y="3904488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Ships company agent architecture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449056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467344" y="4169663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970264" y="4169663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Reference library (57 sections)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449056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467344" y="443484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970264" y="4434840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Deployment &amp; build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449056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467344" y="470001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970264" y="4700016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summary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84048" y="6236208"/>
            <a:ext cx="11420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All decks rebuilt via python3 build_*.py — Santander brand colours throughout · Advisor credit on every slide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Business Case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78716C"/>
                </a:solidFill>
                <a:latin typeface="Calibri"/>
              </a:rPr>
              <a:t>Phase 1 complete. Phase 2 awaiting stakeholder approval. Zero days to readiness.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64240" cy="182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10512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Annualised opportunity
(280,000 customers)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3172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118872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£4.9M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1810512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Cost saving per 10k
customers · Year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0624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0" y="118872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1810512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Features built
across 4 areas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5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59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759" y="118872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59" y="1810512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workflows
digitised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5527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55279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79" y="118872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1810512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forms
retired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298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82980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29800" y="118872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1810512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Compliance
frameworks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2633472"/>
            <a:ext cx="5303520" cy="6400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270662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Paper forms retired: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28346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CA04 — Mandate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4592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19072" y="28346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CA07 — Account closure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5176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24912" y="28346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CA11 — Dormancy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30752" y="28346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P17 — Bulk payment auth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6344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36592" y="28346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D18 — KYC update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89320" y="2633472"/>
            <a:ext cx="5806440" cy="210312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72200" y="2706624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Competitive Differentiators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3017520"/>
            <a:ext cx="5394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UK business bank with Voice ID biometric across app + phone + video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prototype with live Companies House supplier risk scoring on dashboard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Full personal/business data separation — app, call centre, post, credit — simultaneously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MTD submission from receipt scan to HMRC in under 60 seconds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Business health score — 5-factor live gauge no UK business bank currently offers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401568"/>
            <a:ext cx="5303520" cy="42062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34747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1 — COMPLETE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3493008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7F3D0"/>
                </a:solidFill>
                <a:latin typeface="Calibri"/>
              </a:rPr>
              <a:t>Prototype live · All features functional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3895344"/>
            <a:ext cx="5303520" cy="42062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3968496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2 — 0 DAYS TO READY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360" y="398678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FDBFE"/>
                </a:solidFill>
                <a:latin typeface="Calibri"/>
              </a:rPr>
              <a:t>Awaiting stakeholder approval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4892040"/>
            <a:ext cx="12188952" cy="1627632"/>
          </a:xfrm>
          <a:prstGeom prst="rect">
            <a:avLst/>
          </a:prstGeom>
          <a:solidFill>
            <a:srgbClr val="120F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5074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All work completed self-initiated, out of hours, in own time.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541324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Alan Davidson · Business Banking Advisor · Santander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5010912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800" b="1" i="0">
                <a:solidFill>
                  <a:srgbClr val="C8102E"/>
                </a:solidFill>
                <a:latin typeface="Calibri"/>
              </a:rPr>
              <a:t>£137M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5440" y="565099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annualised opportunity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