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16C"/>
                </a:solidFill>
                <a:latin typeface="Calibri"/>
              </a:rPr>
              <a:t>Project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Santander Business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1">
                <a:solidFill>
                  <a:srgbClr val="FEF2F2"/>
                </a:solidFill>
                <a:latin typeface="Calibri"/>
              </a:rPr>
              <a:t>Digital Prototype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315968"/>
            <a:ext cx="4114800" cy="182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D6D3D1"/>
                </a:solidFill>
                <a:latin typeface="Calibri"/>
              </a:rPr>
              <a:t>Author: Alan Davidson · Business Banking Advisor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D6D3D1"/>
                </a:solidFill>
                <a:latin typeface="Calibri"/>
              </a:rPr>
              <a:t>Capacity: Self-initiated · Completed entirely out of hours · Own time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D6D3D1"/>
                </a:solidFill>
                <a:latin typeface="Calibri"/>
              </a:rPr>
              <a:t>Prototype: https://imscots-ui.github.io/santander/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D6D3D1"/>
                </a:solidFill>
                <a:latin typeface="Calibri"/>
              </a:rPr>
              <a:t>Date: June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4206240"/>
            <a:ext cx="1051560" cy="100584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4206240"/>
            <a:ext cx="105156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279392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7548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716C"/>
                </a:solidFill>
                <a:latin typeface="Calibri"/>
              </a:rPr>
              <a:t>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1" y="4206240"/>
            <a:ext cx="1051560" cy="100584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68511" y="4206240"/>
            <a:ext cx="105156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4279392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1" y="47548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716C"/>
                </a:solidFill>
                <a:latin typeface="Calibri"/>
              </a:rPr>
              <a:t>Workflows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38944" y="4206240"/>
            <a:ext cx="1051560" cy="100584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38944" y="4206240"/>
            <a:ext cx="105156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38944" y="4279392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8944" y="47548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716C"/>
                </a:solidFill>
                <a:latin typeface="Calibri"/>
              </a:rPr>
              <a:t>Entity types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009376" y="4206240"/>
            <a:ext cx="1051560" cy="100584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009376" y="4206240"/>
            <a:ext cx="105156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09376" y="4279392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9376" y="47548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716C"/>
                </a:solidFill>
                <a:latin typeface="Calibri"/>
              </a:rPr>
              <a:t>Frameworks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A single-file React prototype — fully functional, browser-only, no 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16459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Calibri"/>
              </a:rPr>
              <a:t>WHAT WAS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1C1917"/>
                </a:solidFill>
                <a:latin typeface="Calibri"/>
              </a:rPr>
              <a:t>App.jsx — ~5,300 lines · ~300KB source · Single React component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C1917"/>
                </a:solidFill>
                <a:latin typeface="Calibri"/>
              </a:rPr>
              <a:t>5 main screens accessible from the bottom nav / sidebar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C1917"/>
                </a:solidFill>
                <a:latin typeface="Calibri"/>
              </a:rPr>
              <a:t>11 step-based workflow wizards covering every key banking operation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C1917"/>
                </a:solidFill>
                <a:latin typeface="Calibri"/>
              </a:rPr>
              <a:t>5 sheet overlays for quick-access tasks (notifications, receipts, PIN, open banking, voice)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C1917"/>
                </a:solidFill>
                <a:latin typeface="Calibri"/>
              </a:rPr>
              <a:t>7 entity types — every compliance path forks by entity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C1917"/>
                </a:solidFill>
                <a:latin typeface="Calibri"/>
              </a:rPr>
              <a:t>21 features across dashboard intelligence, paperless workflows, security, and compliance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C1917"/>
                </a:solidFill>
                <a:latin typeface="Calibri"/>
              </a:rPr>
              <a:t>8 regulatory frameworks implemented end-to-end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C1917"/>
                </a:solidFill>
                <a:latin typeface="Calibri"/>
              </a:rPr>
              <a:t>WCAG 2.1 AA accessibility — focus-visible on every interactive element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C1917"/>
                </a:solidFill>
                <a:latin typeface="Calibri"/>
              </a:rPr>
              <a:t>No backend · No API calls · Runs from any browser as a single HTML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515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Calibri"/>
              </a:rPr>
              <a:t>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5577840" cy="347472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380744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1380744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React 18 · single-component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73352"/>
            <a:ext cx="5577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728216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17282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Tailwind CSS + inline brand CSS template literal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020824"/>
            <a:ext cx="5577840" cy="347472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075688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Icons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07568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Lucide React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68296"/>
            <a:ext cx="5577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42316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4231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Vite 5 + vite-plugin-singlefile → 832KB HTML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715768"/>
            <a:ext cx="5577840" cy="347472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2770632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Fonts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27706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Fraunces (display) · Geist (body) · Geist Mono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39"/>
            <a:ext cx="5577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118103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3118103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GitHub Pages · gh-pages branch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10712"/>
            <a:ext cx="5577840" cy="347472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465576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346557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React useState / useMemo / useEffect — all at App() top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758184"/>
            <a:ext cx="5577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3813048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Source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381304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Git · branch claude/add-claude-documentation-eaPc5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11274552" cy="73152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4681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D3D1"/>
                </a:solidFill>
                <a:latin typeface="Calibri"/>
              </a:rPr>
              <a:t>Live prototype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546811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https://imscots-ui.github.io/santander/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4681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832 KB · self-contained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81558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All work self-initiated · out of hours · own 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620256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D3D1"/>
                </a:solidFill>
                <a:latin typeface="Calibri"/>
              </a:rPr>
              <a:t>Alan Davidson · Business Banking Advisor · Self-initiated · Completed out of hours in own time · June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  <a:latin typeface="Calibri"/>
              </a:rPr>
              <a:t>The Five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All accessible from the bottom navigation bar (mobile) or sidebar (desktop)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16459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5806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580644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143000"/>
            <a:ext cx="5440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Home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435607"/>
            <a:ext cx="5440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16C"/>
                </a:solidFill>
                <a:latin typeface="Calibri"/>
              </a:rPr>
              <a:t>tab: 'home'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645919"/>
            <a:ext cx="5513831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Balance hero card — accounts, available balance, mandate badge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Business health score — live 0-100 circular SVG gauge across 5 factors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Session anomaly alert — new device/location security warning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13-week cash flow forecast — SVG bar chart with risk threshold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Supplier risk radar — Companies House RAG status for top 5 counterparties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Director command centre — all signatories with KYC status and pending counts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10 action tiles — quick launch for every workflow and feature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Cooling-off progress bars — live countdowns with cancel option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Voice ID security card — enrolment status, cross-channel, SCA tiers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Relationship Manager card — Priya Desai with escalation trigger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1051560"/>
            <a:ext cx="5806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051560"/>
            <a:ext cx="580644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143000"/>
            <a:ext cx="5440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Signature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1435607"/>
            <a:ext cx="5440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16C"/>
                </a:solidFill>
                <a:latin typeface="Calibri"/>
              </a:rPr>
              <a:t>tab: 'approve'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1645919"/>
            <a:ext cx="5513831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Pending mandates, closures, and bulk payments awaiting your signature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Dual-authorisation: Face ID biometric sign or explicit reject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Each item shows initiator, amount, expiry window, and rule type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Badge count on nav tab — updates live as items are signed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Stalled requests shown with RM escalation card when co-signer misses window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93591"/>
            <a:ext cx="5806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593591"/>
            <a:ext cx="580644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685031"/>
            <a:ext cx="5440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Financial Statements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977639"/>
            <a:ext cx="5440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16C"/>
                </a:solidFill>
                <a:latin typeface="Calibri"/>
              </a:rPr>
              <a:t>tab: 'statements'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4187952"/>
            <a:ext cx="5513831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6 months of transactions — chronological and by category views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Full-text counterparty search with instant results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Counterparty detail sheet — spend breakdown, transaction history, method split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PDF / CSV / Excel export with simulated download feedback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Transaction method filter: all, bank transfer, direct debit, standing order, card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Outgoing / incoming colour-coded with tabular-num amounts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3593591"/>
            <a:ext cx="5806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19088" y="3593591"/>
            <a:ext cx="580644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3685031"/>
            <a:ext cx="5440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Making Tax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3977639"/>
            <a:ext cx="5440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16C"/>
                </a:solidFill>
                <a:latin typeface="Calibri"/>
              </a:rPr>
              <a:t>tab: 'mtd'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4187952"/>
            <a:ext cx="5513831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HMRC VAT and ITSA obligations with deadline countdown badges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Quarterly submission wizard — 4 steps: categorise, review, declare, submit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Auto-categorisation with confidence scoring for each transaction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VAT100 form view with all 9 boxes calculated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YTD income/expense totals and projected tax liability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ITSA readiness indicator with quarters ahead of schedule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Voice memo integration — tap-to-record expense auto-fills to ledger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Receipt scan — OCR categorise and match to open transactions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6135623"/>
            <a:ext cx="5806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6135623"/>
            <a:ext cx="580644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6227063"/>
            <a:ext cx="5440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6519671"/>
            <a:ext cx="5440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16C"/>
                </a:solidFill>
                <a:latin typeface="Calibri"/>
              </a:rPr>
              <a:t>tab: 'audit'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6729983"/>
            <a:ext cx="5513831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FCA SYSC 9 compliant — 7-year retention, append-only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Every action: workflow steps, sign events, rejections, system alerts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Each entry: timestamp, actor name, action type, account/reference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Session anomaly events logged with device/location metadata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Filter by event type or actor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Export for compliance reporting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15284" y="6135623"/>
            <a:ext cx="5806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15284" y="6135623"/>
            <a:ext cx="580644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79876" y="6227063"/>
            <a:ext cx="5440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Audit Trail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9876" y="6519671"/>
            <a:ext cx="5440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16C"/>
                </a:solidFill>
                <a:latin typeface="Calibri"/>
              </a:rPr>
              <a:t>tab: 'audit'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79876" y="6729983"/>
            <a:ext cx="5513831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FCA SYSC 9 compliant — 7-year retention, append-only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Every action: workflow steps, sign events, rejections, system alerts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Each entry: timestamp, actor name, action type, account/reference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Session anomaly events logged with device/location metadata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Filter by event type or actor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44403C"/>
                </a:solidFill>
                <a:latin typeface="Calibri"/>
              </a:rPr>
              <a:t>· Export for compliance reporting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20256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D3D1"/>
                </a:solidFill>
                <a:latin typeface="Calibri"/>
              </a:rPr>
              <a:t>Alan Davidson · Business Banking Advisor · Self-initiated · Completed out of hours in own time · June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  <a:latin typeface="Calibri"/>
              </a:rPr>
              <a:t>Eleven Workflow Wizards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Step-based overlays — each is a full multi-step process rendered on top of the main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16459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24128"/>
            <a:ext cx="35661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50292" cy="12618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15568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Account Closure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533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4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27048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Select accounts → destination CoP check → credit check → sign. 24h cooling-off on Any-1 accounts. Mandate enforcement throughout.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23944" y="1024128"/>
            <a:ext cx="35661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23944" y="1024128"/>
            <a:ext cx="50292" cy="12618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8536" y="1115568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Partner Unreachable Escalation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13533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4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1527048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4 regulatory branches: health/welfare, no contact, deceased/probate, dispute. Evidence upload, specialist team referral, account restriction. FCA Consumer Duty PS22/9. Case ref SVC-2026-4471.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024128"/>
            <a:ext cx="35661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1024128"/>
            <a:ext cx="50292" cy="12618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1115568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Mandate Changes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13533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6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1527048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Add / remove / update signatories or change signing rule. Full KYC/KYB: GOV.UK One Login List 1, address List 2, trading List 3. Board minutes for clubs/charities. 7 entity type variations.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2432304"/>
            <a:ext cx="35661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2432304"/>
            <a:ext cx="50292" cy="12618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523744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Bulk Payments / Wages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76148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4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935224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Payee book, CoP verification per payee, CSV import, one-off or monthly scheduling. Mandate enforcement: Any-1/2/All per source account.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23944" y="2432304"/>
            <a:ext cx="35661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23944" y="2432304"/>
            <a:ext cx="50292" cy="12618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88536" y="2523744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Business Details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8536" y="276148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3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8536" y="2935224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Address, trading name, phone, email. Proof of address upload. Companies House sync notification. RM escalation for partnership renames.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432304"/>
            <a:ext cx="35661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0" y="2432304"/>
            <a:ext cx="50292" cy="12618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28431" y="2523744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Dormant Reactivation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1" y="276148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1 step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2935224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Select dormant account and request reactivation. FSCS notice displayed. 12-month inactivity threshold enforced.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3840479"/>
            <a:ext cx="35661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3840479"/>
            <a:ext cx="50292" cy="12618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931919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MTD VAT Submission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169663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4 steps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343399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Auto-categorise transactions (confidence score per item) → review VAT100 form → declare accuracy → HMRC API submit. Returns receipt number.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23944" y="3840479"/>
            <a:ext cx="35661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23944" y="3840479"/>
            <a:ext cx="50292" cy="12618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8536" y="3931919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Personal/Business Unlink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88536" y="4169663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4 steps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88536" y="4343399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Scope confirmation → data separation notice → all-channels toggle (CRM ref REL-2026-0291, 2 working days) + postal toggle → signed declaration. Removes personal data from JSX render tree — not CSS hide.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3840479"/>
            <a:ext cx="35661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63840" y="3840479"/>
            <a:ext cx="50292" cy="12618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28431" y="3931919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Credit Ring-Fence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28431" y="4169663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2 steps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1" y="4343399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Risk overview with GDPR Art.5(1)(c) legal basis → signed formal instruction. Personal account data permanently excluded from business credit decisioning. State persists across sessions.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" y="5248655"/>
            <a:ext cx="35661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84048" y="5248655"/>
            <a:ext cx="50292" cy="12618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340095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Pre-approved Business Lending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577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3 steps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751575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£45,000 offer with live monthly repayment calculator (12/24/36 months) → CCA 1974 terms and 14-day cooling-off rights → biometric confirm and draw-down. lendingCompleted state persists.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23944" y="5248655"/>
            <a:ext cx="35661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23944" y="5248655"/>
            <a:ext cx="50292" cy="12618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88536" y="5340095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International FX Payment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88536" y="5577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3 steps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88536" y="5751575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Amount + currency + IBAN + beneficiary → live rate + FCA fee disclosure (Consumer Rights Act 2015) → biometric confirm. 5 currencies: EUR/USD/CHF/AUD/CAD. MLR 2017 screening flag ≥£50k. SWIFT ref to audit trail.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620256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D3D1"/>
                </a:solidFill>
                <a:latin typeface="Calibri"/>
              </a:rPr>
              <a:t>Alan Davidson · Business Banking Advisor · Self-initiated · Completed out of hours in own time · June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  <a:latin typeface="Calibri"/>
              </a:rPr>
              <a:t>Seven Entity Types &amp; Mandate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Every compliance path diverges by entity — KYC docs, principals, authorisation rules, board minute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16459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51560"/>
            <a:ext cx="11475720" cy="329184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06424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D3D1"/>
                </a:solidFill>
                <a:latin typeface="Calibri"/>
              </a:rPr>
              <a:t>Entity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106424"/>
            <a:ext cx="1463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D3D1"/>
                </a:solidFill>
                <a:latin typeface="Calibri"/>
              </a:rPr>
              <a:t>Mandate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11064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D3D1"/>
                </a:solidFill>
                <a:latin typeface="Calibri"/>
              </a:rPr>
              <a:t>Principal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7" y="1106424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D3D1"/>
                </a:solidFill>
                <a:latin typeface="Calibri"/>
              </a:rPr>
              <a:t>Companies 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1106424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D3D1"/>
                </a:solidFill>
                <a:latin typeface="Calibri"/>
              </a:rPr>
              <a:t>Board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110642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D3D1"/>
                </a:solidFill>
                <a:latin typeface="Calibri"/>
              </a:rPr>
              <a:t>Key Divergence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380743"/>
            <a:ext cx="11475720" cy="402336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463039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Sole Trader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1463039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Any-1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7" y="1463039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Sole trader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7" y="1463039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8" y="1463039"/>
            <a:ext cx="1947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1463039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Single principal — no co-signer ever required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1783079"/>
            <a:ext cx="11475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1865375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Partnership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1865375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Any-1/2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7" y="1865375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Partner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7" y="1865375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1865375"/>
            <a:ext cx="1947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No (RM on rename)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1865375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Partner-unreachable path active; Any-2 if &gt;2 partners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2185415"/>
            <a:ext cx="11475720" cy="402336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2267711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Limited Company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8608" y="2267711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Any-2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7" y="2267711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Director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007" y="2267711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Yes — Companies No.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0648" y="2267711"/>
            <a:ext cx="1947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2267711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CH reg verified; director register linked to mandate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2587752"/>
            <a:ext cx="11475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2670048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LLP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78608" y="2670048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Any-2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3087" y="267004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Member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9007" y="2670048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Yes — LLP No.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8" y="2670048"/>
            <a:ext cx="1947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8048" y="2670048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LLP number shown; member terminology throughout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2990087"/>
            <a:ext cx="11475720" cy="402336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072383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Registered Charity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78608" y="3072383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102E"/>
                </a:solidFill>
                <a:latin typeface="Calibri"/>
              </a:rPr>
              <a:t>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33087" y="3072383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Trustee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79007" y="3072383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No — Charity Comm.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70648" y="3072383"/>
            <a:ext cx="1947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Yes — all changes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28048" y="3072383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All trustees must sign; Charity Commission ref shown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" y="3392424"/>
            <a:ext cx="11475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3474720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Club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860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102E"/>
                </a:solidFill>
                <a:latin typeface="Calibri"/>
              </a:rPr>
              <a:t>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33087" y="347472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Committee member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79007" y="3474720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70648" y="3474720"/>
            <a:ext cx="1947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Yes — all changes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3474720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Full committee approval for every mandate/detail change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" y="3794760"/>
            <a:ext cx="11475720" cy="402336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" y="3877056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Society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78608" y="387705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102E"/>
                </a:solidFill>
                <a:latin typeface="Calibri"/>
              </a:rPr>
              <a:t>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33087" y="3877056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Committee member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79007" y="3877056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No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70648" y="3877056"/>
            <a:ext cx="1947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Yes — all changes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28048" y="3877056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Same as club; society terminology throughout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" y="42885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59669"/>
                </a:solidFill>
                <a:latin typeface="Calibri"/>
              </a:rPr>
              <a:t>Any-1 = any single signatory authorises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66160" y="42885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97706"/>
                </a:solidFill>
                <a:latin typeface="Calibri"/>
              </a:rPr>
              <a:t>Any-2 = any two signatories must co-sign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0840" y="42885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102E"/>
                </a:solidFill>
                <a:latin typeface="Calibri"/>
              </a:rPr>
              <a:t>All = every signatory must sign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048" y="451713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16C"/>
                </a:solidFill>
                <a:latin typeface="Calibri"/>
              </a:rPr>
              <a:t>getMandateFor() picks the strictest rule across selected accounts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620256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D3D1"/>
                </a:solidFill>
                <a:latin typeface="Calibri"/>
              </a:rPr>
              <a:t>Alan Davidson · Business Banking Advisor · Self-initiated · Completed out of hours in own time · June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  <a:latin typeface="Calibri"/>
              </a:rPr>
              <a:t>Security &amp; Compliance — Part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Every feature tied to a specific regulation or standard — no vague compliance, only implemented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16459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24128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115568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24h cooling-off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124" y="1133856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FCA BCOBS 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408176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Working-hours aware (bank holidays skipped). Live progress bar refreshes every 30s. Cancellable. Triggered automatically on Any-1 accounts.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7608" y="1024128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07608" y="1024128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115568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Dual-authorisation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6684" y="1133856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PSR 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408176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Any-1 / Any-2 / All per account. getMandateFor() picks strictest rule. Co-signer notified. 48-hour sign window. Stalled escalation to 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176272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2176272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2267712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KYC / KYB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3124" y="228600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MLR 2017 / JMLSG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" y="2560320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GOV.UK One Login List 1 photo ID. Address List 2. Trading address List 3. Sanctions, PEP, adverse media, visa status checks. Document expiry tracking.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7608" y="2176272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07608" y="2176272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2267712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684" y="228600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FCA SYSC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560320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7-year retention. Append-only — no edits or deletes. Every workflow step, sign event, rejection, and system alert. Actor name + timestamp on every entry.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328416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3328416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7" y="3419856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MTD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3124" y="3438144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HMRC MTD VAT / ITSA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" y="3712464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Digital links maintained. 6-year records. HMRC MTD VAT API v1.0 recognised software. VAT100 direct submission. Receipt scan closes manual-entry gap.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07608" y="3328416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07608" y="3328416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3419856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Confirmation of Payee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6684" y="3438144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PSR SI 2019/1215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3712464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Pre-payment account name verification. Mismatch warning shown before proceeding. Explicit user override required — cannot be skipped silently.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480560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4480560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7" y="4572000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Accessibility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13124" y="4590288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WCAG 2.1 AA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7" y="4864608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focus-visible:ring on every interactive element. Contrast ≥4.5:1 throughout. Tabular-nums on all monetary amounts. ARIA labels where needed. No bare focus:outline-none.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07608" y="4480560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07608" y="4480560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4572000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Partner unreachable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6684" y="4590288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FCA Consumer Duty PS22/9 / BCOBS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4864608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Documented contact attempts. Evidence upload. 4-path regulatory branching: health/welfare, no contact, deceased/probate, dispute. Specialist team referral. Account restriction.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5632704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4048" y="5632704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7" y="5724144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Personal/business separation (app)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13124" y="5742432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GDPR Art.5(1)(c)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7" y="6016752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personalLinked state removes personal section from JSX render tree — not CSS visibility, not display:none. Actual data removal, not visual hiding.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07608" y="5632704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07608" y="5632704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44768" y="5724144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Personal/business separation (call centre)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36684" y="5742432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GDPR Art.5(1)(c)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44768" y="6016752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unlinkAllChannels toggle triggers CRM back-office update ref REL-2026-0291. CLI lookup excludes personal accounts. Explicit 2-working-day SLA disclosed.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620256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D3D1"/>
                </a:solidFill>
                <a:latin typeface="Calibri"/>
              </a:rPr>
              <a:t>Alan Davidson · Business Banking Advisor · Self-initiated · Completed out of hours in own time · June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  <a:latin typeface="Calibri"/>
              </a:rPr>
              <a:t>Security &amp; Compliance — Part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Advanced features: biometric authentication, intelligent session monitoring, and real-time notification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16459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24128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115568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Postal statement separation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124" y="1133856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102E"/>
                </a:solidFill>
                <a:latin typeface="Calibri"/>
              </a:rPr>
              <a:t>GDPR Art.5(1)(c)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408176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unlinkPostal toggle — separate delivery preference per channel. Personal statements excluded from business delivery address. Explicit per-channel granularity.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7608" y="1024128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07608" y="1024128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115568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Credit ring-fence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6684" y="1133856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102E"/>
                </a:solidFill>
                <a:latin typeface="Calibri"/>
              </a:rPr>
              <a:t>GDPR Art.5(1)(c) / ICO LIA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408176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Formal written instruction persisted in state. Personal account history permanently excluded from business loan and overdraft underwriting. State survives session.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176272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2176272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2267712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PSD2 consent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3124" y="228600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102E"/>
                </a:solidFill>
                <a:latin typeface="Calibri"/>
              </a:rPr>
              <a:t>PSD2 RTS Art.29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" y="2560320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OBSheet shows all third-party consents with scope, purpose, and expiry date. Flags personal data exposure (Funding Circle). Revocation within 90 seconds per RTS requirement.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7608" y="2176272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07608" y="2176272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2267712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Receipt scan → MTD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684" y="228600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102E"/>
                </a:solidFill>
                <a:latin typeface="Calibri"/>
              </a:rPr>
              <a:t>HMRC MTD digital links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560320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Simulated OCR: scan receipt → extract merchant, amount, VAT rate, category, reference → match to open transaction. Closes the manual-entry gap in the digital links chain.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328416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3328416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7" y="3419856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Voice ID biometric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3124" y="3438144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102E"/>
                </a:solidFill>
                <a:latin typeface="Calibri"/>
              </a:rPr>
              <a:t>PSD2 RTS Art.4(30) · GDPR Art.9 · NIST SP 800-63B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" y="3712464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3-phrase voice enrolment with GDPR Art.9 special-category consent gate. Active across app, phone banking, and video call channels. Anti-spoofing: liveness + voice clone detection. voiceIdEnrolled persists.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07608" y="3328416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07608" y="3328416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3419856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SCA step-up matrix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6684" y="3438144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102E"/>
                </a:solidFill>
                <a:latin typeface="Calibri"/>
              </a:rPr>
              <a:t>PSD2 RTS Art.97 · FCA PS19/4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3712464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6-tier dynamic authentication: device passkey → biometric fingerprint → Voice ID → Voice ID + co-sig → Voice ID + cooling-off → all three combined. Interactive table in VoiceIdSheet.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480560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4480560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7" y="4572000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Session anomaly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13124" y="4590288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102E"/>
                </a:solidFill>
                <a:latin typeface="Calibri"/>
              </a:rPr>
              <a:t>FCA SYSC 10A · PSD2 RTS Art.2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7" y="4864608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Dismissible amber banner on HomeScreen. New device/location login alert. Two CTAs: 'That was me' (dismisses and confirms) or 'Review activity' (navigates to Audit tab). Logged to audit trail.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07608" y="4480560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07608" y="4480560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4572000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Supplier risk radar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6684" y="4590288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102E"/>
                </a:solidFill>
                <a:latin typeface="Calibri"/>
              </a:rPr>
              <a:t>Companies House filing obligations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4864608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5 key suppliers shown with CH registration, last filed date, days overdue, annual spend, and RAG risk badge. Red = &gt;180 days overdue, Amber = 90–180 days, Green = current. Links to CH API.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5632704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4048" y="5632704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7" y="5724144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Live notification bell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13124" y="5742432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102E"/>
                </a:solidFill>
                <a:latin typeface="Calibri"/>
              </a:rPr>
              <a:t>FCA SYSC 10A · PSD2 RTS Art.2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7" y="6016752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Bell icon (desktop header + mobile header) opens NotificationsSheet. Shows: session anomaly alert with CTAs, unsigned pending approvals with Sign-tab navigation, cooling-off progress bars, stalled co-signer escalations. Badge dot while anomaly or approvals exist.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95828" y="5632704"/>
            <a:ext cx="53949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95828" y="5632704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32988" y="5724144"/>
            <a:ext cx="2967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917"/>
                </a:solidFill>
                <a:latin typeface="Calibri"/>
              </a:rPr>
              <a:t>Live notification bell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4904" y="5742432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102E"/>
                </a:solidFill>
                <a:latin typeface="Calibri"/>
              </a:rPr>
              <a:t>FCA SYSC 10A · PSD2 RTS Art.2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2988" y="6016752"/>
            <a:ext cx="5166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78716C"/>
                </a:solidFill>
                <a:latin typeface="Calibri"/>
              </a:rPr>
              <a:t>Bell icon (desktop header + mobile header) opens NotificationsSheet. Shows: session anomaly alert with CTAs, unsigned pending approvals with Sign-tab navigation, cooling-off progress bars, stalled co-signer escalations. Badge dot while anomaly or approvals exist.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620256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D3D1"/>
                </a:solidFill>
                <a:latin typeface="Calibri"/>
              </a:rPr>
              <a:t>Alan Davidson · Business Banking Advisor · Self-initiated · Completed out of hours in own time · June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  <a:latin typeface="Calibri"/>
              </a:rPr>
              <a:t>Home Screen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Eight features that go beyond banking — proactive intelligence surfaced directly on the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16459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24128"/>
            <a:ext cx="53949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50292" cy="1170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155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Pre-approved Lending 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26464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78716C"/>
                </a:solidFill>
                <a:latin typeface="Calibri"/>
              </a:rPr>
              <a:t>Hero card — £45,000 offer surfaced proactively on home screen. Based on 6-month transaction history, reserve balance, and payment record. 3-step draw-down in-app. Replaced by active loan summary after draw-down. lendingCompleted persists.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024128"/>
            <a:ext cx="53949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07608" y="1024128"/>
            <a:ext cx="50292" cy="1170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1155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13-Week Cash Flow 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426464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78716C"/>
                </a:solidFill>
                <a:latin typeface="Calibri"/>
              </a:rPr>
              <a:t>SVG bar chart (forecastWeeks useMemo) — 13 weekly balance projections computed from known direct debits, payroll cycles, VAT commitments, and income patterns. Amber warning line at £80k. Actionable nudge when threshold breached.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304288"/>
            <a:ext cx="53949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304288"/>
            <a:ext cx="50292" cy="1170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95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Business Health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06624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78716C"/>
                </a:solidFill>
                <a:latin typeface="Calibri"/>
              </a:rPr>
              <a:t>Circular SVG gauge (0–100) computed live from 5 weighted factors: liquidity 0–20, tax compliance 0–20, cash flow headroom 0–20, payroll ratio 0–20, mandate health 0–20. Each factor shown as a colour-coded progress bar. Grade A–D. healthScore useMemo refreshes on accounts/payees/forecast changes.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7608" y="2304288"/>
            <a:ext cx="53949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07608" y="2304288"/>
            <a:ext cx="50292" cy="1170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395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Supplier Risk Radar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706624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78716C"/>
                </a:solidFill>
                <a:latin typeface="Calibri"/>
              </a:rPr>
              <a:t>5 key counterparties shown with Companies House registration number, last filing date, days overdue, and annual spend. Red (&gt;180d overdue), Amber (90–180d), Green (current). Critical badge if any supplier in red. SUPPLIER_RISK static data. Links to CH API.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584448"/>
            <a:ext cx="53949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3584448"/>
            <a:ext cx="50292" cy="1170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7588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Director Command Centre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86784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78716C"/>
                </a:solidFill>
                <a:latin typeface="Calibri"/>
              </a:rPr>
              <a:t>2×2 governance grid showing all 4 signatories. Per-director: initials avatar, role title, KYC verification status, last-active timestamp, pending action count (red badge). One tap navigates to full Signature Queue.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7608" y="3584448"/>
            <a:ext cx="53949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07608" y="3584448"/>
            <a:ext cx="50292" cy="1170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367588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Voice Memo → MTD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986784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78716C"/>
                </a:solidFill>
                <a:latin typeface="Calibri"/>
              </a:rPr>
              <a:t>Tap-to-record expense entry — no typing required. 1.8s simulated transcription extracts merchant, amount, VAT rate, category, and reference. One-tap confirm posts to MTD ledger and audit trail. voiceMemoAdded Set tracks confirmed entries per session.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4864607"/>
            <a:ext cx="53949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4864607"/>
            <a:ext cx="50292" cy="1170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95604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Smart Payment Sequencer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66944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78716C"/>
                </a:solidFill>
                <a:latin typeface="Calibri"/>
              </a:rPr>
              <a:t>30-day balance outlook SVG bar chart with daily projections and £80k risk threshold line. 7 scheduled payments with type colour-coding (tax/fixed/supplier). Optimise button reschedules discretionary payments to maximise minimum balance. Locked payments (tax, rent) never moved.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07608" y="4864607"/>
            <a:ext cx="53949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07608" y="4864607"/>
            <a:ext cx="50292" cy="1170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95604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Voice ID Biometric Setup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5266944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78716C"/>
                </a:solidFill>
                <a:latin typeface="Calibri"/>
              </a:rPr>
              <a:t>3-phrase voice enrolment with GDPR Art.9 special-category consent gate displayed on first entry. Cross-channel status: app, phone banking, video call. Anti-spoofing badge. SCA step-up matrix (6 tiers, PSD2 RTS Art.97). voiceIdEnrolled persists.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620256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D3D1"/>
                </a:solidFill>
                <a:latin typeface="Calibri"/>
              </a:rPr>
              <a:t>Alan Davidson · Business Banking Advisor · Self-initiated · Completed out of hours in own time · June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  <a:latin typeface="Calibri"/>
              </a:rPr>
              <a:t>Ships Company — 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Six slash-command officers built into Claude Code — each specialist enforces a discipline before every commit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16459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51560"/>
            <a:ext cx="57150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51560"/>
            <a:ext cx="54864" cy="13898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051560"/>
            <a:ext cx="1371600" cy="138988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25272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Calibri"/>
              </a:rPr>
              <a:t>/xo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69163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Commander (XO)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6816" y="11612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8716C"/>
                </a:solidFill>
                <a:latin typeface="Calibri"/>
              </a:rPr>
              <a:t>Duties: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1399031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Architecture quality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Hook discipline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Single-file mandate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Pattern enforcement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closeWorkflow() invariant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051560"/>
            <a:ext cx="57150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216" y="1051560"/>
            <a:ext cx="54864" cy="13898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79" y="1051560"/>
            <a:ext cx="1371600" cy="138988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3" y="125272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Calibri"/>
              </a:rPr>
              <a:t>/security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3" y="169163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Lt Cdr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3" y="11612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8716C"/>
                </a:solidFill>
                <a:latin typeface="Calibri"/>
              </a:rPr>
              <a:t>Duties: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2983" y="1399031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XSS scan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Secrets scan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focus:outline-none audit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PII check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dangerouslySetInnerHTML check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587752"/>
            <a:ext cx="57150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2587752"/>
            <a:ext cx="54864" cy="13898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2587752"/>
            <a:ext cx="1371600" cy="138988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788920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  <a:latin typeface="Calibri"/>
              </a:rPr>
              <a:t>/engineer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32278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Lt Cdr Engineer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6816" y="26974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8716C"/>
                </a:solidFill>
                <a:latin typeface="Calibri"/>
              </a:rPr>
              <a:t>Duties: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6816" y="2935224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Bundle analysis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React performance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key props check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tick interval guard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Vite config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CSS delivery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0216" y="2587752"/>
            <a:ext cx="57150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0216" y="2587752"/>
            <a:ext cx="54864" cy="13898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79" y="2587752"/>
            <a:ext cx="1371600" cy="138988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3" y="2788920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/bosun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3" y="32278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Lieutenant Bosun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26974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8716C"/>
                </a:solidFill>
                <a:latin typeface="Calibri"/>
              </a:rPr>
              <a:t>Duties: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2983" y="2935224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Spacing scale violations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Colour token violations (stone not gray)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CTA hierarchy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Shadow system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Empty states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4123944"/>
            <a:ext cx="57150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4123944"/>
            <a:ext cx="54864" cy="13898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" y="4123944"/>
            <a:ext cx="1371600" cy="138988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" y="4325112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  <a:latin typeface="Calibri"/>
              </a:rPr>
              <a:t>/signals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476402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Lieutenant Signals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6816" y="423367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8716C"/>
                </a:solidFill>
                <a:latin typeface="Calibri"/>
              </a:rPr>
              <a:t>Duties: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6816" y="4471416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State signal integrity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useMemo dependency audit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Direct mutation safety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Cooling system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API contracts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0216" y="4123944"/>
            <a:ext cx="57150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0216" y="4123944"/>
            <a:ext cx="54864" cy="138988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79" y="4123944"/>
            <a:ext cx="1371600" cy="1389888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01383" y="4325112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  <a:latin typeface="Calibri"/>
              </a:rPr>
              <a:t>/ship-ready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01383" y="476402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All stations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72983" y="423367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8716C"/>
                </a:solidFill>
                <a:latin typeface="Calibri"/>
              </a:rPr>
              <a:t>Duties: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72983" y="4471416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7-station pre-commit checklist — GREEN/AMBER/RED per station. A single RED means the ship stands down and fixes first.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" y="5751575"/>
            <a:ext cx="11420856" cy="493776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582472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D3D1"/>
                </a:solidFill>
                <a:latin typeface="Calibri"/>
              </a:rPr>
              <a:t>Settings — .claude/settings.json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007607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Allow: npm run dev/build/preview · git push/add/commit/status/diff/log/branch · python3 · node · npx vite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5916167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CA5A5"/>
                </a:solidFill>
                <a:latin typeface="Calibri"/>
              </a:rPr>
              <a:t>Deny: rm -rf · git push --force · chmod 777 · curl|bash · eval · exec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620256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D3D1"/>
                </a:solidFill>
                <a:latin typeface="Calibri"/>
              </a:rPr>
              <a:t>Alan Davidson · Business Banking Advisor · Self-initiated · Completed out of hours in own time · June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  <a:latin typeface="Calibri"/>
              </a:rPr>
              <a:t>Reference Library — 1701-uniform/REFERENCE.md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5,024 lines · 26 sections · 41 books synthesised into a single indexed technical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16459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24128"/>
            <a:ext cx="5532120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D3D1"/>
                </a:solidFill>
                <a:latin typeface="Calibri"/>
              </a:rPr>
              <a:t>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42415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D3D1"/>
                </a:solidFill>
                <a:latin typeface="Calibri"/>
              </a:rPr>
              <a:t>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9776" y="1042415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D3D1"/>
                </a:solidFill>
                <a:latin typeface="Calibri"/>
              </a:rPr>
              <a:t>Source material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8" y="1042415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D6D3D1"/>
                </a:solidFill>
                <a:latin typeface="Calibri"/>
              </a:rPr>
              <a:t>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280160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4416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344168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FastAPI &amp; SQLAlchemy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1344168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FastAPI docs, SQLAlchemy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134416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618488"/>
            <a:ext cx="553212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68249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682496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React Fundamentals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9776" y="1682496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React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168249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1956815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020823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020823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Tailwind 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9776" y="2020823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Tailwind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2020823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2295144"/>
            <a:ext cx="553212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359151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359151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Git &amp; Version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9776" y="2359151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Pro Git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235915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2633472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697479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2697479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Docker &amp; Containers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79776" y="2697479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Docker 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8968" y="2697479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2971800"/>
            <a:ext cx="553212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03580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035808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Python Best Practices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79776" y="3035808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Fluent Python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8968" y="30358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3310127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374135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3374135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TypeScript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79776" y="3374135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TypeScript Handbook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58968" y="3374135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3648456"/>
            <a:ext cx="553212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712463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3712463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Testing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79776" y="3712463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Testing library docs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58968" y="3712463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~140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" y="3986783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050791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050791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AWS &amp; Cloud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79776" y="4050791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AWS docs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58968" y="405079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~200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" y="4325112"/>
            <a:ext cx="553212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389120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389120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Security Fundamentals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79776" y="438912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OWASP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58968" y="43891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~180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" y="4663440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72744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4727448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React &amp; JS Frontend Patterns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79776" y="4727448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You Don't Know JS · JS Good Parts · Eloquent JS · JS Patterns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58968" y="472744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~350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" y="5001768"/>
            <a:ext cx="553212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506577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5065776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Python Data Science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79776" y="5065776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Python for Data Analysis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58968" y="50657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~150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" y="5340096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404104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13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" y="5404104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JWT &amp; Authentication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79776" y="5404104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OAuth2 specs, JWT RFC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58968" y="540410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~220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08192" y="1024128"/>
            <a:ext cx="5532120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81344" y="1042415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D3D1"/>
                </a:solidFill>
                <a:latin typeface="Calibri"/>
              </a:rPr>
              <a:t>§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55664" y="1042415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D3D1"/>
                </a:solidFill>
                <a:latin typeface="Calibri"/>
              </a:rPr>
              <a:t>Section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20" y="1042415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D3D1"/>
                </a:solidFill>
                <a:latin typeface="Calibri"/>
              </a:rPr>
              <a:t>Source material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83112" y="1042415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D6D3D1"/>
                </a:solidFill>
                <a:latin typeface="Calibri"/>
              </a:rPr>
              <a:t>Lines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08192" y="1280160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81344" y="134416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55664" y="1344168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REST API Conventions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03920" y="1344168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RESTful Web APIs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183112" y="134416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~180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08192" y="1618488"/>
            <a:ext cx="553212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81344" y="168249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15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55664" y="1682496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GraphQL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03920" y="1682496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GraphQL docs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183112" y="168249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~150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1956815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81344" y="2020823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16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55664" y="2020823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PostgreSQL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03920" y="2020823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PostgreSQL docs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83112" y="2020823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~200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08192" y="2295144"/>
            <a:ext cx="553212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81344" y="2359151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17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55664" y="2359151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Redis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503920" y="2359151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Redis docs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183112" y="235915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~140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2633472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81344" y="2697479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18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55664" y="2697479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Kubernetes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503920" y="2697479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Kubernetes docs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83112" y="2697479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~180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08192" y="2971800"/>
            <a:ext cx="553212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181344" y="303580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19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55664" y="3035808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CI/CD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503920" y="3035808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GitHub Actions docs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183112" y="30358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~160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3310127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81344" y="3374135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20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55664" y="3374135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Monitoring &amp; Observability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503920" y="3374135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SRE Book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183112" y="3374135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~180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08192" y="3648456"/>
            <a:ext cx="553212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81344" y="3712463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21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455664" y="3712463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HTTP Fundamentals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03920" y="3712463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HTTP: The Definitive Guide (Gourley &amp; Totty)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183112" y="3712463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~380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108192" y="3986783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181344" y="4050791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22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55664" y="4050791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SQL Performance &amp; Indexing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03920" y="4050791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SQL Performance Explained (Winand)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183112" y="405079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~350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08192" y="4325112"/>
            <a:ext cx="553212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181344" y="4389120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23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455664" y="4389120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Advanced Prompt Engineering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503920" y="438912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Prompt Engineering for LLMs (Al-Shamey, Venn, Vael)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183112" y="43891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~420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663440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81344" y="472744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24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55664" y="4727448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AI Agent Architecture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03920" y="4727448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Building AI Agents + Mastering AI Tools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183112" y="472744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~380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108192" y="5001768"/>
            <a:ext cx="553212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181344" y="506577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25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55664" y="5065776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Claude Code Workflow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03920" y="5065776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Claude Code Mastery + Claude Myths &amp; Realities + AI Tools Guide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183112" y="50657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~360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108192" y="5340096"/>
            <a:ext cx="5532120" cy="338328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181344" y="5404104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Calibri"/>
              </a:rPr>
              <a:t>26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55664" y="5404104"/>
            <a:ext cx="1993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UI Design Principles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503920" y="5404104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Refactoring UI (Wathan &amp; Schoger)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183112" y="540410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03C"/>
                </a:solidFill>
                <a:latin typeface="Calibri"/>
              </a:rPr>
              <a:t>~420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57200" y="6620256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D3D1"/>
                </a:solidFill>
                <a:latin typeface="Calibri"/>
              </a:rPr>
              <a:t>Alan Davidson · Business Banking Advisor · Self-initiated · Completed out of hours in own time · June 2026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  <a:latin typeface="Calibri"/>
              </a:rPr>
              <a:t>Deployment &amp; Build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Single-file HTML distributed via GitHub Pages — no server, no CDN dependency, runs from a USB stick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16459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24128"/>
            <a:ext cx="7132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71323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15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917"/>
                </a:solidFill>
                <a:latin typeface="Calibri"/>
              </a:rPr>
              <a:t>GitHub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44752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102E"/>
                </a:solidFill>
                <a:latin typeface="Calibri"/>
              </a:rPr>
              <a:t>Live · imscots-ui.github.io/santander/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55648"/>
            <a:ext cx="6858000" cy="329184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810512"/>
            <a:ext cx="14173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1810512"/>
            <a:ext cx="516635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gh-pages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084831"/>
            <a:ext cx="68580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139696"/>
            <a:ext cx="14173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Contents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139696"/>
            <a:ext cx="516635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index.html (832KB) + .nojekyll + vercel.json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414015"/>
            <a:ext cx="6858000" cy="329184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468879"/>
            <a:ext cx="14173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2468879"/>
            <a:ext cx="516635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Vite 5 + vite-plugin-singlefile → all JS/CSS/fonts inlined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743200"/>
            <a:ext cx="68580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2798064"/>
            <a:ext cx="14173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Gzip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2798064"/>
            <a:ext cx="516635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181.99 KB — fast first load even on 3G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072384"/>
            <a:ext cx="6858000" cy="329184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127248"/>
            <a:ext cx="14173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Key 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3127248"/>
            <a:ext cx="516635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DOMContentLoaded listener — vite-plugin-singlefile inlines JS into &lt;head&gt; as plain &lt;script&gt; (no defer)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401568"/>
            <a:ext cx="68580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456432"/>
            <a:ext cx="14173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Mirror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3456432"/>
            <a:ext cx="516635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Vercel — santander-g671k7hgb-imscots-uis-projects.vercel.app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99248" y="1024128"/>
            <a:ext cx="41148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99248" y="1024128"/>
            <a:ext cx="411480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2127" y="1115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917"/>
                </a:solidFill>
                <a:latin typeface="Calibri"/>
              </a:rPr>
              <a:t>vite.config.js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82127" y="1408176"/>
            <a:ext cx="3867912" cy="329184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91855" y="1463040"/>
            <a:ext cx="109728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Plugin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8007" y="1463040"/>
            <a:ext cx="2496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vite-plugin-singlefile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82127" y="1737360"/>
            <a:ext cx="3867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91855" y="1792224"/>
            <a:ext cx="109728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7" y="1792224"/>
            <a:ext cx="2496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esnext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82127" y="2066543"/>
            <a:ext cx="3867912" cy="329184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91855" y="2121408"/>
            <a:ext cx="109728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8007" y="2121408"/>
            <a:ext cx="2496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dist/index.html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2395728"/>
            <a:ext cx="3867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91855" y="2450592"/>
            <a:ext cx="109728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Size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08007" y="2450592"/>
            <a:ext cx="2496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832 KB · 182 KB gzip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82127" y="2724912"/>
            <a:ext cx="3867912" cy="329184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91855" y="2779776"/>
            <a:ext cx="109728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Removed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8007" y="2779776"/>
            <a:ext cx="2496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removeViteModuleLoader: true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7" y="3054096"/>
            <a:ext cx="3867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91855" y="3108960"/>
            <a:ext cx="109728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03C"/>
                </a:solidFill>
                <a:latin typeface="Calibri"/>
              </a:rPr>
              <a:t>Why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08007" y="3108960"/>
            <a:ext cx="2496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Was stripping module type → exec order bug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" y="3337560"/>
            <a:ext cx="53035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3337560"/>
            <a:ext cx="5303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3429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917"/>
                </a:solidFill>
                <a:latin typeface="Calibri"/>
              </a:rPr>
              <a:t>npm Commands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3703320"/>
            <a:ext cx="4937760" cy="283464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3749039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npm install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06040" y="3749039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Install dependencies — first time only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3986783"/>
            <a:ext cx="493776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4032503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npm run dev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06040" y="4032503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Dev server at localhost:5173 with hot reload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4270248"/>
            <a:ext cx="4937760" cy="283464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431596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npm run build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06040" y="4315968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Production build to dist/ — 832KB HTML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553712"/>
            <a:ext cx="493776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4599431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npm run preview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06040" y="4599431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Serve dist/ locally for final testing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4837176"/>
            <a:ext cx="4937760" cy="283464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488289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python3 build_deck.py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06040" y="488289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Regenerate pitch deck (16 slides)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5120640"/>
            <a:ext cx="493776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" y="5166359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python3 build_architecture.py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06040" y="5166359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Regenerate architecture deck (10 slides)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5404104"/>
            <a:ext cx="4937760" cy="283464"/>
          </a:xfrm>
          <a:prstGeom prst="rect">
            <a:avLst/>
          </a:prstGeom>
          <a:solidFill>
            <a:srgbClr val="F5F5F4"/>
          </a:solidFill>
          <a:ln w="9525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" y="5449824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1917"/>
                </a:solidFill>
                <a:latin typeface="Calibri"/>
              </a:rPr>
              <a:t>python3 build_manifest.py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06040" y="5449824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Regenerate this project record deck (11 slides)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70448" y="3337560"/>
            <a:ext cx="5943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870448" y="3337560"/>
            <a:ext cx="594360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53328" y="34290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CLAUDE.md — Captain's Standing Orders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53328" y="3749039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Ships company command table — 6 officers with duties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5 Standing Security Orders (never outline-none without focus-visible, no dangerouslySetInnerHTML on dynamic content, no secrets in source, no git push --force, run /ship-ready before every push)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Bosun's Law — spacing scale (4·8·12·16·24·32·48·64·96·128px), stone-* only (never gray-* or zinc-*), one primary CTA per view, num-tab on all monetary amounts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closeWorkflow() invariant — all new state must be reset here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1C1917"/>
                </a:solidFill>
                <a:latin typeface="Calibri"/>
              </a:rPr>
              <a:t>· Architecture constraints — no hooks inside closures, keep everything in App.jsx, single-file is intentional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6620256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D3D1"/>
                </a:solidFill>
                <a:latin typeface="Calibri"/>
              </a:rPr>
              <a:t>Alan Davidson · Business Banking Advisor · Self-initiated · Completed out of hours in own time · June 2026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  <a:latin typeface="Calibri"/>
              </a:rPr>
              <a:t>Presentation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Three PowerPoint decks covering every audience — executives, technologists, and project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16459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24128"/>
            <a:ext cx="3749039" cy="5102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3749039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15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102E"/>
                </a:solidFill>
                <a:latin typeface="Calibri"/>
              </a:rPr>
              <a:t>Pitch Deck · 16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898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8716C"/>
                </a:solidFill>
                <a:latin typeface="Calibri"/>
              </a:rPr>
              <a:t>Santander_Digital_Banking_Future.pptx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00784"/>
            <a:ext cx="3383280" cy="1463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755648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78308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1783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Title + Business Banking Advisor stamp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20824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048255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04825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Executive summary + 8 headline statistics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86000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3134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231343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The problem — 4 pain 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551176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5786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25786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What we built — 21 features (4-col grid)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16352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84378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284378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Privacy controls — 3-layer data separation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081528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1089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31089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Advanced features — lending, FX, forecast, receipt scan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46703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374135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337413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Intelligence &amp; security — 7 panels (health score, radar, director, Voice ID, sequencer, voice memo, bell)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611879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639311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" y="363931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Paperless workflows deep-dive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877056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9044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39044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Making Tax Digital deep-dive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142231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169663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" y="4169663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Security &amp; compliance (4 frameworks)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07408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44348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" y="443484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Financial intelligence features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672583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70001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" y="47000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Technical architecture (current + production)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937759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9651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" y="49651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Business case — £137M annualised opportunity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202936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523036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" y="523036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Roadmap — 4 phases Q3 2026 → Q2 2027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468112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549554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" y="549554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Design system &amp; accessibility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733288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57607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102E"/>
                </a:solidFill>
                <a:latin typeface="Calibri"/>
              </a:rPr>
              <a:t>Slide 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" y="576072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Next steps — 3 decisions for senior management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34256" y="1024128"/>
            <a:ext cx="3749039" cy="5102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34256" y="1024128"/>
            <a:ext cx="3749039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98848" y="1115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Architecture Deck · 10 slides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8848" y="13898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8716C"/>
                </a:solidFill>
                <a:latin typeface="Calibri"/>
              </a:rPr>
              <a:t>Santander_Architecture.pptx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98848" y="1700784"/>
            <a:ext cx="3383280" cy="1463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98848" y="1755648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17136" y="178308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  <a:latin typeface="Calibri"/>
              </a:rPr>
              <a:t>Slide 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0056" y="1783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Cover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98848" y="2020824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17136" y="2048255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  <a:latin typeface="Calibri"/>
              </a:rPr>
              <a:t>Slide 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0056" y="204825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Component map — current prototype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98848" y="2286000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17136" y="23134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  <a:latin typeface="Calibri"/>
              </a:rPr>
              <a:t>Slide 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0056" y="231343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Data &amp; state architecture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98848" y="2551176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17136" y="25786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  <a:latin typeface="Calibri"/>
              </a:rPr>
              <a:t>Slide 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0056" y="25786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Production system architecture (4 tiers)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98848" y="2816352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17136" y="284378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  <a:latin typeface="Calibri"/>
              </a:rPr>
              <a:t>Slide 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0056" y="284378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Security architecture (4 domains)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98848" y="3081528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17136" y="31089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  <a:latin typeface="Calibri"/>
              </a:rPr>
              <a:t>Slide 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0056" y="31089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Regulatory &amp; compliance framework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98848" y="3346703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17136" y="3374135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  <a:latin typeface="Calibri"/>
              </a:rPr>
              <a:t>Slide 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0056" y="337413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Privacy &amp; account separation architecture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498848" y="3611879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17136" y="3639311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  <a:latin typeface="Calibri"/>
              </a:rPr>
              <a:t>Slide 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0056" y="363931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Entity &amp; mandate logic (7 types × 3 rules)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498848" y="3877056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17136" y="39044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  <a:latin typeface="Calibri"/>
              </a:rPr>
              <a:t>Slide 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0056" y="39044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API integration contracts (4 APIs)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98848" y="4142231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17136" y="4169663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  <a:latin typeface="Calibri"/>
              </a:rPr>
              <a:t>Slide 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0056" y="4169663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Design system tokens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84464" y="1024128"/>
            <a:ext cx="3749039" cy="5102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84464" y="1024128"/>
            <a:ext cx="3749039" cy="64008"/>
          </a:xfrm>
          <a:prstGeom prst="rect">
            <a:avLst/>
          </a:prstGeom>
          <a:solidFill>
            <a:srgbClr val="44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49056" y="1115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03C"/>
                </a:solidFill>
                <a:latin typeface="Calibri"/>
              </a:rPr>
              <a:t>Project Record · 12 slides (this deck)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49056" y="13898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8716C"/>
                </a:solidFill>
                <a:latin typeface="Calibri"/>
              </a:rPr>
              <a:t>Santander_Project_Record.pptx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449056" y="1700784"/>
            <a:ext cx="3383280" cy="1463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49056" y="1755648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67344" y="178308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403C"/>
                </a:solidFill>
                <a:latin typeface="Calibri"/>
              </a:rPr>
              <a:t>Slide 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70264" y="1783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Cover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449056" y="2020824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467344" y="2048255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403C"/>
                </a:solidFill>
                <a:latin typeface="Calibri"/>
              </a:rPr>
              <a:t>Slide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70264" y="204825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Project overview — stats, tech stack, deployment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449056" y="2286000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467344" y="23134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403C"/>
                </a:solidFill>
                <a:latin typeface="Calibri"/>
              </a:rPr>
              <a:t>Slide 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70264" y="231343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Five screens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449056" y="2551176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467344" y="25786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403C"/>
                </a:solidFill>
                <a:latin typeface="Calibri"/>
              </a:rPr>
              <a:t>Slide 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70264" y="25786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Eleven workflows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449056" y="2816352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67344" y="284378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403C"/>
                </a:solidFill>
                <a:latin typeface="Calibri"/>
              </a:rPr>
              <a:t>Slide 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70264" y="284378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Entity types &amp; mandate rules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49056" y="3081528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67344" y="31089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403C"/>
                </a:solidFill>
                <a:latin typeface="Calibri"/>
              </a:rPr>
              <a:t>Slide 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70264" y="31089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Security &amp; compliance — part 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449056" y="3346703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467344" y="3374135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403C"/>
                </a:solidFill>
                <a:latin typeface="Calibri"/>
              </a:rPr>
              <a:t>Slide 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70264" y="337413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Security &amp; compliance — part 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49056" y="3611879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467344" y="3639311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403C"/>
                </a:solidFill>
                <a:latin typeface="Calibri"/>
              </a:rPr>
              <a:t>Slide 8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70264" y="363931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Home screen intelligence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49056" y="3877056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467344" y="39044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403C"/>
                </a:solidFill>
                <a:latin typeface="Calibri"/>
              </a:rPr>
              <a:t>Slide 9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70264" y="39044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Ships company agent architecture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449056" y="4142231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467344" y="4169663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403C"/>
                </a:solidFill>
                <a:latin typeface="Calibri"/>
              </a:rPr>
              <a:t>Slide 10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70264" y="4169663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Reference library (26 sections)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449056" y="4407408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467344" y="44348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403C"/>
                </a:solidFill>
                <a:latin typeface="Calibri"/>
              </a:rPr>
              <a:t>Slide 11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70264" y="443484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Deployment &amp; build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449056" y="4672583"/>
            <a:ext cx="475488" cy="23774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467344" y="470001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403C"/>
                </a:solidFill>
                <a:latin typeface="Calibri"/>
              </a:rPr>
              <a:t>Slide 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970264" y="47000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917"/>
                </a:solidFill>
                <a:latin typeface="Calibri"/>
              </a:rPr>
              <a:t>Business case summary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4048" y="6236208"/>
            <a:ext cx="11420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16C"/>
                </a:solidFill>
                <a:latin typeface="Calibri"/>
              </a:rPr>
              <a:t>All decks rebuilt via python3 build_*.py — Santander brand colours throughout · Advisor credit on every slide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57200" y="6620256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6D3D1"/>
                </a:solidFill>
                <a:latin typeface="Calibri"/>
              </a:rPr>
              <a:t>Alan Davidson · Business Banking Advisor · Self-initiated · Completed out of hours in own time · June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Business Case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716C"/>
                </a:solidFill>
                <a:latin typeface="Calibri"/>
              </a:rPr>
              <a:t>Phase 1 complete. Phase 2 awaiting stakeholder approval. Zero days to readiness.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1737360" cy="132588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173736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£137M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Annualised opportunity
(280,000 customers)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115568"/>
            <a:ext cx="1737360" cy="132588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115568"/>
            <a:ext cx="173736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188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£4.9M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8105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Cost saving per 10k
customers · Year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115568"/>
            <a:ext cx="1737360" cy="132588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115568"/>
            <a:ext cx="173736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188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8105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Features built
across 4 areas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59" y="1115568"/>
            <a:ext cx="1737360" cy="132588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59" y="1115568"/>
            <a:ext cx="173736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59" y="1188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18105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Paper workflows
digitised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1115568"/>
            <a:ext cx="1737360" cy="132588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1115568"/>
            <a:ext cx="173736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1188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18105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Paper forms
retired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1115568"/>
            <a:ext cx="1737360" cy="132588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9800" y="1115568"/>
            <a:ext cx="173736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1188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18105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Compliance
frameworks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33472"/>
            <a:ext cx="5303520" cy="64008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27066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D3D1"/>
                </a:solidFill>
                <a:latin typeface="Calibri"/>
              </a:rPr>
              <a:t>Paper forms retired: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2798064"/>
            <a:ext cx="960120" cy="274320"/>
          </a:xfrm>
          <a:prstGeom prst="rect">
            <a:avLst/>
          </a:prstGeom>
          <a:solidFill>
            <a:srgbClr val="44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28346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EF2F2"/>
                </a:solidFill>
                <a:latin typeface="Calibri"/>
              </a:rPr>
              <a:t>CA04 — Mandate change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20" y="2798064"/>
            <a:ext cx="960120" cy="274320"/>
          </a:xfrm>
          <a:prstGeom prst="rect">
            <a:avLst/>
          </a:prstGeom>
          <a:solidFill>
            <a:srgbClr val="44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19072" y="28346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EF2F2"/>
                </a:solidFill>
                <a:latin typeface="Calibri"/>
              </a:rPr>
              <a:t>CA07 — Account closure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2798064"/>
            <a:ext cx="960120" cy="274320"/>
          </a:xfrm>
          <a:prstGeom prst="rect">
            <a:avLst/>
          </a:prstGeom>
          <a:solidFill>
            <a:srgbClr val="44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24912" y="28346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EF2F2"/>
                </a:solidFill>
                <a:latin typeface="Calibri"/>
              </a:rPr>
              <a:t>CA11 — Dormancy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2798064"/>
            <a:ext cx="960120" cy="274320"/>
          </a:xfrm>
          <a:prstGeom prst="rect">
            <a:avLst/>
          </a:prstGeom>
          <a:solidFill>
            <a:srgbClr val="44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28346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EF2F2"/>
                </a:solidFill>
                <a:latin typeface="Calibri"/>
              </a:rPr>
              <a:t>P17 — Bulk payment auth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2798064"/>
            <a:ext cx="960120" cy="274320"/>
          </a:xfrm>
          <a:prstGeom prst="rect">
            <a:avLst/>
          </a:prstGeom>
          <a:solidFill>
            <a:srgbClr val="44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28346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EF2F2"/>
                </a:solidFill>
                <a:latin typeface="Calibri"/>
              </a:rPr>
              <a:t>D18 — KYC update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2633472"/>
            <a:ext cx="5806440" cy="210312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27066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Competitive Differentiators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30175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D6D3D1"/>
                </a:solidFill>
                <a:latin typeface="Calibri"/>
              </a:rPr>
              <a:t>· Only UK business bank with Voice ID biometric across app + phone + video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6D3D1"/>
                </a:solidFill>
                <a:latin typeface="Calibri"/>
              </a:rPr>
              <a:t>· Only prototype with live Companies House supplier risk scoring on dashboard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6D3D1"/>
                </a:solidFill>
                <a:latin typeface="Calibri"/>
              </a:rPr>
              <a:t>· Full personal/business data separation — app, call centre, post, credit — simultaneously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6D3D1"/>
                </a:solidFill>
                <a:latin typeface="Calibri"/>
              </a:rPr>
              <a:t>· MTD submission from receipt scan to HMRC in under 60 seconds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6D3D1"/>
                </a:solidFill>
                <a:latin typeface="Calibri"/>
              </a:rPr>
              <a:t>· Business health score — 5-factor live gauge no UK business bank currently offers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401568"/>
            <a:ext cx="5303520" cy="42062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1 — COMPLETE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34930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7F3D0"/>
                </a:solidFill>
                <a:latin typeface="Calibri"/>
              </a:rPr>
              <a:t>Prototype live · All features functional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895344"/>
            <a:ext cx="5303520" cy="42062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39684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2 — 0 DAYS TO READY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0" y="39867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  <a:latin typeface="Calibri"/>
              </a:rPr>
              <a:t>Awaiting stakeholder approval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892040"/>
            <a:ext cx="12188952" cy="1627632"/>
          </a:xfrm>
          <a:prstGeom prst="rect">
            <a:avLst/>
          </a:prstGeom>
          <a:solidFill>
            <a:srgbClr val="12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074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All work completed self-initiated, out of hours, in own time.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413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Alan Davidson · Business Banking Advisor · Santander · June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501091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C8102E"/>
                </a:solidFill>
                <a:latin typeface="Calibri"/>
              </a:rPr>
              <a:t>£137M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56509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annualised opportunity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95760" y="6583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716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