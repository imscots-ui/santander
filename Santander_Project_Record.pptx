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12680" y="274320"/>
            <a:ext cx="1783080" cy="3108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12680" y="310896"/>
            <a:ext cx="17830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~5,300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12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21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Fraunces (display) · Geist (body)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Twelve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accounts → destination CoP check → credit check → sign. 24h cooling-off on Any-1 accounts. Mandate enforcement throughout.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23944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23944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 Escalation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88536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4 regulatory branches: health/welfare, no contact, deceased/probate, dispute. Evidence upload, specialist team referral, account restriction. FCA Consumer Duty PS22/9. Case ref SVC-2026-4471.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63840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1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1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 / remove / update signatories or change signing rule. Full KYC/KYB: GOV.UK One Login List 1, address List 2, trading List 3. Board minutes for clubs/charities. 7 entity type variations.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Payee book, CoP verification per payee, CSV import, one-off or monthly scheduling. Mandate enforcement: Any-1/2/All per source account.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23944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23944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8536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8536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Address, trading name, phone, email. Proof of address upload. Companies House sync notification. RM escalation for partnership renames.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63840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28431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8431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dormant account and request reactivation. FSCS notice displayed. 12-month inactivity threshold enforced.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Auto-categorise transactions (confidence score per item) → review VAT100 form → declare accuracy → HMRC API submit. Returns receipt number.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23944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23944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8536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88536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88536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Scope confirmation → data separation notice → all-channels toggle (CRM ref REL-2026-0291, 2 working days) + postal toggle → signed declaration. Removes personal data from JSX render tree — not CSS hide.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63840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63840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28431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8431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28431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Risk overview with GDPR Art.5(1)(c) legal basis → signed formal instruction. Personal account data permanently excluded from business credit decisioning. State persists across sessions.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84048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£45,000 offer with live monthly repayment calculator (12/24/36 months) → CCA 1974 terms and 14-day cooling-off rights → biometric confirm and draw-down. lendingCompleted state persists.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23944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123944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88536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88536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8536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Amount + currency + IBAN + beneficiary → live rate + FCA fee disclosure (Consumer Rights Act 2015) → biometric confirm. 5 currencies: EUR/USD/CHF/AUD/CAD. MLR 2017 screening flag ≥£50k. SWIFT ref to audit trail.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863840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863840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28431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Complaint Handling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28431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28431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Intake → escalation triage → denial → case outcome. FCA DISP-compliant. Eligible complainant check (DISP 2.7), escalation flag selection, denial reason, optional goodwill gesture. Triggers from Home screen Log complaint tile.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C8102E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1701-uniform/REFERENCE.md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23,496 lines · 99 sections · 108 books &amp; regulatory documents · §97 SMR · §98 Prezi · §99 WCAG contrast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23,496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8416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416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2784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books &amp; docs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quick answers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1664208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Core Development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7528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§1–22, §91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Python · SQL · FastAPI · Docker · Git · React/JS · JWT · HTTP · Linux · Security · Pydantic · async · pytest · System Design Interview (King)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2560320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AI &amp; Prompt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§20, §23–25, §58–65, §72–74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Claude · AI Agents · Copilot · ChatGPT · AI Content Creation · Surveillance AI · Dynamics 365 AI · 600+ prompts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3456432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Banking · Payments · Regulation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67528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§35–41, §66–70, §84, §86–88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PSD2 · FPS/BACS/CHAPS/SWIFT · PSR · FCA Consumer Duty · AML · Ring-Fencing · SCA · BCOBS · FCA Compliance · UK Resolution · Post-Trade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4352544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Prudential &amp; Market Regulation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67528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§36–40, §87–88, §97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PRA/PRC · Basel 3.1 · SS19/13 Resolution · MREL · CNRF · Deposit Aggregators · Post-Trade Task Force · Senior Managers Regime (Berman)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5248656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Data Protection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67528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§75, §77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GDPR/DPDI/Marketing AI (Scheuing, Kogan Page 2024) · GDPR for Startups (Martin, Edward Elgar 2023)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08192" y="1664208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1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UI · Frontend · Design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91672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§11, §26, §42, §50–56, §78–81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9631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React/JS patterns · Refactoring UI · Tailwind CSS v3 (×3 books) · CSS Animation · Vite/TS · React 19 · React Hooks (Larsen) · UX · Photoshop · KiCad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2560320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Office, Docs &amp; Publishing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91672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§27–33, §64–65, §76, §92, §94–96, §98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Power Teams · Power BI · PowerPoint (×3) · SharePoint · Dynamics 365 BC AL · Azure AI-102 · LibreOffice · KDP · PDF→EPUB · Mastering Prezi (Anderson-Williams)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3456432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99631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Equality &amp; Accessibility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1672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§34, §99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1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Equality Act 2010 · Protected characteristics · Reasonable adjustments · WCAG 2.1 colour contrast (4.5:1) · WebAIM/CCA testing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08192" y="4352544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99631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Electronics · Hardware · Engineering Design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91672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§43–49, §54, §57, §89, §93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08192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1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MakerSpace · Electronics · Mechatronics · Digital Logic · Arduino/IoT · Embedded Linux · ISO GD&amp;T (Green) · CAMSS Materials Selection (NMAB-467)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08192" y="5248656"/>
            <a:ext cx="5532120" cy="2377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99631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Digital Banking Transformation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91672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§82, §83, §85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99631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DBS World's Best Bank (Speculand) · The Autonomous Bank AI/ML (Dhillon) · TMRW Digital Bank Build (Khoo/UOB) · Quick Lookup Decision Index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C8102E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622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622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70001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7365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7365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97433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50109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50109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24865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2852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2852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2297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55955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55955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79729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8338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8338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607161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61081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61081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(14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6928" y="634593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8368" y="63825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build_complaint_guide.py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06040" y="63825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Santander_Complaint_Guide.docx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662025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8368" y="66568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complaint_letter_writer.py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06040" y="66568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Interactive FCA DISP letter writer (Evelyn/Angus)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21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panels (health score, radar, director, Voice ID, sequencer, voice memo, bell)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14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Twelve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(99 sections · 108 books)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449056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467344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970264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Complaint handling tools (Evelyn/Angus)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449056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467344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70264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Complaint Handling Tools — Evelyn Workflow (Angus)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FCA DISP-compliant complaint record, letter writing, and Copilot agent — built alongside the in-app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24128"/>
            <a:ext cx="28163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Interactive Letter Writer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complaint_letter_writer.py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Trigger-phrase driven — Evelyn's exact workflow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Stage 1 record: 5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 record: 4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Uphold letter: Sorry → Cause → Impact → Fix → Payment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Declined letter: Sorry → Not our fault → Reason → Explanation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Escalation: resolution changed / no change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Dual mode: complaint record + letter in one doc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Output: [REF]_[SURNAME]_[TRIGGER]_[DATE].docx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4408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64408" y="1024128"/>
            <a:ext cx="281635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Complaint Reference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Santander_Complaint_Guide.docx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74136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74136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7 complaint types × Stage 1 + escalation scenarios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ISA Transfer Delay — 3 scenarios (upheld/declined/escalation)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Incorrect Charge / Fee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Payment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APP Fraud — PSR PS23/3 reimbursement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Mandate Change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Poor Service / Communication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Account Closure Delay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Full letter templates, interest formula, DISP 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4496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4496" y="1024128"/>
            <a:ext cx="2816352" cy="640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Microsoft Copilot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Evelyn_Complaint_Agent_Angus.md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64224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Complete system prompt for Copilot / Copilot Studio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All 9 trigger phrases with output definitions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Verbatim Stage 1 (5Q) and escalation (4Q) headings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Upheld and declined letter templates with exact language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FOS referral block — copy-exact text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Standard sign-off block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System behaviour rules (vault-ready, consistency)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Paste into Copilot custom instructions or Copilot Studio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44584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44584" y="1024128"/>
            <a:ext cx="2816352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App.jsx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In-app: renderComplaint()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54312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54312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4-step workflow wizard built into the prototype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1: Intake — category, date, eligible complainant check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2: Escalation triage — flag selection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3: Denial reason (if not upheld)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4: Case outcome — goodwill gesture option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Triggered from Home screen 'Log complaint' action tile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FCA DISP-compliant flow throughout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State reset in closeWorkflow() — no ghost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108192"/>
            <a:ext cx="11612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Trigger phrases: 'evidence to support complaint stage 1' · 'Uphold - stage 1 letter' · 'Declined - stage 1 letter' · 'Escalation - resolution changed' and 5 more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6400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40156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474720"/>
            <a:ext cx="27432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493008"/>
            <a:ext cx="23774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89534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3968496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398678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4800" b="1" i="0">
                <a:solidFill>
                  <a:srgbClr val="C8102E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