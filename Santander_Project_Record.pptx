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012680" y="274320"/>
            <a:ext cx="1783080" cy="3108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12680" y="310896"/>
            <a:ext cx="178308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INTERNAL · CONFIDENTIAL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63040"/>
            <a:ext cx="502920" cy="5029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63040"/>
            <a:ext cx="502920" cy="5029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194560"/>
            <a:ext cx="914400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0" i="0">
                <a:solidFill>
                  <a:srgbClr val="78716C"/>
                </a:solidFill>
                <a:latin typeface="Calibri"/>
              </a:rPr>
              <a:t>Project Record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51760"/>
            <a:ext cx="100584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Santander Business Banking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520440"/>
            <a:ext cx="1005840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600" b="0" i="1">
                <a:solidFill>
                  <a:srgbClr val="FEF2F2"/>
                </a:solidFill>
                <a:latin typeface="Calibri"/>
              </a:rPr>
              <a:t>Digital Prototype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315968"/>
            <a:ext cx="4114800" cy="1828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4434840"/>
            <a:ext cx="6400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Author: Alan Davidson · Business Banking Advisor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Capacity: Self-initiated · Completed entirely out of hours · Own time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Prototype: https://imscots-ui.github.io/santander/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Date: June 2026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79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98079" y="4206240"/>
            <a:ext cx="105156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79" y="4279392"/>
            <a:ext cx="10515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4754880"/>
            <a:ext cx="10515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Features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68511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668511" y="4206240"/>
            <a:ext cx="105156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68511" y="4279392"/>
            <a:ext cx="10515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68511" y="4754880"/>
            <a:ext cx="10515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Workflows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838944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838944" y="4206240"/>
            <a:ext cx="105156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38944" y="4279392"/>
            <a:ext cx="10515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38944" y="4754880"/>
            <a:ext cx="10515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Entity types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009376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009376" y="4206240"/>
            <a:ext cx="105156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009376" y="4279392"/>
            <a:ext cx="10515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9376" y="4754880"/>
            <a:ext cx="10515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Frameworks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Project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 single-file React prototype — fully functional, browser-only, no backend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051560"/>
            <a:ext cx="502920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WHAT WAS BUILT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5303520" cy="3474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App.jsx — ~5,300 lines · ~300KB source · Single React component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5 main screens accessible from the bottom nav / sidebar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12 step-based workflow wizards covering every key banking operation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5 sheet overlays for quick-access tasks (notifications, receipts, PIN, open banking, voice)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7 entity types — every compliance path forks by entity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21 features across dashboard intelligence, paperless workflows, security, and compliance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8 regulatory frameworks implemented end-to-end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WCAG 2.1 AA accessibility — focus-visible on every interactive element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No backend · No API calls · Runs from any browser as a single HTML file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051560"/>
            <a:ext cx="53035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TECHNOLOGY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325880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0528" y="1380744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Framework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19" y="1380744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React 18 · single-component architecture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1673352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0528" y="1728216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Styling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19" y="1728216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Tailwind CSS + inline brand CSS template literal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2020824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0528" y="2075688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Icons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19" y="2075688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Lucide React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2368296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0528" y="2423160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Build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19" y="2423160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Vite 5 + vite-plugin-singlefile → 832KB HTML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2715768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10528" y="2770632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Fonts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19" y="2770632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Fraunces (display) · Geist (body) · Geist Mono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3063239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10528" y="3118103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Deploy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19" y="3118103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GitHub Pages · gh-pages branch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3410712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10528" y="3465576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State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19" y="3465576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React useState / useMemo / useEffect — all at App() top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3758184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10528" y="3813048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Source control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19" y="3813048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Git · branch claude/add-claude-documentation-eaPc5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394960"/>
            <a:ext cx="11274552" cy="73152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468112"/>
            <a:ext cx="228600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D6D3D1"/>
                </a:solidFill>
                <a:latin typeface="Calibri"/>
              </a:rPr>
              <a:t>Live prototype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34640" y="5468112"/>
            <a:ext cx="594360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https://imscots-ui.github.io/santander/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26880" y="5468112"/>
            <a:ext cx="219456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832 KB · self-contained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5815584"/>
            <a:ext cx="109728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All work self-initiated · out of hours · own time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The Five Screens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All accessible from the bottom navigation bar (mobile) or sidebar (desktop)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5156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51560"/>
            <a:ext cx="3694176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7" y="114300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Home Dashboard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7" y="1417319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'home'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7" y="161848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Balance hero card — accounts, available balance, mandate badge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Business health score — live 0-100 circular SVG gauge across 5 factors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Session anomaly alert — new device/location security warning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13-week cash flow forecast — SVG bar chart with risk threshold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Supplier risk radar — Companies House RAG status for top 5 counterparties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Director command centre — all signatories with KYC status and pending counts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10 action tiles — quick launch for every workflow and feature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Cooling-off progress bars — live countdowns with cancel option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Voice ID security card — enrolment status, cross-channel, SCA tiers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Relationship Manager card — Priya Desai with escalation trigger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60" y="105156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60" y="1051560"/>
            <a:ext cx="3694176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114300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Signature Queue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1417319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'approve'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161848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Pending mandates, closures, and bulk payments awaiting your signature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Dual-authorisation: Face ID biometric sign or explicit reject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Each item shows initiator, amount, expiry window, and rule type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Badge count on nav tab — updates live as items are signed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Stalled requests shown with RM escalation card when co-signer misses window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19872" y="105156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19872" y="1051560"/>
            <a:ext cx="3694176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57032" y="114300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Financial Statements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2" y="1417319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'statements'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2" y="161848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6 months of transactions — chronological and by category views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Full-text counterparty search with instant results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Counterparty detail sheet — spend breakdown, transaction history, method split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PDF / CSV / Excel export with simulated download feedback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Transaction method filter: all, bank transfer, direct debit, standing order, card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Outgoing / incoming colour-coded with tabular-num amounts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13432" y="370332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313432" y="3703320"/>
            <a:ext cx="3694176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50591" y="379476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Making Tax Digital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50591" y="4069080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'mtd'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50591" y="427024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HMRC VAT and ITSA obligations with deadline countdown badges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Quarterly submission wizard — 4 steps: categorise, review, declare, submit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Auto-categorisation with confidence scoring for each transaction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VAT100 form view with all 9 boxes calculated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YTD income/expense totals and projected tax liability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ITSA readiness indicator with quarters ahead of schedule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Voice memo integration — tap-to-record expense auto-fills to ledger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Receipt scan — OCR categorise and match to open transactions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81344" y="370332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81344" y="3703320"/>
            <a:ext cx="3694176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18504" y="379476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Audit Trail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18504" y="4069080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'audit'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18504" y="427024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FCA SYSC 9 compliant — 7-year retention, append-only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Every action: workflow steps, sign events, rejections, system alerts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Each entry: timestamp, actor name, action type, account/reference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Session anomaly events logged with device/location metadata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Filter by event type or actor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Export for compliance reporting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Twelve Workflow Wizards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Step-based overlays — each is a full multi-step process rendered on top of the main 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15568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Account Closure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353312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27048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Select accounts → destination CoP check → credit check → sign. 24h cooling-off on Any-1 accounts. Mandate enforcement throughout.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23944" y="1024128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23944" y="1024128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88536" y="1115568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Partner Unreachable Escalation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88536" y="1353312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88536" y="1527048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4 regulatory branches: health/welfare, no contact, deceased/probate, dispute. Evidence upload, specialist team referral, account restriction. FCA Consumer Duty PS22/9. Case ref SVC-2026-4471.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63840" y="1024128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863840" y="1024128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28431" y="1115568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Mandate Changes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28431" y="1353312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6 steps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28431" y="1527048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Add / remove / update signatories or change signing rule. Full KYC/KYB: GOV.UK One Login List 1, address List 2, trading List 3. Board minutes for clubs/charities. 7 entity type variations.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" y="2432304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84048" y="2432304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523744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Bulk Payments / Wages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2761488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2935224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Payee book, CoP verification per payee, CSV import, one-off or monthly scheduling. Mandate enforcement: Any-1/2/All per source account.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23944" y="2432304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123944" y="2432304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88536" y="2523744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Business Details Update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88536" y="2761488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3 steps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88536" y="2935224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Address, trading name, phone, email. Proof of address upload. Companies House sync notification. RM escalation for partnership renames.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863840" y="2432304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863840" y="2432304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28431" y="2523744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Dormant Reactivation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28431" y="2761488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1 step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28431" y="2935224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Select dormant account and request reactivation. FSCS notice displayed. 12-month inactivity threshold enforced.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3840479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84048" y="3840479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3931919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MTD VAT Submission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4169663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4343399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Auto-categorise transactions (confidence score per item) → review VAT100 form → declare accuracy → HMRC API submit. Returns receipt number.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23944" y="3840479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123944" y="3840479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88536" y="3931919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Personal/Business Unlink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88536" y="4169663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88536" y="4343399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Scope confirmation → data separation notice → all-channels toggle (CRM ref REL-2026-0291, 2 working days) + postal toggle → signed declaration. Removes personal data from JSX render tree — not CSS hide.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863840" y="3840479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863840" y="3840479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028431" y="3931919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Credit Ring-Fence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28431" y="4169663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2 steps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28431" y="4343399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Risk overview with GDPR Art.5(1)(c) legal basis → signed formal instruction. Personal account data permanently excluded from business credit decisioning. State persists across sessions.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84048" y="5248655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84048" y="5248655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8640" y="5340095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Pre-approved Business Lending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8640" y="5577840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3 steps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8640" y="5751575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£45,000 offer with live monthly repayment calculator (12/24/36 months) → CCA 1974 terms and 14-day cooling-off rights → biometric confirm and draw-down. lendingCompleted state persists.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123944" y="5248655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123944" y="5248655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288536" y="5340095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International FX Payment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288536" y="5577840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3 steps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288536" y="5751575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Amount + currency + IBAN + beneficiary → live rate + FCA fee disclosure (Consumer Rights Act 2015) → biometric confirm. 5 currencies: EUR/USD/CHF/AUD/CAD. MLR 2017 screening flag ≥£50k. SWIFT ref to audit trail.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863840" y="5248655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863840" y="5248655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028431" y="5340095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Complaint Handling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028431" y="5577840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028431" y="5751575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Intake → escalation triage → denial → case outcome. FCA DISP-compliant. Eligible complainant check (DISP 2.7), escalation flag selection, denial reason, optional goodwill gesture. Triggers from Home screen Log complaint tile.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Seven Entity Types &amp; Mandate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Every compliance path diverges by entity — KYC docs, principals, authorisation rules, board minute requirements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51560"/>
            <a:ext cx="11475720" cy="32918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106424"/>
            <a:ext cx="2011679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Entity Type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78608" y="1106424"/>
            <a:ext cx="1463039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Mandate Default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33087" y="1106424"/>
            <a:ext cx="155448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Principal Title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79007" y="1106424"/>
            <a:ext cx="16002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Companies House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70648" y="1106424"/>
            <a:ext cx="196596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Board Minutes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8048" y="1106424"/>
            <a:ext cx="22860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Key Divergence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" y="1380743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1463039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Sole Trader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78608" y="1463039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059669"/>
                </a:solidFill>
                <a:latin typeface="Calibri"/>
              </a:rPr>
              <a:t>Any-1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33087" y="1463039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Sole trader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79007" y="1463039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70648" y="1463039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8048" y="1463039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Single principal — no co-signer ever required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4048" y="1783079"/>
            <a:ext cx="114757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" y="1865375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Partnership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78608" y="1865375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Calibri"/>
              </a:rPr>
              <a:t>Any-1/2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33087" y="1865375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Partner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79007" y="1865375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70648" y="1865375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 (RM on rename)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28048" y="1865375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Partner-unreachable path active; Any-2 if &gt;2 partners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84048" y="2185415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488" y="2267711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Limited Company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78608" y="2267711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Calibri"/>
              </a:rPr>
              <a:t>Any-2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33087" y="2267711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Director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79007" y="2267711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Companies No.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70648" y="2267711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28048" y="2267711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CH reg verified; director register linked to mandate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84048" y="2587752"/>
            <a:ext cx="114757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75488" y="2670048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LLP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78608" y="2670048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Calibri"/>
              </a:rPr>
              <a:t>Any-2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33087" y="2670048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Member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79007" y="2670048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LLP No.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70648" y="2670048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528048" y="2670048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LLP number shown; member terminology throughout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84048" y="2990087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5488" y="3072383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Registered Charity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578608" y="3072383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C8102E"/>
                </a:solidFill>
                <a:latin typeface="Calibri"/>
              </a:rPr>
              <a:t>All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33087" y="3072383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Trustee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779007" y="3072383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 — Charity Comm.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70648" y="3072383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all changes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28048" y="3072383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All trustees must sign; Charity Commission ref shown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84048" y="3392424"/>
            <a:ext cx="114757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75488" y="3474720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Club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78608" y="3474720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C8102E"/>
                </a:solidFill>
                <a:latin typeface="Calibri"/>
              </a:rPr>
              <a:t>All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33087" y="3474720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Committee member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779007" y="3474720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70648" y="3474720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all changes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528048" y="3474720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Full committee approval for every mandate/detail change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84048" y="3794760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75488" y="3877056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Society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578608" y="3877056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C8102E"/>
                </a:solidFill>
                <a:latin typeface="Calibri"/>
              </a:rPr>
              <a:t>All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133087" y="3877056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Committee member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779007" y="3877056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470648" y="3877056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all changes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528048" y="3877056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Same as club; society terminology throughout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84048" y="4288536"/>
            <a:ext cx="32004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059669"/>
                </a:solidFill>
                <a:latin typeface="Calibri"/>
              </a:rPr>
              <a:t>Any-1 = any single signatory authorises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566160" y="4288536"/>
            <a:ext cx="32004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D97706"/>
                </a:solidFill>
                <a:latin typeface="Calibri"/>
              </a:rPr>
              <a:t>Any-2 = any two signatories must co-sign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720840" y="4288536"/>
            <a:ext cx="27432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C8102E"/>
                </a:solidFill>
                <a:latin typeface="Calibri"/>
              </a:rPr>
              <a:t>All = every signatory must sign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84048" y="4517136"/>
            <a:ext cx="7315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getMandateFor() picks the strictest rule across selected accounts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Security &amp; Compliance — Part 1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Every feature tied to a specific regulation or standard — no vague compliance, only implemented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7" y="1115568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24h cooling-off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3124" y="1133856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FCA BCOBS 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7" y="1408176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Working-hours aware (bank holidays skipped). Live progress bar refreshes every 30s. Cancellable. Triggered automatically on Any-1 accounts.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07608" y="1024128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07608" y="1024128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4768" y="1115568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Dual-authorisation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36684" y="1133856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PSR 2017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1408176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Any-1 / Any-2 / All per account. getMandateFor() picks strictest rule. Co-signer notified. 48-hour sign window. Stalled escalation to RM.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4048" y="2176272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2176272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7" y="2267712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KYC / KYB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13124" y="2286000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MLR 2017 / JMLSG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7" y="2560320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GOV.UK One Login List 1 photo ID. Address List 2. Trading address List 3. Sanctions, PEP, adverse media, visa status checks. Document expiry tracking.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07608" y="2176272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07608" y="2176272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44768" y="2267712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Audit trail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6684" y="2286000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FCA SYSC 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4768" y="2560320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7-year retention. Append-only — no edits or deletes. Every workflow step, sign event, rejection, and system alert. Actor name + timestamp on every entry.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3328416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84048" y="3328416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1207" y="3419856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MTD compliance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13124" y="3438144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HMRC MTD VAT / ITSA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1207" y="3712464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Digital links maintained. 6-year records. HMRC MTD VAT API v1.0 recognised software. VAT100 direct submission. Receipt scan closes manual-entry gap.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07608" y="3328416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007608" y="3328416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44768" y="3419856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Confirmation of Payee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36684" y="3438144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PSR SI 2019/1215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44768" y="3712464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Pre-payment account name verification. Mismatch warning shown before proceeding. Explicit user override required — cannot be skipped silently.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4480560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84048" y="4480560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1207" y="4572000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Accessibility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13124" y="4590288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WCAG 2.1 AA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1207" y="4864608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focus-visible:ring on every interactive element. Contrast ≥4.5:1 throughout. Tabular-nums on all monetary amounts. ARIA labels where needed. No bare focus:outline-none.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07608" y="4480560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007608" y="4480560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44768" y="4572000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Partner unreachable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36684" y="4590288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FCA Consumer Duty PS22/9 / BCOBS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44768" y="4864608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Documented contact attempts. Evidence upload. 4-path regulatory branching: health/welfare, no contact, deceased/probate, dispute. Specialist team referral. Account restriction.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84048" y="5632704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84048" y="5632704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21207" y="5724144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Personal/business separation (app)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13124" y="5742432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GDPR Art.5(1)(c)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1207" y="6016752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personalLinked state removes personal section from JSX render tree — not CSS visibility, not display:none. Actual data removal, not visual hiding.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07608" y="5632704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007608" y="5632704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144768" y="5724144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Personal/business separation (call centre)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136684" y="5742432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GDPR Art.5(1)(c)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144768" y="6016752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unlinkAllChannels toggle triggers CRM back-office update ref REL-2026-0291. CLI lookup excludes personal accounts. Explicit 2-working-day SLA disclosed.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Security &amp; Compliance — Part 2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Advanced features: biometric authentication, intelligent session monitoring, and real-time notification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7" y="1115568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Postal statement separation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3124" y="1133856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GDPR Art.5(1)(c)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7" y="1408176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unlinkPostal toggle — separate delivery preference per channel. Personal statements excluded from business delivery address. Explicit per-channel granularity.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07608" y="1024128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07608" y="1024128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4768" y="1115568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Credit ring-fence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36684" y="1133856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GDPR Art.5(1)(c) / ICO LIA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1408176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Formal written instruction persisted in state. Personal account history permanently excluded from business loan and overdraft underwriting. State survives session.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4048" y="2139696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2139696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7" y="2231136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PSD2 consent audit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13124" y="2249424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PSD2 RTS Art.29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7" y="2523744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OBSheet shows all third-party consents with scope, purpose, and expiry date. Flags personal data exposure (Funding Circle). Revocation within 90 seconds per RTS requirement.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07608" y="2139696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07608" y="2139696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44768" y="2231136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Receipt scan → MTD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6684" y="2249424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HMRC MTD digital links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4768" y="2523744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Simulated OCR: scan receipt → extract merchant, amount, VAT rate, category, reference → match to open transaction. Closes the manual-entry gap in the digital links chain.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3255264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84048" y="3255264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1207" y="3346704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Voice ID biometric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13124" y="3364992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PSD2 RTS Art.4(30) · GDPR Art.9 · NIST SP 800-63B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1207" y="3639312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3-phrase voice enrolment with GDPR Art.9 special-category consent gate. Active across app, phone banking, and video call channels. Anti-spoofing: liveness + voice clone detection. voiceIdEnrolled persists.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07608" y="3255264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007608" y="3255264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44768" y="3346704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SCA step-up matrix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36684" y="3364992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PSD2 RTS Art.97 · FCA PS19/4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44768" y="3639312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6-tier dynamic authentication: device passkey → biometric fingerprint → Voice ID → Voice ID + co-sig → Voice ID + cooling-off → all three combined. Interactive table in VoiceIdSheet.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4370832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84048" y="4370832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1207" y="4462272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Session anomaly detection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13124" y="4480560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FCA SYSC 10A · PSD2 RTS Art.2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1207" y="4754880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Dismissible amber banner on HomeScreen. New device/location login alert. Two CTAs: 'That was me' (dismisses and confirms) or 'Review activity' (navigates to Audit tab). Logged to audit trail.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07608" y="4370832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007608" y="4370832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44768" y="4462272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Supplier risk radar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36684" y="4480560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Companies House filing obligations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44768" y="4754880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5 key suppliers shown with CH registration, last filed date, days overdue, annual spend, and RAG risk badge. Red = &gt;180 days overdue, Amber = 90–180 days, Green = current. Links to CH API.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396996" y="5486400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396996" y="5486400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534156" y="5577840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Live notification bell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26072" y="5596128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FCA SYSC 10A · PSD2 RTS Art.2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534156" y="5870448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Bell icon (desktop header + mobile header) opens NotificationsSheet. Shows: session anomaly alert with CTAs, unsigned pending approvals with Sign-tab navigation, cooling-off progress bars, stalled co-signer escalations. Badge dot while anomaly or approvals exist.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Home Screen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Eight features that go beyond banking — proactive intelligence surfaced directly on the dashboard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15568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Pre-approved Lending Offer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42646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Hero card — £45,000 offer surfaced proactively on home screen. Based on 6-month transaction history, reserve balance, and payment record. 3-step draw-down in-app. Replaced by active loan summary after draw-down. lendingCompleted persists.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07608" y="102412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07608" y="102412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2200" y="1115568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13-Week Cash Flow Forecast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142646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SVG bar chart (forecastWeeks useMemo) — 13 weekly balance projections computed from known direct debits, payroll cycles, VAT commitments, and income patterns. Amber warning line at £80k. Actionable nudge when threshold breached.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230428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84048" y="230428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395728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Business Health Score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70662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Circular SVG gauge (0–100) computed live from 5 weighted factors: liquidity 0–20, tax compliance 0–20, cash flow headroom 0–20, payroll ratio 0–20, mandate health 0–20. Each factor shown as a colour-coded progress bar. Grade A–D. healthScore useMemo refreshes on accounts/payees/forecast changes.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07608" y="230428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07608" y="230428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72200" y="2395728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Supplier Risk Radar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2200" y="270662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5 key counterparties shown with Companies House registration number, last filing date, days overdue, and annual spend. Red (&gt;180d overdue), Amber (90–180d), Green (current). Critical badge if any supplier in red. SUPPLIER_RISK static data. Links to CH API.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4048" y="358444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84048" y="358444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3675887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Director Command Centre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398678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2×2 governance grid showing all 4 signatories. Per-director: initials avatar, role title, KYC verification status, last-active timestamp, pending action count (red badge). One tap navigates to full Signature Queue.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07608" y="358444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007608" y="358444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72200" y="3675887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Voice Memo → MTD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2200" y="398678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Tap-to-record expense entry — no typing required. 1.8s simulated transcription extracts merchant, amount, VAT rate, category, and reference. One-tap confirm posts to MTD ledger and audit trail. voiceMemoAdded Set tracks confirmed entries per session.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84048" y="4864607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84048" y="4864607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4956047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Smart Payment Sequencer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526694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30-day balance outlook SVG bar chart with daily projections and £80k risk threshold line. 7 scheduled payments with type colour-coding (tax/fixed/supplier). Optimise button reschedules discretionary payments to maximise minimum balance. Locked payments (tax, rent) never moved.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07608" y="4864607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007608" y="4864607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72200" y="4956047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Voice ID Biometric Setup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72200" y="526694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3-phrase voice enrolment with GDPR Art.9 special-category consent gate displayed on first entry. Cross-channel status: app, phone banking, video call. Anti-spoofing badge. SCA step-up matrix (6 tiers, PSD2 RTS Art.97). voiceIdEnrolled persists.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Ships Company — Agent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Six slash-command officers built into Claude Code — each specialist enforces a discipline before every commit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51560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51560"/>
            <a:ext cx="54864" cy="138988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051560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" y="1252728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C8102E"/>
                </a:solidFill>
                <a:latin typeface="Calibri"/>
              </a:rPr>
              <a:t>/xo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691639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Commander (XO)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56816" y="1161288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56816" y="1399031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Architecture quality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Hook discipline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Single-file mandate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Pattern enforcement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closeWorkflow() invariant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0216" y="1051560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0216" y="1051560"/>
            <a:ext cx="54864" cy="138988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55079" y="1051560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1383" y="1252728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DC2626"/>
                </a:solidFill>
                <a:latin typeface="Calibri"/>
              </a:rPr>
              <a:t>/security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1383" y="1691639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Lt Cdr Security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72983" y="1161288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72983" y="1399031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XSS scan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Secrets scan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focus:outline-none audit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PII check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dangerouslySetInnerHTML check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4048" y="2587752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84048" y="2587752"/>
            <a:ext cx="54864" cy="138988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8912" y="2587752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5216" y="2788920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1D4ED8"/>
                </a:solidFill>
                <a:latin typeface="Calibri"/>
              </a:rPr>
              <a:t>/engineer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6" y="3227832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Lt Cdr Engineer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56816" y="2697480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56816" y="2935224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Bundle analysis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React performance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key props check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tick interval guard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Vite config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CSS delivery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0216" y="2587752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00216" y="2587752"/>
            <a:ext cx="54864" cy="138988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55079" y="2587752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01383" y="2788920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D97706"/>
                </a:solidFill>
                <a:latin typeface="Calibri"/>
              </a:rPr>
              <a:t>/bosun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01383" y="3227832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Lieutenant Bosun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72983" y="2697480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72983" y="2935224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Spacing scale violations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Colour token violations (stone not gray)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CTA hierarchy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Shadow system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Empty states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84048" y="4123944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84048" y="4123944"/>
            <a:ext cx="54864" cy="138988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12" y="4123944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16" y="4325112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059669"/>
                </a:solidFill>
                <a:latin typeface="Calibri"/>
              </a:rPr>
              <a:t>/signals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16" y="4764024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Lieutenant Signals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56816" y="4233672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56816" y="4471416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State signal integrity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useMemo dependency audit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Direct mutation safety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Cooling system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API contracts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00216" y="4123944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300216" y="4123944"/>
            <a:ext cx="54864" cy="138988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55079" y="4123944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01383" y="4325112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1C1917"/>
                </a:solidFill>
                <a:latin typeface="Calibri"/>
              </a:rPr>
              <a:t>/ship-ready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01383" y="4764024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All stations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872983" y="4233672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72983" y="4471416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7-station pre-commit checklist — GREEN/AMBER/RED per station. A single RED means the ship stands down and fixes first.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84048" y="5751575"/>
            <a:ext cx="11420856" cy="493776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66928" y="5824727"/>
            <a:ext cx="3200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D6D3D1"/>
                </a:solidFill>
                <a:latin typeface="Calibri"/>
              </a:rPr>
              <a:t>Settings — .claude/settings.json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928" y="6007607"/>
            <a:ext cx="640080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Allow: npm run dev/build/preview · git push/add/commit/status/diff/log/branch · python3 · node · npx vite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15200" y="5916167"/>
            <a:ext cx="457200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FCA5A5"/>
                </a:solidFill>
                <a:latin typeface="Calibri"/>
              </a:rPr>
              <a:t>Deny: rm -rf · git push --force · chmod 777 · curl|bash · eval · exec</a:t>
            </a:r>
          </a:p>
        </p:txBody>
      </p:sp>
      <p:sp>
        <p:nvSpPr>
          <p:cNvPr id="53" name="Rectangle 5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Reference Library — 1701-uniform/REFERENCE.md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23,846 lines · 112 sections · 121 books &amp; regulatory documents · §100–112 UX, Node.js, TypeScript, C++, financial crime &amp; ML detection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2788920" cy="5303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1042415"/>
            <a:ext cx="278892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23,846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1371600"/>
            <a:ext cx="27889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FEF2F2"/>
                </a:solidFill>
                <a:latin typeface="Calibri"/>
              </a:rPr>
              <a:t>lines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28416" y="1024128"/>
            <a:ext cx="2788920" cy="5303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28416" y="1042415"/>
            <a:ext cx="278892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28416" y="1371600"/>
            <a:ext cx="27889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FEF2F2"/>
                </a:solidFill>
                <a:latin typeface="Calibri"/>
              </a:rPr>
              <a:t>sections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72784" y="1024128"/>
            <a:ext cx="2788920" cy="5303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4" y="1042415"/>
            <a:ext cx="278892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2784" y="1371600"/>
            <a:ext cx="27889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FEF2F2"/>
                </a:solidFill>
                <a:latin typeface="Calibri"/>
              </a:rPr>
              <a:t>books &amp; docs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17152" y="1024128"/>
            <a:ext cx="2788920" cy="5303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17152" y="1042415"/>
            <a:ext cx="278892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70+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17152" y="1371600"/>
            <a:ext cx="27889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FEF2F2"/>
                </a:solidFill>
                <a:latin typeface="Calibri"/>
              </a:rPr>
              <a:t>quick answers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" y="1664208"/>
            <a:ext cx="5532120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" y="1691640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Core Development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67528" y="1700784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§1–22, §91, §104–106, §110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" y="1901952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" y="1938528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Python · SQL · FastAPI · Docker · Git · React/JS · JWT · HTTP · Linux · pytest · System Design (King) · Node.js · TypeScript (Pocock) · A Tour of C++ (Stroustrup)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4048" y="2560320"/>
            <a:ext cx="5532120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5488" y="2587751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AI &amp; Prompt Engineering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67528" y="2596896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§20, §23–25, §58–65, §72–74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2798063"/>
            <a:ext cx="553212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5488" y="2834639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Claude · AI Agents · Copilot · ChatGPT · AI Content Creation · Surveillance AI · Dynamics 365 AI · 600+ prompts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84048" y="3456432"/>
            <a:ext cx="5532120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5488" y="3483864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Banking · Payments · Regulation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67528" y="3493008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§35–41, §66–70, §84, §86–88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84048" y="3694176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5488" y="3730752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PSD2 · FPS/BACS/CHAPS/SWIFT · PSR · FCA Consumer Duty · AML · Ring-Fencing · SCA · BCOBS · FCA Compliance · UK Resolution · Post-Trade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84048" y="4352544"/>
            <a:ext cx="5532120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488" y="4379976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Prudential · Conduct · Financial Crime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67528" y="4389120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§36–40, §87–88, §97, §107–108, §112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4590288"/>
            <a:ext cx="553212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5488" y="4626864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PRA/PRC · Resolution · MREL · Senior Managers Regime (Berman) · Financial Shenanigans (Schilit) · Fraud Act (Monaghan) · ML Fraud Detection (Ma &amp; Wu)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84048" y="5248656"/>
            <a:ext cx="5532120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75488" y="5276088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Data Protection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67528" y="5285232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§75, §77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84048" y="5486400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5488" y="5522976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GDPR/DPDI/Marketing AI (Scheuing, Kogan Page 2024) · GDPR for Startups (Martin, Edward Elgar 2023)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08192" y="1664208"/>
            <a:ext cx="5532120" cy="23774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99631" y="1691640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UI · Frontend · Design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091672" y="1700784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§11, §26, §42, §50–56, §78–81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08192" y="1901952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99631" y="1938528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React/JS patterns · Refactoring UI · Tailwind CSS v3 (×3 books) · CSS Animation · Vite/TS · React 19 · React Hooks (Larsen) · UX · Photoshop · KiCad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108192" y="2560320"/>
            <a:ext cx="5532120" cy="23774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99631" y="2587751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Office, Docs &amp; Publishing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091672" y="2596896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§27–33, §64–65, §76, §92, §94–96, §98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08192" y="2798063"/>
            <a:ext cx="553212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99631" y="2834639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Power Teams · Power BI · PowerPoint (×3) · SharePoint · Dynamics 365 BC AL · Azure AI-102 · LibreOffice · KDP · PDF→EPUB · Mastering Prezi (Anderson-Williams)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08192" y="3456432"/>
            <a:ext cx="5532120" cy="23774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99631" y="3483864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UX · Accessibility · Equality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091672" y="3493008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§34, §99–103, §111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08192" y="3694176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199631" y="3730752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Equality Act 2010 · WCAG 2.1 contrast (4.5:1) · WebAIM/CCA · UX Management (Binder) · Design Thinking (Park) · UX Research (Schmidt) · Pro UX &amp; Accessibility Designer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108192" y="4352544"/>
            <a:ext cx="5532120" cy="23774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199631" y="4379976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Electronics · Hardware · Engineering Design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091672" y="4389120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§43–49, §54, §57, §89, §93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108192" y="4590288"/>
            <a:ext cx="553212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199631" y="4626864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MakerSpace · Electronics · Mechatronics · Digital Logic · Arduino/IoT · Embedded Linux · ISO GD&amp;T (Green) · CAMSS Materials Selection (NMAB-467)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108192" y="5248656"/>
            <a:ext cx="5532120" cy="23774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199631" y="5276088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Digital Banking Transformation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091672" y="5285232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§82, §83, §85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08192" y="5486400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199631" y="5522976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DBS World's Best Bank (Speculand) · The Autonomous Bank AI/ML (Dhillon) · TMRW Digital Bank Build (Khoo/UOB) · Quick Lookup Decision Index</a:t>
            </a:r>
          </a:p>
        </p:txBody>
      </p:sp>
      <p:sp>
        <p:nvSpPr>
          <p:cNvPr id="69" name="Rectangle 6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Deployment &amp; Build Configuration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Single-file HTML distributed via GitHub Pages — no server, no CDN dependency, runs from a USB stick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713232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7132320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115568"/>
            <a:ext cx="36576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GitHub 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444752"/>
            <a:ext cx="676656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C8102E"/>
                </a:solidFill>
                <a:latin typeface="Calibri"/>
              </a:rPr>
              <a:t>Live · imscots-ui.github.io/santander/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783080"/>
            <a:ext cx="6858000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1837943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Branch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12848" y="1837943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gh-pages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084831"/>
            <a:ext cx="685800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6" y="2139696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Contents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12848" y="2139696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index.html (832KB) + .nojekyll + vercel.json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2386584"/>
            <a:ext cx="6858000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6" y="2441448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Build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12848" y="2441448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Vite 5 + vite-plugin-singlefile — all JS/CSS/fonts inlined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2688336"/>
            <a:ext cx="685800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" y="2743200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Gzip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12848" y="2743200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181.99 KB — fast first load even on 3G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2990088"/>
            <a:ext cx="6858000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" y="3044952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Key fix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12848" y="3044952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DOMContentLoaded listener — singlefile inlines JS into &lt;head&gt; as plain &lt;script&gt; (no defer)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291840"/>
            <a:ext cx="685800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6656" y="3346704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Mirror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12848" y="3346704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Vercel — santander-g671k7hgb-imscots-uis-projects.vercel.app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699248" y="1024128"/>
            <a:ext cx="411480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699248" y="1024128"/>
            <a:ext cx="4114800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82127" y="1115568"/>
            <a:ext cx="36576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1" i="0">
                <a:solidFill>
                  <a:srgbClr val="1C1917"/>
                </a:solidFill>
                <a:latin typeface="Calibri"/>
              </a:rPr>
              <a:t>vite.config.js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882127" y="1435608"/>
            <a:ext cx="3867912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91855" y="1490472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Plugin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53728" y="1490472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vite-plugin-singlefile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882127" y="1737360"/>
            <a:ext cx="386791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91855" y="1792224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Target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53728" y="1792224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esnext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882127" y="2039112"/>
            <a:ext cx="3867912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91855" y="2093976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Output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53728" y="2093976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dist/index.html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882127" y="2340864"/>
            <a:ext cx="386791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91855" y="2395728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Size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53728" y="2395728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832 KB · 182 KB gzip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882127" y="2642616"/>
            <a:ext cx="3867912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991855" y="2697480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Removed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53728" y="2697480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removeViteModuleLoader: true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882127" y="2944368"/>
            <a:ext cx="386791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991855" y="2999232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Why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53728" y="2999232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Strips module type → script exec order bug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84048" y="4041648"/>
            <a:ext cx="5303520" cy="23591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84048" y="4041648"/>
            <a:ext cx="5303520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6928" y="4133087"/>
            <a:ext cx="49377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1" i="0">
                <a:solidFill>
                  <a:srgbClr val="1C1917"/>
                </a:solidFill>
                <a:latin typeface="Calibri"/>
              </a:rPr>
              <a:t>npm Commands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66928" y="4425696"/>
            <a:ext cx="493776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58368" y="446227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install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06040" y="446227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Install dependencies — first time only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28" y="4700016"/>
            <a:ext cx="49377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58368" y="473659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run dev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606040" y="473659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Dev server at localhost:5173 with hot reload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6928" y="4974336"/>
            <a:ext cx="493776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58368" y="501091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run build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606040" y="501091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Production build to dist/ — 832KB HTML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66928" y="5248656"/>
            <a:ext cx="49377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58368" y="528523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run preview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606040" y="528523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Serve dist/ locally for final testing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66928" y="5522976"/>
            <a:ext cx="493776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58368" y="555955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build_deck.py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606040" y="555955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Regenerate pitch deck (16 slides)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66928" y="5797296"/>
            <a:ext cx="49377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58368" y="583387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build_architecture.py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606040" y="583387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Regenerate architecture deck (10 slides)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66928" y="6071616"/>
            <a:ext cx="493776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58368" y="610819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build_manifest.py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606040" y="610819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Regenerate this project record (14 slides)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66928" y="6345936"/>
            <a:ext cx="49377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58368" y="638251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build_complaint_guide.py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606040" y="638251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Regenerate Santander_Complaint_Guide.docx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66928" y="6620256"/>
            <a:ext cx="493776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58368" y="665683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complaint_letter_writer.py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06040" y="665683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Interactive FCA DISP letter writer (Evelyn/Angus)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870448" y="4041648"/>
            <a:ext cx="5943600" cy="23591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5870448" y="4041648"/>
            <a:ext cx="5943600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053328" y="4133087"/>
            <a:ext cx="55778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CLAUDE.md — Captain's Standing Orders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053328" y="4462272"/>
            <a:ext cx="5577840" cy="1783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Ships company command table — 6 officers with duties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5 Standing Security Orders: no bare outline-none, no dangerouslySetInnerHTML on dynamic content, no secrets in source, no git push --force, run /ship-ready before every push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Bosun's Law — spacing scale (4·8·12·16·24·32·48·64·96·128px), stone-* only, one primary CTA per view, num-tab on all monetary amounts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closeWorkflow() invariant — all new state must be reset here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Architecture constraints — no hooks inside closures, keep everything in App.jsx, single-file is intentional</a:t>
            </a:r>
          </a:p>
        </p:txBody>
      </p:sp>
      <p:sp>
        <p:nvSpPr>
          <p:cNvPr id="84" name="Rectangle 8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Presentation Deliverables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Three PowerPoint decks covering every audience — executives, technologists, and project stakeholders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3749039" cy="51023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3749039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1556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C8102E"/>
                </a:solidFill>
                <a:latin typeface="Calibri"/>
              </a:rPr>
              <a:t>Pitch Deck · 16 slides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38988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1">
                <a:solidFill>
                  <a:srgbClr val="78716C"/>
                </a:solidFill>
                <a:latin typeface="Calibri"/>
              </a:rPr>
              <a:t>Santander_Digital_Banking_Future.pptx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700784"/>
            <a:ext cx="3383280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175564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178308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178308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Title + Business Banking Advisor stamp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020824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204825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204825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Executive summary + 8 headline statistics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286000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2313432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" y="231343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The problem — 4 pain points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255117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57860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257860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What we built — 21 features (4-col grid)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281635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2843784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2843784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Privacy controls — 3-layer data separation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308152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310896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9848" y="310896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Advanced features — lending, FX, forecast, receipt scan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334670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337413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9848" y="337413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Intelligence &amp; security — 7 panels (health score, radar, director, Voice ID, sequencer, voice memo, bell)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361187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3639311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9848" y="3639311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Paperless workflows deep-dive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387705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390448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9848" y="390448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Making Tax Digital deep-dive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4142231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8" y="4169663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9848" y="4169663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&amp; compliance (4 frameworks)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40" y="440740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443484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9848" y="443484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Financial intelligence features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" y="467258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66928" y="4700016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9848" y="4700016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Technical architecture (current + production)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493775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66928" y="4965192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69848" y="496519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Business case — £137M annualised opportunity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48640" y="520293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6928" y="523036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69848" y="523036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Roadmap — 4 phases Q3 2026 → Q2 2027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48640" y="546811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66928" y="5495544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9848" y="5495544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Design system &amp; accessibility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48640" y="573328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66928" y="576072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69848" y="576072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Next steps — 3 decisions for senior management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334256" y="1024128"/>
            <a:ext cx="3749039" cy="51023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334256" y="1024128"/>
            <a:ext cx="3749039" cy="6400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498848" y="111556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D4ED8"/>
                </a:solidFill>
                <a:latin typeface="Calibri"/>
              </a:rPr>
              <a:t>Architecture Deck · 10 slides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498848" y="138988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1">
                <a:solidFill>
                  <a:srgbClr val="78716C"/>
                </a:solidFill>
                <a:latin typeface="Calibri"/>
              </a:rPr>
              <a:t>Santander_Architecture.pptx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98848" y="1700784"/>
            <a:ext cx="3383280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498848" y="175564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17136" y="178308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020056" y="178308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Cover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98848" y="2020824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17136" y="204825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020056" y="204825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Component map — current prototype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98848" y="2286000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17136" y="2313432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020056" y="231343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Data &amp; state architecture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98848" y="255117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17136" y="257860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020056" y="257860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Production system architecture (4 tiers)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98848" y="281635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17136" y="2843784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020056" y="2843784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architecture (4 domains)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98848" y="308152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17136" y="310896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20056" y="310896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Regulatory &amp; compliance framework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498848" y="334670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517136" y="337413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7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020056" y="337413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Privacy &amp; account separation architecture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498848" y="361187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517136" y="3639311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020056" y="3639311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Entity &amp; mandate logic (7 types × 3 rules)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498848" y="387705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517136" y="390448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9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020056" y="390448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API integration contracts (4 APIs)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498848" y="4142231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517136" y="4169663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020056" y="4169663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Design system tokens</a:t>
            </a:r>
          </a:p>
        </p:txBody>
      </p:sp>
      <p:sp>
        <p:nvSpPr>
          <p:cNvPr id="95" name="Rectangle 94"/>
          <p:cNvSpPr/>
          <p:nvPr/>
        </p:nvSpPr>
        <p:spPr>
          <a:xfrm>
            <a:off x="8284464" y="1024128"/>
            <a:ext cx="3749039" cy="51023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8284464" y="1024128"/>
            <a:ext cx="3749039" cy="6400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449056" y="111556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44403C"/>
                </a:solidFill>
                <a:latin typeface="Calibri"/>
              </a:rPr>
              <a:t>Project Record · 14 slides (this deck)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449056" y="138988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1">
                <a:solidFill>
                  <a:srgbClr val="78716C"/>
                </a:solidFill>
                <a:latin typeface="Calibri"/>
              </a:rPr>
              <a:t>Santander_Project_Record.pptx</a:t>
            </a:r>
          </a:p>
        </p:txBody>
      </p:sp>
      <p:sp>
        <p:nvSpPr>
          <p:cNvPr id="99" name="Rectangle 98"/>
          <p:cNvSpPr/>
          <p:nvPr/>
        </p:nvSpPr>
        <p:spPr>
          <a:xfrm>
            <a:off x="8449056" y="1700784"/>
            <a:ext cx="3383280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449056" y="175564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467344" y="178308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970264" y="178308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Cover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8449056" y="2020824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467344" y="204825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970264" y="204825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Project overview — stats, tech stack, deployment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8449056" y="2286000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8467344" y="2313432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970264" y="231343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Five screens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8449056" y="255117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8467344" y="257860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970264" y="257860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Twelve workflows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8449056" y="281635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8467344" y="2843784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970264" y="2843784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Entity types &amp; mandate rules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8449056" y="308152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8467344" y="310896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970264" y="310896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&amp; compliance — part 1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8449056" y="334670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8467344" y="337413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7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970264" y="337413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&amp; compliance — part 2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8449056" y="361187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8467344" y="3639311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8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970264" y="3639311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Home screen intelligence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8449056" y="387705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8467344" y="390448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9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8970264" y="390448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Ships company agent architecture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8449056" y="4142231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8467344" y="4169663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970264" y="4169663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Reference library (112 sections · 121 books)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8449056" y="440740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8467344" y="443484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11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8970264" y="443484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Deployment &amp; build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8449056" y="467258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8467344" y="4700016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970264" y="4700016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Presentation deliverables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8449056" y="493775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8467344" y="4965192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8970264" y="496519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Complaint handling tools (Evelyn/Angus)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449056" y="520293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467344" y="523036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970264" y="523036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Business case summary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384048" y="6236208"/>
            <a:ext cx="11420856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All decks rebuilt via python3 build_*.py — Santander brand colours throughout · Advisor credit on every slide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Complaint Handling Tools — Evelyn Workflow (Angus)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FCA DISP-compliant complaint record, letter writing, and Copilot agent — built alongside the in-app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24128"/>
            <a:ext cx="2816352" cy="4919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024128"/>
            <a:ext cx="2816352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1115568"/>
            <a:ext cx="2633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C8102E"/>
                </a:solidFill>
                <a:latin typeface="Calibri"/>
              </a:rPr>
              <a:t>Interactive Letter Writer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408176"/>
            <a:ext cx="263347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complaint_letter_writer.py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" y="1627632"/>
            <a:ext cx="2615184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" y="1682496"/>
            <a:ext cx="2615184" cy="413308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Trigger-phrase driven — Evelyn's exact workflow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Stage 1 record: 5 verbatim questions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Escalation record: 4 verbatim questions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Uphold letter: Sorry → Cause → Impact → Fix → Payment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Declined letter: Sorry → Not our fault → Reason → Explanation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Escalation: resolution changed / no change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Dual mode: complaint record + letter in one doc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Output: [REF]_[SURNAME]_[TRIGGER]_[DATE].docx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64408" y="1024128"/>
            <a:ext cx="2816352" cy="4919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64408" y="1024128"/>
            <a:ext cx="2816352" cy="6400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74136" y="1115568"/>
            <a:ext cx="2633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D4ED8"/>
                </a:solidFill>
                <a:latin typeface="Calibri"/>
              </a:rPr>
              <a:t>Complaint Reference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74136" y="1408176"/>
            <a:ext cx="263347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Santander_Complaint_Guide.docx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74136" y="1627632"/>
            <a:ext cx="2615184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74136" y="1682496"/>
            <a:ext cx="2615184" cy="413308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7 complaint types × Stage 1 + escalation scenarios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ISA Transfer Delay — 3 scenarios (upheld/declined/escalation)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Incorrect Charge / Fee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Payment Error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APP Fraud — PSR PS23/3 reimbursement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Mandate Change Error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Poor Service / Communication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Account Closure Delay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Full letter templates, interest formula, DISP table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54496" y="1024128"/>
            <a:ext cx="2816352" cy="4919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54496" y="1024128"/>
            <a:ext cx="2816352" cy="6400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224" y="1115568"/>
            <a:ext cx="2633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059669"/>
                </a:solidFill>
                <a:latin typeface="Calibri"/>
              </a:rPr>
              <a:t>Microsoft Copilot Agent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224" y="1408176"/>
            <a:ext cx="263347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Evelyn_Complaint_Agent_Angus.md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64224" y="1627632"/>
            <a:ext cx="2615184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64224" y="1682496"/>
            <a:ext cx="2615184" cy="413308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Complete system prompt for Copilot / Copilot Studio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All 9 trigger phrases with output definitions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Verbatim Stage 1 (5Q) and escalation (4Q) headings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Upheld and declined letter templates with exact language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FOS referral block — copy-exact text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Standard sign-off block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System behaviour rules (vault-ready, consistency)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Paste into Copilot custom instructions or Copilot Studio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44584" y="1024128"/>
            <a:ext cx="2816352" cy="4919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244584" y="1024128"/>
            <a:ext cx="2816352" cy="6400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54312" y="1115568"/>
            <a:ext cx="2633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44403C"/>
                </a:solidFill>
                <a:latin typeface="Calibri"/>
              </a:rPr>
              <a:t>App.jsx Workflow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54312" y="1408176"/>
            <a:ext cx="263347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In-app: renderComplaint()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354312" y="1627632"/>
            <a:ext cx="2615184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54312" y="1682496"/>
            <a:ext cx="2615184" cy="413308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4-step workflow wizard built into the prototype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Step 1: Intake — category, date, eligible complainant check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Step 2: Escalation triage — flag selection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Step 3: Denial reason (if not upheld)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Step 4: Case outcome — goodwill gesture option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Triggered from Home screen 'Log complaint' action tile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FCA DISP-compliant flow throughout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State reset in closeWorkflow() — no ghost state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" y="6108192"/>
            <a:ext cx="116128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Trigger phrases: 'evidence to support complaint stage 1' · 'Uphold - stage 1 letter' · 'Declined - stage 1 letter' · 'Escalation - resolution changed' and 5 more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91440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Business Case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0" i="1">
                <a:solidFill>
                  <a:srgbClr val="78716C"/>
                </a:solidFill>
                <a:latin typeface="Calibri"/>
              </a:rPr>
              <a:t>Phase 1 complete. Phase 2 awaiting stakeholder approval. Zero days to readiness.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60120"/>
            <a:ext cx="11064240" cy="1828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£137M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Annualised opportunity
(280,000 customers)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331720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31720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£4.9M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31720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Cost saving per 10k
customers · Year 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624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06240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40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6240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Features built
across 4 areas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80759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80759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80759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80759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Paper workflows
digitised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55279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955279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55279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55279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Paper forms
retired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82980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829800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29800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29800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Compliance
frameworks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2633472"/>
            <a:ext cx="5303520" cy="6400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2706624"/>
            <a:ext cx="16459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D6D3D1"/>
                </a:solidFill>
                <a:latin typeface="Calibri"/>
              </a:rPr>
              <a:t>Paper forms retired: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3232" y="2834640"/>
            <a:ext cx="914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CA04 — Mandate change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64592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719072" y="2834640"/>
            <a:ext cx="914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CA07 — Account closure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65176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24912" y="2834640"/>
            <a:ext cx="914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CA11 — Dormancy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730752" y="2834640"/>
            <a:ext cx="914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P17 — Bulk payment auth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66344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736592" y="2834640"/>
            <a:ext cx="914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D18 — KYC update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989320" y="2633472"/>
            <a:ext cx="5806440" cy="210312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72200" y="2706624"/>
            <a:ext cx="539496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Competitive Differentiators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72200" y="3017520"/>
            <a:ext cx="5394960" cy="1645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Only UK business bank with Voice ID biometric across app + phone + video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Only prototype with live Companies House supplier risk scoring on dashboard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Full personal/business data separation — app, call centre, post, credit — simultaneously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MTD submission from receipt scan to HMRC in under 60 seconds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Business health score — 5-factor live gauge no UK business bank currently offers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3401568"/>
            <a:ext cx="5303520" cy="42062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3474720"/>
            <a:ext cx="27432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Phase 1 — COMPLETE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91840" y="3493008"/>
            <a:ext cx="237744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A7F3D0"/>
                </a:solidFill>
                <a:latin typeface="Calibri"/>
              </a:rPr>
              <a:t>Prototype live · All features functional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7200" y="3895344"/>
            <a:ext cx="5303520" cy="42062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0080" y="3968496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Phase 2 — 0 DAYS TO READY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23360" y="3986784"/>
            <a:ext cx="16459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BFDBFE"/>
                </a:solidFill>
                <a:latin typeface="Calibri"/>
              </a:rPr>
              <a:t>Awaiting stakeholder approval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4892040"/>
            <a:ext cx="12188952" cy="1627632"/>
          </a:xfrm>
          <a:prstGeom prst="rect">
            <a:avLst/>
          </a:prstGeom>
          <a:solidFill>
            <a:srgbClr val="120F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8640" y="5074920"/>
            <a:ext cx="82296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All work completed self-initiated, out of hours, in own time.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8640" y="5413248"/>
            <a:ext cx="82296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Alan Davidson · Business Banking Advisor · Santander · June 2026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5010912"/>
            <a:ext cx="2560320" cy="6858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4800" b="1" i="0">
                <a:solidFill>
                  <a:srgbClr val="C8102E"/>
                </a:solidFill>
                <a:latin typeface="Calibri"/>
              </a:rPr>
              <a:t>£137M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235440" y="5650992"/>
            <a:ext cx="25603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annualised opportunity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