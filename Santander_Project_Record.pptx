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9144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Project Record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20440"/>
            <a:ext cx="100584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600" b="0" i="1">
                <a:solidFill>
                  <a:srgbClr val="FEF2F2"/>
                </a:solidFill>
                <a:latin typeface="Calibri"/>
              </a:rPr>
              <a:t>Digital Prototype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315968"/>
            <a:ext cx="411480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434840"/>
            <a:ext cx="6400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Author: Alan Davidson · Business Banking Advisor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Capacity: Self-initiated · Completed entirely out of hours · Own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Prototype: https://imscots-ui.github.io/santander/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Date: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79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Features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68511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68511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1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38944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38944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38944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38944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Entity types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009376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009376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9376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9376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Frameworks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 single-file React prototype — fully functional, browser-only, no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303520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App.jsx — ~5,300 lines · ~300KB source · Single React component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main screens accessible from the bottom nav / sidebar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12 step-based workflow wizards covering every key banking operation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sheet overlays for quick-access tasks (notifications, receipts, PIN, open banking, voice)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7 entity types — every compliance path forks by entity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21 features across dashboard intelligence, paperless workflows, security, and compliance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8 regulatory frameworks implemented end-to-end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WCAG 2.1 AA accessibility — focus-visible on every interactive element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No backend · No API calls · Runs from any browser as a single HTML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TECHNOLOGY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80744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1380744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18 · single-component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73352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172821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Tailwind CSS + inline brand CSS template literal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20824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7568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07568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68296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423160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423160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→ 832KB 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715768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770632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Fonts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70632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Fraunces (display) · Geist (body) · Geist Mono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39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118103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118103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GitHub Pages · gh-pages branch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10712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46557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46557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useState / useMemo / useEffect — all at App()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58184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81304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Source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1304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 · branch claude/add-claude-documentation-eaPc5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468112"/>
            <a:ext cx="2286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Live prototype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468112"/>
            <a:ext cx="59436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https://imscots-ui.github.io/santander/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468112"/>
            <a:ext cx="2194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832 KB · self-contained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15584"/>
            <a:ext cx="10972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work self-initiated · out of hours · own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The Five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All accessible from the bottom navigation bar (mobile) or sidebar (desktop)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'home'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Balance hero card — accounts, available balance, mandate badge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Business health score — live 0-100 circular SVG gauge across 5 factors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alert — new device/location security warning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13-week cash flow forecast — SVG bar chart with risk threshold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Supplier risk radar — Companies House RAG status for top 5 counterparties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Director command centre — all signatories with KYC status and pending counts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10 action tiles — quick launch for every workflow and feature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Cooling-off progress bars — live countdowns with cancel option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ID security card — enrolment status, cross-channel, SCA tiers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Relationship Manager card — Priya Desai with escalation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'approve'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Pending mandates, closures, and bulk payments awaiting your signature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Dual-authorisation: Face ID biometric sign or explicit reject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item shows initiator, amount, expiry window, and rule type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Badge count on nav tab — updates live as items are signed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Stalled requests shown with RM escalation card when co-signer misses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'statements'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6 months of transactions — chronological and by category views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Full-text counterparty search with instant results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Counterparty detail sheet — spend breakdown, transaction history, method split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PDF / CSV / Excel export with simulated download feedback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Transaction method filter: all, bank transfer, direct debit, standing order, card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Outgoing / incoming colour-coded with tabular-num amounts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13432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13432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0591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'mtd'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1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HMRC VAT and ITSA obligations with deadline countdown badges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Quarterly submission wizard — 4 steps: categorise, review, declare, submit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Auto-categorisation with confidence scoring for each transaction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VAT100 form view with all 9 boxes calculated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YTD income/expense totals and projected tax liability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ITSA readiness indicator with quarters ahead of schedule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memo integration — tap-to-record expense auto-fills to ledger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Receipt scan — OCR categorise and match to open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Twelve Workflow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Step-based overlays — each is a full multi-step process rendered on top of the main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accounts → destination CoP check → credit check → sign. 24h cooling-off on Any-1 accounts. Mandate enforcement throughout.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23944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23944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 Escalation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88536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4 regulatory branches: health/welfare, no contact, deceased/probate, dispute. Evidence upload, specialist team referral, account restriction. FCA Consumer Duty PS22/9. Case ref SVC-2026-4471.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63840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1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6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8431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 / remove / update signatories or change signing rule. Full KYC/KYB: GOV.UK One Login List 1, address List 2, trading List 3. Board minutes for clubs/charities. 7 entity type variations.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Payee book, CoP verification per payee, CSV import, one-off or monthly scheduling. Mandate enforcement: Any-1/2/All per source account.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23944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23944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8536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8536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Address, trading name, phone, email. Proof of address upload. Companies House sync notification. RM escalation for partnership renames.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63840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28431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1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1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8431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dormant account and request reactivation. FSCS notice displayed. 12-month inactivity threshold enforced.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Auto-categorise transactions (confidence score per item) → review VAT100 form → declare accuracy → HMRC API submit. Returns receipt number.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23944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23944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8536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Unlink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88536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88536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Scope confirmation → data separation notice → all-channels toggle (CRM ref REL-2026-0291, 2 working days) + postal toggle → signed declaration. Removes personal data from JSX render tree — not CSS hide.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63840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63840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28431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28431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2 steps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28431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Risk overview with GDPR Art.5(1)(c) legal basis → signed formal instruction. Personal account data permanently excluded from business credit decisioning. State persists across sessions.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84048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£45,000 offer with live monthly repayment calculator (12/24/36 months) → CCA 1974 terms and 14-day cooling-off rights → biometric confirm and draw-down. lendingCompleted state persists.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23944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123944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88536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88536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8536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Amount + currency + IBAN + beneficiary → live rate + FCA fee disclosure (Consumer Rights Act 2015) → biometric confirm. 5 currencies: EUR/USD/CHF/AUD/CAD. MLR 2017 screening flag ≥£50k. SWIFT ref to audit trail.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863840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863840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28431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Complaint Handling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28431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28431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Intake → escalation triage → denial → case outcome. FCA DISP-compliant. Eligible complainant check (DISP 2.7), escalation flag selection, denial reason, optional goodwill gesture. Triggers from Home screen Log complaint tile.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 Entity Types &amp; Mandate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compliance path diverges by entity — KYC docs, principals, authorisation rules, board minute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11475720" cy="32918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6424"/>
            <a:ext cx="201167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Entity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1106424"/>
            <a:ext cx="146303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Mandate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106424"/>
            <a:ext cx="15544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Principal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7" y="1106424"/>
            <a:ext cx="16002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Companies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106424"/>
            <a:ext cx="196596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Board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1106424"/>
            <a:ext cx="22860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Key 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380743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463039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463039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Any-1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1463039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1463039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1463039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1463039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Single principal — no co-signer ever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1783079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65375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865375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1865375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1865375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865375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(RM on rename)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1865375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Partner-unreachable path active; Any-2 if &gt;2 partners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185415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267711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2267711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7" y="2267711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7" y="2267711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Companies No.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0648" y="2267711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267711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CH reg verified; director register linked to mandate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2587752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2670048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2670048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670048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Member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670048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LLP No.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2670048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2670048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 number shown; member terminology throughout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2990087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072383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3072383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33087" y="3072383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Trustee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7" y="3072383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— Charity Comm.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648" y="3072383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3072383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All trustees must sign; Charity Commission ref shown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3392424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474720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474720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3087" y="3474720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79007" y="3474720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0648" y="3474720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474720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Full committee approval for every mandate/detail change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3794760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77056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8608" y="3877056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3087" y="3877056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7" y="3877056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0648" y="3877056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28048" y="3877056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Same as club; society terminology throughout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Any-1 = any single signatory authorises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Any-2 = any two signatories must co-sign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0840" y="4288536"/>
            <a:ext cx="27432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All = every signatory must sign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4517136"/>
            <a:ext cx="7315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getMandateFor() picks the strictest rule across selected accounts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feature tied to a specific regulation or standard — no vague compliance, only implemented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24h cooling-off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Working-hours aware (bank holidays skipped). Live progress bar refreshes every 30s. Cancellable. Triggered automatically on Any-1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Dual-authorisation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Any-1 / Any-2 / All per account. getMandateFor() picks strictest rule. Co-signer notified. 48-hour sign window. Stalled escalation to 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MLR 2017 / JMLSG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GOV.UK One Login List 1 photo ID. Address List 2. Trading address List 3. Sanctions, PEP, adverse media, visa status checks. Document expiry tracking.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SYSC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7-year retention. Append-only — no edits or deletes. Every workflow step, sign event, rejection, and system alert. Actor name + timestamp on every entry.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HMRC MTD VAT / ITSA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Digital links maintained. 6-year records. HMRC MTD VAT API v1.0 recognised software. VAT100 direct submission. Receipt scan closes manual-entry gap.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Confirmation of Payee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SI 2019/1215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Pre-payment account name verification. Mismatch warning shown before proceeding. Explicit user override required — cannot be skipped silently.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WCAG 2.1 AA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focus-visible:ring on every interactive element. Contrast ≥4.5:1 throughout. Tabular-nums on all monetary amounts. ARIA labels where needed. No bare focus:outline-none.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Consumer Duty PS22/9 / BCOBS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Documented contact attempts. Evidence upload. 4-path regulatory branching: health/welfare, no contact, deceased/probate, dispute. Specialist team referral. Account restriction.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7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(app)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312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personalLinked state removes personal section from JSX render tree — not CSS visibility, not display:none. Actual data removal, not visual hiding.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0760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0760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4768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(call centre)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668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unlinkAllChannels toggle triggers CRM back-office update ref REL-2026-0291. CLI lookup excludes personal accounts. Explicit 2-working-day SLA disclosed.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Advanced features: biometric authentication, intelligent session monitoring, and real-time 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Postal statement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unlinkPostal toggle — separate delivery preference per channel. Personal statements excluded from business delivery address. Explicit per-channel granularity.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 / ICO 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Formal written instruction persisted in state. Personal account history permanently excluded from business loan and overdraft underwriting. State survives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OBSheet shows all third-party consents with scope, purpose, and expiry date. Flags personal data exposure (Funding Circle). Revocation within 90 seconds per RTS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HMRC MTD digital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Simulated OCR: scan receipt → extract merchant, amount, VAT rate, category, reference → match to open transaction. Closes the manual-entry gap in the digital links chain.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Art.4(30) · GDPR Art.9 · NIST SP 800-63B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3-phrase voice enrolment with GDPR Art.9 special-category consent gate. Active across app, phone banking, and video call channels. Anti-spoofing: liveness + voice clone detection. voiceIdEnrolled persists.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SCA step-up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Art.97 · FCA PS19/4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6-tier dynamic authentication: device passkey → biometric fingerprint → Voice ID → Voice ID + co-sig → Voice ID + cooling-off → all three combined. Interactive table in VoiceIdSheet.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Dismissible amber banner on HomeScreen. New device/location login alert. Two CTAs: 'That was me' (dismisses and confirms) or 'Review activity' (navigates to Audit tab). Logged to audit trail.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Companies House filing obligations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5 key suppliers shown with CH registration, last filed date, days overdue, annual spend, and RAG risk badge. Red = &gt;180 days overdue, Amber = 90–180 days, Green = current. Links to CH API.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6996" y="5486400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6996" y="548640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4156" y="557784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72" y="559612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4156" y="5870448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Bell icon (desktop header + mobile header) opens NotificationsSheet. Shows: session anomaly alert with CTAs, unsigned pending approvals with Sign-tab navigation, cooling-off progress bars, stalled co-signer escalations. Badge dot while anomaly or approvals exist.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Eight features that go beyond banking — proactive intelligence surfaced directly on 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Hero card — £45,000 offer surfaced proactively on home screen. Based on 6-month transaction history, reserve balance, and payment record. 3-step draw-down in-app. Replaced by active loan summary after draw-down. lendingCompleted persists.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SVG bar chart (forecastWeeks useMemo) — 13 weekly balance projections computed from known direct debits, payroll cycles, VAT commitments, and income patterns. Amber warning line at £80k. Actionable nudge when threshold breached.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Circular SVG gauge (0–100) computed live from 5 weighted factors: liquidity 0–20, tax compliance 0–20, cash flow headroom 0–20, payroll ratio 0–20, mandate health 0–20. Each factor shown as a colour-coded progress bar. Grade A–D. healthScore useMemo refreshes on accounts/payees/forecast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760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0760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5 key counterparties shown with Companies House registration number, last filing date, days overdue, and annual spend. Red (&gt;180d overdue), Amber (90–180d), Green (current). Critical badge if any supplier in red. SUPPLIER_RISK static data. Links to CH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2×2 governance grid showing all 4 signatories. Per-director: initials avatar, role title, KYC verification status, last-active timestamp, pending action count (red badge). One tap navigates to full Signature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60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0760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 required. 1.8s simulated transcription extracts merchant, amount, VAT rate, category, and reference. One-tap confirm posts to MTD ledger and audit trail. voiceMemoAdded Set tracks confirmed entries per session.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30-day balance outlook SVG bar chart with daily projections and £80k risk threshold line. 7 scheduled payments with type colour-coding (tax/fixed/supplier). Optimise button reschedules discretionary payments to maximise minimum balance. Locked payments (tax, rent) never moved.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60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760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 Setup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3-phrase voice enrolment with GDPR Art.9 special-category consent gate displayed on first entry. Cross-channel status: app, phone banking, video call. Anti-spoofing badge. SCA step-up matrix (6 tiers, PSD2 RTS Art.97). voiceIdEnrolled persists.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Ships Company —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Six slash-command officers built into Claude Code — each specialist enforces a discipline before every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54864" cy="13898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C8102E"/>
                </a:solidFill>
                <a:latin typeface="Calibri"/>
              </a:rPr>
              <a:t>/xo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Commander (XO)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quality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Hook discipline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Single-file mandate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Pattern enforcement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216" y="1051560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79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/security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XSS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Secrets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focus:outline-none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PII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dangerouslySetInnerHTML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2587752"/>
            <a:ext cx="54864" cy="13898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/engineer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6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6816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Bundle analysis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React performance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key props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tick interval guard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Vite config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CSS delivery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0216" y="2587752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3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/bosun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Bosun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Spacing scale violations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Colour token violations (stone not gray)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CTA hierarchy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Shadow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Empty states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12394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/signals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Signals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6816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6816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State signal integrity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useMemo dependency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Direct mutation safety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Cooling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API contracts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216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0216" y="4123944"/>
            <a:ext cx="54864" cy="13898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79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1383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C1917"/>
                </a:solidFill>
                <a:latin typeface="Calibri"/>
              </a:rPr>
              <a:t>/ship-ready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3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7-station pre-commit checklist — GREEN/AMBER/RED per station. A single RED means the ship stands down and fixes first.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5751575"/>
            <a:ext cx="11420856" cy="49377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24727"/>
            <a:ext cx="3200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Settings — .claude/settings.json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007607"/>
            <a:ext cx="64008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Allow: npm run dev/build/preview · git push/add/commit/status/diff/log/branch · python3 · node · npx vite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916167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Deny: rm -rf · git push --force · chmod 777 · curl|bash · eval · 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Reference Library — 1701-uniform/REFERENCE.md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22,935 lines · 90 sections · 99 books &amp; regulatory documents · §90 complaint handling 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22,935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lines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416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28416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8416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sections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2784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books &amp; docs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7152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quick answers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1664208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Core Development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7528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§1–22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Python · SQL · FastAPI · Docker · Git · React/JS · JWT · HTTP · Linux · Security · Pydantic · async · pytest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2560320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AI &amp; Prompt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§20, §23–25, §58–65, §72–74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Claude · AI Agents · Copilot · ChatGPT · AI Content Creation · Surveillance AI · Dynamics 365 AI · 600+ prompts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3456432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Banking · Payments · Regulation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67528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§35–41, §66–70, §84, §86–88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PSD2 · FPS/BACS/CHAPS/SWIFT · PSR · FCA Consumer Duty · AML · Ring-Fencing · SCA · BCOBS · FCA Compliance · UK Resolution · Post-Trade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4352544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Prudential &amp; Market Regulation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67528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§36–40, §87–88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PRA/PRC · Basel 3.1 · SS19/13 Resolution Planning · MREL · CNRF · Deposit Aggregators · LEI/SSI · KYC Passporting · Post-Trade Task Force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5248656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Data Protection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67528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§75, §77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GDPR/DPDI/Marketing AI (Scheuing, Kogan Page 2024) · GDPR for Startups (Martin, Edward Elgar 2023)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08192" y="1664208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1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UI · Frontend · Design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91672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§11, §26, §42, §50–56, §78–81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9631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React/JS patterns · Refactoring UI · Tailwind CSS v3 (×3 books) · CSS Animation · Vite/TS · React 19 · React Hooks (Larsen) · UX · Photoshop · KiCad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08192" y="2560320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9631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Microsoft Ecosystem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91672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§27–33, §64–65, §76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Power Teams · Power BI (×2) · PowerPoint (×2) · SharePoint · Dynamics 365 BC AL · Azure AI Engineer AI-102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3456432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99631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Employment &amp; Equality Law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91672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9631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Equality Act 2010 · Nine protected characteristics · WCAG accessibility legal duty · Reasonable adjustments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08192" y="4352544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99631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Electronics · Hardware · IoT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91672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§43–49, §54, §57, §89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08192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9631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MakerSpace · Electronics · Mechatronics · Digital Logic · Devices &amp; Circuits · Arduino/IoT · Embedded Linux · ISO GD&amp;T (Green)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08192" y="5248656"/>
            <a:ext cx="5532120" cy="2377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99631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Digital Banking Transformation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91672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§82, §83, §85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99631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DBS World's Best Bank (Speculand) · The Autonomous Bank AI/ML (Dhillon) · TMRW Digital Bank Build (Khoo/UOB) · Quick Lookup Decision Index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Deployment &amp; Build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Single-file HTML distributed via GitHub Pages — no server, no CDN dependency, runs from a USB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71323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71323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15568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6766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C8102E"/>
                </a:solidFill>
                <a:latin typeface="Calibri"/>
              </a:rPr>
              <a:t>Live · imscots-ui.github.io/santander/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37943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37943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gh-pages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84831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9696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Contents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39696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index.html (832KB) + .nojekyll + vercel.json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6584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441448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2441448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— all JS/CSS/fonts inlined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688336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43200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Gzip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2743200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181.99 KB — fast first load even on 3G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90088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044952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Key 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44952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DOMContentLoaded listener — singlefile inlines JS into &lt;head&gt; as plain &lt;script&gt; (no defer)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46704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346704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Vercel — santander-g671k7hgb-imscots-uis-projects.vercel.app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024128"/>
            <a:ext cx="4114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9248" y="1024128"/>
            <a:ext cx="41148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1115568"/>
            <a:ext cx="3657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vite.config.js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1435608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5" y="149047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149047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vite-plugin-singlefile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7" y="1737360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5" y="1792224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1792224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esnext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127" y="2039112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5" y="2093976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2093976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dist/index.html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340864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1855" y="2395728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2395728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832 KB · 182 KB gzip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7" y="2642616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5" y="2697480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Removed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697480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removeViteModuleLoader: true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7" y="2944368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91855" y="299923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3728" y="299923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Strips module type → script exec order bug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4041648"/>
            <a:ext cx="53035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041648"/>
            <a:ext cx="53035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133087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npm Commands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2569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4622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install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4622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Install dependencies — first time only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70001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7365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dev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47365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Dev server at localhost:5173 with hot reload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97433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50109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50109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Production build to dist/ — 832KB HTML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24865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2852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preview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52852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Serve dist/ locally for final testing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52297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55955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build_deck.py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555955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pitch deck (16 slides)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79729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58338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build_architecture.py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06040" y="58338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architecture deck (10 slides)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607161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61081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build_manifest.py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61081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this project record (14 slides)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6928" y="634593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8368" y="63825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build_complaint_guide.py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06040" y="63825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Santander_Complaint_Guide.docx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662025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8368" y="66568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complaint_letter_writer.py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06040" y="66568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Interactive FCA DISP letter writer (Evelyn/Angus)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70448" y="4041648"/>
            <a:ext cx="594360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870448" y="4041648"/>
            <a:ext cx="59436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053328" y="4133087"/>
            <a:ext cx="55778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CLAUDE.md — Captain's Standing Orders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53328" y="4462272"/>
            <a:ext cx="5577840" cy="1783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Ships company command table — 6 officers with duties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5 Standing Security Orders: no bare outline-none, no dangerouslySetInnerHTML on dynamic content, no secrets in source, no git push --force, run /ship-ready before every push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Bosun's Law — spacing scale (4·8·12·16·24·32·48·64·96·128px), stone-* only, one primary CTA per view, num-tab on all monetary amounts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 — all new state must be reset here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constraints — no hooks inside closures, keep everything in App.jsx, single-file is intentional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Three PowerPoint decks covering every audience — executives, technologists, and project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3749039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Pitch Deck · 16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Santander_Digital_Banking_Future.pptx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Title + Business Banking Advisor stamp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Executive summary + 8 headline statistics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The problem — 4 pain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What we built — 21 features (4-col grid)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controls — 3-layer data separation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Advanced features — lending, FX, forecast, receipt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Intelligence &amp; security — 7 panels (health score, radar, director, Voice ID, sequencer, voice memo, bell)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Paperless workflows deep-dive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Making Tax Digital deep-dive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(4 frameworks)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Financial intelligence features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Technical architecture (current + production)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— £137M annualised opportunity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Roadmap — 4 phases Q3 2026 → Q2 2027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49554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" y="549554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73328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76072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" y="576072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Next steps — 3 decisions for senior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4256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34256" y="1024128"/>
            <a:ext cx="3749039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Architecture Deck · 10 slides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Santander_Architecture.pptx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98848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17136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0056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98848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0056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Component map — current prototype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98848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7136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0056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98848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17136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0056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Production system architecture (4 tiers)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98848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0056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architecture (4 domains)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8848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17136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0056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98848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17136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0056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98848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17136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0056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&amp; mandate logic (7 types × 3 rules)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98848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17136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0056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API integration contracts (4 APIs)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98848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17136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0056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tokens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84464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84464" y="1024128"/>
            <a:ext cx="3749039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49056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Project Record · 14 slides (this deck)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49056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Santander_Project_Record.pptx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49056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49056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67344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0264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49056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0264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Project overview — stats, tech stack,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49056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67344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70264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Five screens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49056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67344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70264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Twelve workflows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49056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67344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70264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types &amp; mandate rules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49056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67344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70264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49056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67344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0264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49056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67344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70264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49056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67344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0264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Ships company agent architecture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449056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67344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0264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Reference library (90 sections · §90 complaints)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49056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67344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0264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Deployment &amp; build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49056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67344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0264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449056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467344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970264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Complaint handling tools (Evelyn/Angus)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449056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467344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970264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summary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6236208"/>
            <a:ext cx="1142085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All decks rebuilt via python3 build_*.py — Santander brand colours throughout · Advisor credit on every slide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Complaint Handling Tools — Evelyn Workflow (Angus)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FCA DISP-compliant complaint record, letter writing, and Copilot agent — built alongside the in-app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24128"/>
            <a:ext cx="28163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Interactive Letter Writer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complaint_letter_writer.py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Trigger-phrase driven — Evelyn's exact workflow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Stage 1 record: 5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 record: 4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Uphold letter: Sorry → Cause → Impact → Fix → Payment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Declined letter: Sorry → Not our fault → Reason → Explanation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Escalation: resolution changed / no change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Dual mode: complaint record + letter in one doc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Output: [REF]_[SURNAME]_[TRIGGER]_[DATE].docx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4408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64408" y="1024128"/>
            <a:ext cx="281635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6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Complaint Reference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Santander_Complaint_Guide.docx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74136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74136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7 complaint types × Stage 1 + escalation scenarios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ISA Transfer Delay — 3 scenarios (upheld/declined/escalation)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Incorrect Charge / Fee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Payment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APP Fraud — PSR PS23/3 reimbursement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Mandate Change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Poor Service / Communication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Account Closure Delay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Full letter templates, interest formula, DISP table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54496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4496" y="1024128"/>
            <a:ext cx="2816352" cy="640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Microsoft Copilot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Evelyn_Complaint_Agent_Angus.md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64224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Complete system prompt for Copilot / Copilot Studio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All 9 trigger phrases with output definitions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Verbatim Stage 1 (5Q) and escalation (4Q) headings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Upheld and declined letter templates with exact language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FOS referral block — copy-exact text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Standard sign-off block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System behaviour rules (vault-ready, consistency)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Paste into Copilot custom instructions or Copilot Studio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44584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44584" y="1024128"/>
            <a:ext cx="2816352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4312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App.jsx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In-app: renderComplaint()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54312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54312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4-step workflow wizard built into the prototype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1: Intake — category, date, eligible complainant check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2: Escalation triage — flag selection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3: Denial reason (if not upheld)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4: Case outcome — goodwill gesture option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Triggered from Home screen 'Log complaint' action tile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FCA DISP-compliant flow throughout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State reset in closeWorkflow() — no ghost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108192"/>
            <a:ext cx="11612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Trigger phrases: 'evidence to support complaint stage 1' · 'Uphold - stage 1 letter' · 'Declined - stage 1 letter' · 'Escalation - resolution changed' and 5 more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91440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Case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78716C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6424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Annualised opportunity
(280,000 customers)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Cost saving per 10k
customers · 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Features built
across 4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5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forms
retired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Compliance
frameworks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33472"/>
            <a:ext cx="5303520" cy="6400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70662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Paper forms retired: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CA04 — Mandate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907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CA07 — Account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CA11 — Dormancy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P17 — Bulk payment auth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D18 — KYC update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633472"/>
            <a:ext cx="5806440" cy="21031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2706624"/>
            <a:ext cx="53949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Competitive Differentiators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017520"/>
            <a:ext cx="539496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UK business bank with Voice ID biometric across app + phone + video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prototype with live Companies House supplier risk scoring on dashboard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Full personal/business data separation — app, call centre, post, credit — simultaneously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MTD submission from receipt scan to HMRC in under 60 seconds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Business health score — 5-factor live gauge no UK business bank currently offers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401568"/>
            <a:ext cx="530352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474720"/>
            <a:ext cx="27432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493008"/>
            <a:ext cx="23774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A7F3D0"/>
                </a:solidFill>
                <a:latin typeface="Calibri"/>
              </a:rPr>
              <a:t>Prototype live · All features functional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895344"/>
            <a:ext cx="530352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3968496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398678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BFDBFE"/>
                </a:solidFill>
                <a:latin typeface="Calibri"/>
              </a:rPr>
              <a:t>Awaiting stakeholder approval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92040"/>
            <a:ext cx="12188952" cy="1627632"/>
          </a:xfrm>
          <a:prstGeom prst="rect">
            <a:avLst/>
          </a:prstGeom>
          <a:solidFill>
            <a:srgbClr val="12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074920"/>
            <a:ext cx="8229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work completed self-initiated, out of hours, in own time.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413248"/>
            <a:ext cx="8229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Alan Davidson · Business Banking Advisor · Santander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5010912"/>
            <a:ext cx="256032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4800" b="1" i="0">
                <a:solidFill>
                  <a:srgbClr val="C8102E"/>
                </a:solidFill>
                <a:latin typeface="Calibri"/>
              </a:rPr>
              <a:t>£137M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50992"/>
            <a:ext cx="25603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