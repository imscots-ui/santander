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19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santander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548640"/>
            <a:ext cx="2377440" cy="4112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286000"/>
            <a:ext cx="10000000" cy="9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What Changed — July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520440"/>
            <a:ext cx="9600000" cy="7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D6D3D1"/>
                </a:solidFill>
              </a:rPr>
              <a:t>Everything that moved on the Business Banking prototype since the June review — product, compliance, brand and the board pack.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17920"/>
            <a:ext cx="6000000" cy="36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July 2026  · 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6784848"/>
          </a:xfrm>
          <a:prstGeom prst="rect">
            <a:avLst/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C0000"/>
                </a:solidFill>
              </a:rPr>
              <a:t>SINCE THE JUNE 2026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4800" y="91152"/>
            <a:ext cx="7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472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1917"/>
                </a:solidFill>
              </a:rPr>
              <a:t>Since the last review — at a glance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7600" cy="36576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Product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Workflows: 11 → 17 — six new end-to-end paperless journeys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5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Features: 21 → 36 across the four product categories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89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Quality &amp; compliance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39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WCAG 2.1 AA contrast pass — 54 issues resolved to 0 on the core screens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2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Runtime drive-through: 20/20 automated checks, with an axe audit on every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81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Brand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31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Official Santander brand kit adopted from the guidelines — red, full palette, typefaces, logo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785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Board pack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4135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New one-page Executive Brief; Technical Report &amp; Position Paper rebuilt to v2.0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6217920"/>
            <a:ext cx="11277600" cy="457200"/>
          </a:xfrm>
          <a:prstGeom prst="rect">
            <a:avLst/>
          </a:prstGeom>
          <a:solidFill>
            <a:srgbClr val="F1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6317920"/>
            <a:ext cx="66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Baseline: the frozen 'What Changed — June 2026' record. This deck covers everything since.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34800" y="6317920"/>
            <a:ext cx="4318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C0000"/>
                </a:solidFill>
              </a:rPr>
              <a:t>INTERNAL · CONFIDENTIAL   ·   A. Davidson · July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5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01  Product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52044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703320"/>
            <a:ext cx="96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Six new workflows and a truthful feature count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6784848"/>
          </a:xfrm>
          <a:prstGeom prst="rect">
            <a:avLst/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C0000"/>
                </a:solidFill>
              </a:rPr>
              <a:t>SINCE THE JUNE 2026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4800" y="91152"/>
            <a:ext cx="7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472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1917"/>
                </a:solidFill>
              </a:rPr>
              <a:t>Six new workflows  (11 → 17)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7600" cy="36576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Added this cycle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Payment dispute &amp; chargeback — provisional refund; fraud / DD-Guarantee routes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5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International beneficiary onboarding — IBAN/SWIFT validation, sanctions screening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3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Balance certificate — sealed proof of balance, issued instantly (no postal wait)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11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Trusted devices &amp; sessions — SCA-protected sign-out and device revocation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99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Complaint handling — FCA DISP intake → triage → outcome, with FOS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88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Standing orders &amp; Direct Debits — self-serve set-up and cancellation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1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91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Every routine business-banking service event now has a paperless path — seventeen in total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217920"/>
            <a:ext cx="11277600" cy="457200"/>
          </a:xfrm>
          <a:prstGeom prst="rect">
            <a:avLst/>
          </a:prstGeom>
          <a:solidFill>
            <a:srgbClr val="F1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6317920"/>
            <a:ext cx="66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App.jsx · renderDispute / renderBeneficiary / renderCertificate / renderTrusted / renderComplaint / renderRecurring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4800" y="6317920"/>
            <a:ext cx="4318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C0000"/>
                </a:solidFill>
              </a:rPr>
              <a:t>INTERNAL · CONFIDENTIAL   ·   A. Davidson · July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6784848"/>
          </a:xfrm>
          <a:prstGeom prst="rect">
            <a:avLst/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C0000"/>
                </a:solidFill>
              </a:rPr>
              <a:t>SINCE THE JUNE 2026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4800" y="91152"/>
            <a:ext cx="7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5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472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1917"/>
                </a:solidFill>
              </a:rPr>
              <a:t>Feature set  (21 → 36)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7600" cy="36576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What changed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The pitch deck's feature grid was rebuilt to reflect what has actually shipped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5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Fifteen intelligence, workflow and security features were previously undocumented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3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e.g. balance certificate, beneficiary screening, dispute triage, trusted devices, ID 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Why it matters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2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The headline number now matches the build — no gap between the claim and the product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5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Every current-state figure across app, decks, reports and docs traces to a single source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217920"/>
            <a:ext cx="11277600" cy="457200"/>
          </a:xfrm>
          <a:prstGeom prst="rect">
            <a:avLst/>
          </a:prstGeom>
          <a:solidFill>
            <a:srgbClr val="F1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317920"/>
            <a:ext cx="66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Santander_Digital_Banking_Future.pptx s5 · Santander_Project_Record.pptx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4800" y="6317920"/>
            <a:ext cx="4318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C0000"/>
                </a:solidFill>
              </a:rPr>
              <a:t>INTERNAL · CONFIDENTIAL   ·   A. Davidson · July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5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02  Quality &amp;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52044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703320"/>
            <a:ext cx="96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Accessibility proven, not asserted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6784848"/>
          </a:xfrm>
          <a:prstGeom prst="rect">
            <a:avLst/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C0000"/>
                </a:solidFill>
              </a:rPr>
              <a:t>SINCE THE JUNE 2026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4800" y="91152"/>
            <a:ext cx="7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7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472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1917"/>
                </a:solidFill>
              </a:rPr>
              <a:t>Accessibility — WCAG 2.1 AA contrast pass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7600" cy="36576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54 colour-contrast failures across screens — small grey text on warm and red surfaces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5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Contrast was assumed from the palette, never measured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89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After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39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0 actionable violations on the core screens; text tokens moved to AA-compliant shades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2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An automated axe audit now runs on every build — regressions are caught, not shipped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81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Why it matters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31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A bank's digital estate must meet WCAG 2.1 AA; this makes conformance demonstrable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11277600" cy="457200"/>
          </a:xfrm>
          <a:prstGeom prst="rect">
            <a:avLst/>
          </a:prstGeom>
          <a:solidFill>
            <a:srgbClr val="F1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17920"/>
            <a:ext cx="66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scripts/verify-flows.mjs · axe-core · every core screen re-measured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4800" y="6317920"/>
            <a:ext cx="4318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C0000"/>
                </a:solidFill>
              </a:rPr>
              <a:t>INTERNAL · CONFIDENTIAL   ·   A. Davidson · July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6784848"/>
          </a:xfrm>
          <a:prstGeom prst="rect">
            <a:avLst/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C0000"/>
                </a:solidFill>
              </a:rPr>
              <a:t>SINCE THE JUNE 2026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4800" y="91152"/>
            <a:ext cx="7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8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472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1917"/>
                </a:solidFill>
              </a:rPr>
              <a:t>Runtime verification harness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7600" cy="36576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What was added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The built app is launched headless (Chromium) and driven through every workflow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5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The sign-and-send flow and all accordion actions are exercised as a user would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3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A deck-render + full-height screenshot pipeline now catches slide overflow before it 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77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Result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2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20/20 checks pass, including the WCAG audit — behaviour is proven on every build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5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Two renderer blind spots (clipped overflow; under-painted screenshots) found and closed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217920"/>
            <a:ext cx="11277600" cy="457200"/>
          </a:xfrm>
          <a:prstGeom prst="rect">
            <a:avLst/>
          </a:prstGeom>
          <a:solidFill>
            <a:srgbClr val="F1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317920"/>
            <a:ext cx="66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scripts/verify-flows.mjs · scripts/deck_shot.py · scripts/deck-qa.py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4800" y="6317920"/>
            <a:ext cx="4318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C0000"/>
                </a:solidFill>
              </a:rPr>
              <a:t>INTERNAL · CONFIDENTIAL   ·   A. Davidson · July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5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03  Brand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52044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703320"/>
            <a:ext cx="96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The genuine article, from the guidelines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6784848"/>
          </a:xfrm>
          <a:prstGeom prst="rect">
            <a:avLst/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C0000"/>
                </a:solidFill>
              </a:rPr>
              <a:t>SINCE THE JUNE 2026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4800" y="91152"/>
            <a:ext cx="7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10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472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1917"/>
                </a:solidFill>
              </a:rPr>
              <a:t>Official Santander brand kit adopted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7600" cy="36576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From the Basic Guidelines for Santander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Santander Red #EC0000 (Pantone 485 C) — replaces the earlier #DA291C / #c8102e approximations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5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Full palette: Boston, London, Madrid, Mexico City, Rio and Lisbon; Lisbon is the page background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23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Typefaces named — Santander Text / Headline / Logo (Geist as the open fallback)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311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Official flame logo in red, white and black; correct clear-space and minimum sizes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665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Accessibility-safe &amp; applied everywhere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015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Small red text uses Boston #CC0000 for AA contrast; verified against the palette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303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Applied across the app, all five decks, both reports and the logo files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11277600" cy="457200"/>
          </a:xfrm>
          <a:prstGeom prst="rect">
            <a:avLst/>
          </a:prstGeom>
          <a:solidFill>
            <a:srgbClr val="F1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17920"/>
            <a:ext cx="66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DECISIONS.md · CITATIONS.md · brand/ · verified via axe on the new palette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4800" y="6317920"/>
            <a:ext cx="4318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C0000"/>
                </a:solidFill>
              </a:rPr>
              <a:t>INTERNAL · CONFIDENTIAL   ·   A. Davidson · July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0500000" cy="8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04  Board Pack &amp; Accuracy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520440"/>
            <a:ext cx="2286000" cy="274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703320"/>
            <a:ext cx="9600000" cy="5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One consistent, board-ready set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6784848"/>
          </a:xfrm>
          <a:prstGeom prst="rect">
            <a:avLst/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C0000"/>
                </a:solidFill>
              </a:rPr>
              <a:t>SINCE THE JUNE 2026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4800" y="91152"/>
            <a:ext cx="7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12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472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1917"/>
                </a:solidFill>
              </a:rPr>
              <a:t>New &amp; refreshed deliverables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7600" cy="36576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New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One-page Executive Brief — the ask, the numbers and the evidence base (board pre-read)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Rebuilt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51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Technical Report &amp; Position Paper at v2.0 — senior-management register, real citations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39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Clean-room content: original structure, no third-party derivation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93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Refreshed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43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All decks trued to 17 workflows / 36 features; dates advanced to July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31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Illegible regulation-tag pills fixed; covers and stat tiles corrected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11277600" cy="457200"/>
          </a:xfrm>
          <a:prstGeom prst="rect">
            <a:avLst/>
          </a:prstGeom>
          <a:solidFill>
            <a:srgbClr val="F1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17920"/>
            <a:ext cx="66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Santander_Executive_Brief.pdf · *_Technical_Report / *_Position_Paper (v2.0)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4800" y="6317920"/>
            <a:ext cx="4318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C0000"/>
                </a:solidFill>
              </a:rPr>
              <a:t>INTERNAL · CONFIDENTIAL   ·   A. Davidson · July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6784848"/>
          </a:xfrm>
          <a:prstGeom prst="rect">
            <a:avLst/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C0000"/>
                </a:solidFill>
              </a:rPr>
              <a:t>SINCE THE JUNE 2026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4800" y="91152"/>
            <a:ext cx="7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13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472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1917"/>
                </a:solidFill>
              </a:rPr>
              <a:t>What has NOT changed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7600" cy="36576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Still a single App.jsx (~7,400 lines) — no modularisation; deliberate and documented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801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Product invariants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51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All 17 workflows intact; all 7 entity types with correct mandate and compliance divergence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39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Front-end only — no backend, no real data, no live connections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793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Deployment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143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GitHub Pages, unchanged — imscots-ui.github.io/santander — runs from any browser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217920"/>
            <a:ext cx="11277600" cy="457200"/>
          </a:xfrm>
          <a:prstGeom prst="rect">
            <a:avLst/>
          </a:prstGeom>
          <a:solidFill>
            <a:srgbClr val="F1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6317920"/>
            <a:ext cx="66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Continuity: the foundations held; the work above sits on top of them.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34800" y="6317920"/>
            <a:ext cx="4318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C0000"/>
                </a:solidFill>
              </a:rPr>
              <a:t>INTERNAL · CONFIDENTIAL   ·   A. Davidson · July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73152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3152"/>
            <a:ext cx="12192000" cy="6784848"/>
          </a:xfrm>
          <a:prstGeom prst="rect">
            <a:avLst/>
          </a:prstGeom>
          <a:solidFill>
            <a:srgbClr val="FBF1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152"/>
            <a:ext cx="400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1">
                <a:solidFill>
                  <a:srgbClr val="EC0000"/>
                </a:solidFill>
              </a:rPr>
              <a:t>SINCE THE JUNE 2026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34800" y="91152"/>
            <a:ext cx="760000" cy="30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78716C"/>
                </a:solidFill>
              </a:rPr>
              <a:t>14 / 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"/>
            <a:ext cx="11094720" cy="6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1C1917"/>
                </a:solidFill>
              </a:rPr>
              <a:t>Where we are now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868680"/>
            <a:ext cx="11277600" cy="36576"/>
          </a:xfrm>
          <a:prstGeom prst="rect">
            <a:avLst/>
          </a:prstGeom>
          <a:solidFill>
            <a:srgbClr val="EC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097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The build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4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17 workflows  ·  36 features  ·  7 entity types  ·  8 regulatory frameworks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35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WCAG 2.1 AA verified  ·  official Santander brand throughout  ·  zero build cost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089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The 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39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Executive Brief, three decks, two reports and the walkthrough — internally consistent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727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Every number traces to one source of truth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81280"/>
            <a:ext cx="11094720" cy="35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EC0000"/>
                </a:solidFill>
              </a:rPr>
              <a:t>Ready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431280"/>
            <a:ext cx="10911840" cy="288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1917"/>
                </a:solidFill>
              </a:rPr>
              <a:t>▪  Board pack complete and verified — ready for the Friday 11:00 briefing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217920"/>
            <a:ext cx="11277600" cy="457200"/>
          </a:xfrm>
          <a:prstGeom prst="rect">
            <a:avLst/>
          </a:prstGeom>
          <a:solidFill>
            <a:srgbClr val="F1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6317920"/>
            <a:ext cx="6600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78716C"/>
                </a:solidFill>
              </a:rPr>
              <a:t>Live prototype: imscots-ui.github.io/santander  ·  open it in the room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4800" y="6317920"/>
            <a:ext cx="4318000" cy="32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1">
                <a:solidFill>
                  <a:srgbClr val="EC0000"/>
                </a:solidFill>
              </a:rPr>
              <a:t>INTERNAL · CONFIDENTIAL   ·   A. Davidson · July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